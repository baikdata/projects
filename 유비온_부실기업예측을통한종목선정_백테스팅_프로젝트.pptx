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7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</p:sldIdLst>
  <p:sldSz cx="9144000" cy="5143500" type="screen16x9"/>
  <p:notesSz cx="6858000" cy="9144000"/>
  <p:embeddedFontLst>
    <p:embeddedFont>
      <p:font typeface="Malgun Gothic" panose="020B0503020000020004" pitchFamily="50" charset="-127"/>
      <p:regular r:id="rId78"/>
      <p:bold r:id="rId79"/>
    </p:embeddedFont>
    <p:embeddedFont>
      <p:font typeface="Arimo" panose="020B0600000101010101" charset="0"/>
      <p:regular r:id="rId80"/>
      <p:bold r:id="rId81"/>
      <p:italic r:id="rId82"/>
      <p:boldItalic r:id="rId83"/>
    </p:embeddedFont>
    <p:embeddedFont>
      <p:font typeface="Lora" pitchFamily="2" charset="0"/>
      <p:regular r:id="rId84"/>
      <p:bold r:id="rId85"/>
      <p:italic r:id="rId86"/>
      <p:boldItalic r:id="rId87"/>
    </p:embeddedFont>
    <p:embeddedFont>
      <p:font typeface="Montserrat" panose="00000500000000000000" pitchFamily="2" charset="0"/>
      <p:regular r:id="rId88"/>
      <p:bold r:id="rId89"/>
      <p:italic r:id="rId90"/>
      <p:boldItalic r:id="rId91"/>
    </p:embeddedFont>
    <p:embeddedFont>
      <p:font typeface="Quattrocento Sans" panose="020B0502050000020003" pitchFamily="34" charset="0"/>
      <p:regular r:id="rId92"/>
      <p:bold r:id="rId93"/>
      <p:italic r:id="rId94"/>
      <p:boldItalic r:id="rId9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6" roundtripDataSignature="AMtx7mjHJ2eW92177NDTjFuPpl58A902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D9EB66F-1FA9-4FDE-9DB3-DB622A6A229C}">
  <a:tblStyle styleId="{4D9EB66F-1FA9-4FDE-9DB3-DB622A6A229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7.fntdata"/><Relationship Id="rId89" Type="http://schemas.openxmlformats.org/officeDocument/2006/relationships/font" Target="fonts/font12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font" Target="fonts/font2.fntdata"/><Relationship Id="rId5" Type="http://schemas.openxmlformats.org/officeDocument/2006/relationships/slide" Target="slides/slide4.xml"/><Relationship Id="rId90" Type="http://schemas.openxmlformats.org/officeDocument/2006/relationships/font" Target="fonts/font13.fntdata"/><Relationship Id="rId95" Type="http://schemas.openxmlformats.org/officeDocument/2006/relationships/font" Target="fonts/font18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font" Target="fonts/font3.fntdata"/><Relationship Id="rId85" Type="http://schemas.openxmlformats.org/officeDocument/2006/relationships/font" Target="fonts/font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font" Target="fonts/font6.fntdata"/><Relationship Id="rId88" Type="http://schemas.openxmlformats.org/officeDocument/2006/relationships/font" Target="fonts/font11.fntdata"/><Relationship Id="rId91" Type="http://schemas.openxmlformats.org/officeDocument/2006/relationships/font" Target="fonts/font14.fntdata"/><Relationship Id="rId96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font" Target="fonts/font1.fntdata"/><Relationship Id="rId81" Type="http://schemas.openxmlformats.org/officeDocument/2006/relationships/font" Target="fonts/font4.fntdata"/><Relationship Id="rId86" Type="http://schemas.openxmlformats.org/officeDocument/2006/relationships/font" Target="fonts/font9.fntdata"/><Relationship Id="rId94" Type="http://schemas.openxmlformats.org/officeDocument/2006/relationships/font" Target="fonts/font17.fntdata"/><Relationship Id="rId9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15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10.fntdata"/><Relationship Id="rId61" Type="http://schemas.openxmlformats.org/officeDocument/2006/relationships/slide" Target="slides/slide60.xml"/><Relationship Id="rId82" Type="http://schemas.openxmlformats.org/officeDocument/2006/relationships/font" Target="fonts/font5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notesMaster" Target="notesMasters/notesMaster1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16.fntdata"/><Relationship Id="rId9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6" name="Google Shape;326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2" name="Google Shape;342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8" name="Google Shape;358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4" name="Google Shape;374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9" name="Google Shape;38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5" name="Google Shape;405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1" name="Google Shape;421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8" name="Google Shape;438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5" name="Google Shape;455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2" name="Google Shape;472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7" name="Google Shape;487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2" name="Google Shape;502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9" name="Google Shape;519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6" name="Google Shape;536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3" name="Google Shape;553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1" name="Google Shape;581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6" name="Google Shape;596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2" name="Google Shape;612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7" name="Google Shape;627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1" name="Google Shape;641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5" name="Google Shape;655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0" name="Google Shape;670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0" name="Google Shape;690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0" name="Google Shape;710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0" name="Google Shape;730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4" name="Google Shape;744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4" name="Google Shape;764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4" name="Google Shape;784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4" name="Google Shape;804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8" name="Google Shape;818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2" name="Google Shape;832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1" name="Google Shape;851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0" name="Google Shape;870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4" name="Google Shape;884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9" name="Google Shape;899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3" name="Google Shape;913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4" name="Google Shape;934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5" name="Google Shape;955;p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6" name="Google Shape;976;p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0" name="Google Shape;990;p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4" name="Google Shape;1004;p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2" name="Google Shape;1012;p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2" name="Google Shape;1022;p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3" name="Google Shape;1033;p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2" name="Google Shape;1042;p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1" name="Google Shape;1051;p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0" name="Google Shape;1060;p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9" name="Google Shape;1069;p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8" name="Google Shape;1078;p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6" name="Google Shape;1086;p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5" name="Google Shape;1095;p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4" name="Google Shape;1104;p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3" name="Google Shape;1113;p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0" name="Google Shape;1120;p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7"/>
          <p:cNvSpPr txBox="1">
            <a:spLocks noGrp="1"/>
          </p:cNvSpPr>
          <p:nvPr>
            <p:ph type="ctrTitle"/>
          </p:nvPr>
        </p:nvSpPr>
        <p:spPr>
          <a:xfrm>
            <a:off x="996630" y="2003888"/>
            <a:ext cx="45237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cxnSp>
        <p:nvCxnSpPr>
          <p:cNvPr id="11" name="Google Shape;11;p77"/>
          <p:cNvCxnSpPr/>
          <p:nvPr/>
        </p:nvCxnSpPr>
        <p:spPr>
          <a:xfrm>
            <a:off x="-6025" y="3676512"/>
            <a:ext cx="9162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2;p77"/>
          <p:cNvSpPr/>
          <p:nvPr/>
        </p:nvSpPr>
        <p:spPr>
          <a:xfrm>
            <a:off x="1117950" y="3393000"/>
            <a:ext cx="567000" cy="567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Google Shape;14;p78"/>
          <p:cNvCxnSpPr/>
          <p:nvPr/>
        </p:nvCxnSpPr>
        <p:spPr>
          <a:xfrm>
            <a:off x="0" y="1131725"/>
            <a:ext cx="13758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" name="Google Shape;15;p78"/>
          <p:cNvSpPr/>
          <p:nvPr/>
        </p:nvSpPr>
        <p:spPr>
          <a:xfrm>
            <a:off x="817475" y="928767"/>
            <a:ext cx="405900" cy="405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78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17" name="Google Shape;17;p78"/>
          <p:cNvSpPr txBox="1">
            <a:spLocks noGrp="1"/>
          </p:cNvSpPr>
          <p:nvPr>
            <p:ph type="body" idx="1"/>
          </p:nvPr>
        </p:nvSpPr>
        <p:spPr>
          <a:xfrm>
            <a:off x="1381250" y="1616470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CD00"/>
              </a:buClr>
              <a:buSzPts val="2400"/>
              <a:buFont typeface="Quattrocento Sans"/>
              <a:buChar char="◉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○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lvl="2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■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cxnSp>
        <p:nvCxnSpPr>
          <p:cNvPr id="18" name="Google Shape;18;p78"/>
          <p:cNvCxnSpPr/>
          <p:nvPr/>
        </p:nvCxnSpPr>
        <p:spPr>
          <a:xfrm>
            <a:off x="5265650" y="1131725"/>
            <a:ext cx="38784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p78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9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9"/>
          <p:cNvSpPr txBox="1">
            <a:spLocks noGrp="1"/>
          </p:cNvSpPr>
          <p:nvPr>
            <p:ph type="body" idx="1"/>
          </p:nvPr>
        </p:nvSpPr>
        <p:spPr>
          <a:xfrm>
            <a:off x="1381250" y="1651075"/>
            <a:ext cx="2334000" cy="3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◉"/>
              <a:defRPr sz="1800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79"/>
          <p:cNvSpPr txBox="1">
            <a:spLocks noGrp="1"/>
          </p:cNvSpPr>
          <p:nvPr>
            <p:ph type="body" idx="2"/>
          </p:nvPr>
        </p:nvSpPr>
        <p:spPr>
          <a:xfrm>
            <a:off x="3834912" y="1651075"/>
            <a:ext cx="2334000" cy="3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◉"/>
              <a:defRPr sz="1800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79"/>
          <p:cNvSpPr txBox="1">
            <a:spLocks noGrp="1"/>
          </p:cNvSpPr>
          <p:nvPr>
            <p:ph type="body" idx="3"/>
          </p:nvPr>
        </p:nvSpPr>
        <p:spPr>
          <a:xfrm>
            <a:off x="6288573" y="1651075"/>
            <a:ext cx="2334000" cy="3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◉"/>
              <a:defRPr sz="1800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cxnSp>
        <p:nvCxnSpPr>
          <p:cNvPr id="25" name="Google Shape;25;p79"/>
          <p:cNvCxnSpPr/>
          <p:nvPr/>
        </p:nvCxnSpPr>
        <p:spPr>
          <a:xfrm>
            <a:off x="0" y="1131725"/>
            <a:ext cx="13758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79"/>
          <p:cNvSpPr/>
          <p:nvPr/>
        </p:nvSpPr>
        <p:spPr>
          <a:xfrm>
            <a:off x="817475" y="928767"/>
            <a:ext cx="405900" cy="405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" name="Google Shape;27;p79"/>
          <p:cNvCxnSpPr/>
          <p:nvPr/>
        </p:nvCxnSpPr>
        <p:spPr>
          <a:xfrm>
            <a:off x="5265650" y="1131725"/>
            <a:ext cx="38784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28;p79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0"/>
          <p:cNvSpPr txBox="1">
            <a:spLocks noGrp="1"/>
          </p:cNvSpPr>
          <p:nvPr>
            <p:ph type="subTitle" idx="1"/>
          </p:nvPr>
        </p:nvSpPr>
        <p:spPr>
          <a:xfrm>
            <a:off x="2022300" y="2815923"/>
            <a:ext cx="55914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highlight>
                  <a:schemeClr val="accent1"/>
                </a:highlight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cxnSp>
        <p:nvCxnSpPr>
          <p:cNvPr id="31" name="Google Shape;31;p80"/>
          <p:cNvCxnSpPr/>
          <p:nvPr/>
        </p:nvCxnSpPr>
        <p:spPr>
          <a:xfrm>
            <a:off x="-6025" y="2571762"/>
            <a:ext cx="19845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80"/>
          <p:cNvSpPr/>
          <p:nvPr/>
        </p:nvSpPr>
        <p:spPr>
          <a:xfrm>
            <a:off x="1117950" y="2288250"/>
            <a:ext cx="567000" cy="567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80"/>
          <p:cNvSpPr txBox="1">
            <a:spLocks noGrp="1"/>
          </p:cNvSpPr>
          <p:nvPr>
            <p:ph type="ctrTitle"/>
          </p:nvPr>
        </p:nvSpPr>
        <p:spPr>
          <a:xfrm>
            <a:off x="2022225" y="1693523"/>
            <a:ext cx="37878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cxnSp>
        <p:nvCxnSpPr>
          <p:cNvPr id="34" name="Google Shape;34;p80"/>
          <p:cNvCxnSpPr/>
          <p:nvPr/>
        </p:nvCxnSpPr>
        <p:spPr>
          <a:xfrm>
            <a:off x="5898975" y="2571750"/>
            <a:ext cx="32511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80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p81"/>
          <p:cNvCxnSpPr/>
          <p:nvPr/>
        </p:nvCxnSpPr>
        <p:spPr>
          <a:xfrm>
            <a:off x="-6025" y="4513729"/>
            <a:ext cx="91620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" name="Google Shape;38;p81"/>
          <p:cNvSpPr/>
          <p:nvPr/>
        </p:nvSpPr>
        <p:spPr>
          <a:xfrm>
            <a:off x="4293700" y="4235405"/>
            <a:ext cx="556500" cy="556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81"/>
          <p:cNvSpPr txBox="1">
            <a:spLocks noGrp="1"/>
          </p:cNvSpPr>
          <p:nvPr>
            <p:ph type="sldNum" idx="12"/>
          </p:nvPr>
        </p:nvSpPr>
        <p:spPr>
          <a:xfrm>
            <a:off x="4297650" y="4791900"/>
            <a:ext cx="548700" cy="3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ly blank">
  <p:cSld name="BLANK_1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2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6"/>
          <p:cNvSpPr txBox="1">
            <a:spLocks noGrp="1"/>
          </p:cNvSpPr>
          <p:nvPr>
            <p:ph type="body" idx="1"/>
          </p:nvPr>
        </p:nvSpPr>
        <p:spPr>
          <a:xfrm>
            <a:off x="1381250" y="1616470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Char char="◉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Quattrocento Sans"/>
              <a:buChar char="○"/>
              <a:defRPr sz="20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Quattrocento Sans"/>
              <a:buChar char="■"/>
              <a:defRPr sz="20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Quattrocento Sans"/>
              <a:buChar char="●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○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■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●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○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■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7" name="Google Shape;7;p76"/>
          <p:cNvSpPr txBox="1">
            <a:spLocks noGrp="1"/>
          </p:cNvSpPr>
          <p:nvPr>
            <p:ph type="title"/>
          </p:nvPr>
        </p:nvSpPr>
        <p:spPr>
          <a:xfrm>
            <a:off x="1381250" y="896549"/>
            <a:ext cx="68097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8" name="Google Shape;8;p76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anaroussi/quantstats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"/>
          <p:cNvSpPr txBox="1">
            <a:spLocks noGrp="1"/>
          </p:cNvSpPr>
          <p:nvPr>
            <p:ph type="ctrTitle"/>
          </p:nvPr>
        </p:nvSpPr>
        <p:spPr>
          <a:xfrm>
            <a:off x="996629" y="753425"/>
            <a:ext cx="7170447" cy="139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3500">
                <a:highlight>
                  <a:srgbClr val="FFCD00"/>
                </a:highlight>
              </a:rPr>
              <a:t>Security Selection </a:t>
            </a:r>
            <a:br>
              <a:rPr lang="en-US" sz="3500">
                <a:highlight>
                  <a:srgbClr val="FFCD00"/>
                </a:highlight>
              </a:rPr>
            </a:br>
            <a:r>
              <a:rPr lang="en-US" sz="3500">
                <a:highlight>
                  <a:srgbClr val="FFCD00"/>
                </a:highlight>
              </a:rPr>
              <a:t>&amp; Machine Learning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을 이용한 시장예측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" name="Google Shape;47;p1"/>
          <p:cNvGrpSpPr/>
          <p:nvPr/>
        </p:nvGrpSpPr>
        <p:grpSpPr>
          <a:xfrm>
            <a:off x="1299165" y="3511424"/>
            <a:ext cx="215966" cy="342399"/>
            <a:chOff x="6718575" y="2318625"/>
            <a:chExt cx="256950" cy="407375"/>
          </a:xfrm>
        </p:grpSpPr>
        <p:sp>
          <p:nvSpPr>
            <p:cNvPr id="48" name="Google Shape;48;p1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1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1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l" t="t" r="r" b="b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1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1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l" t="t" r="r" b="b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1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1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l" t="t" r="r" b="b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1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l" t="t" r="r" b="b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" name="Google Shape;56;p1"/>
          <p:cNvSpPr txBox="1"/>
          <p:nvPr/>
        </p:nvSpPr>
        <p:spPr>
          <a:xfrm>
            <a:off x="1660769" y="3438159"/>
            <a:ext cx="458763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Last Final 6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이동현, 백선영, 최지호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996629" y="1965712"/>
            <a:ext cx="4450694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ora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Altman</a:t>
            </a:r>
            <a:r>
              <a:rPr lang="en-US" sz="15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모형 및 </a:t>
            </a:r>
            <a:r>
              <a:rPr lang="en-US" sz="15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F</a:t>
            </a:r>
            <a:r>
              <a:rPr lang="en-US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스코어를 사용한 종목선정 , </a:t>
            </a:r>
            <a:r>
              <a:rPr lang="en-US" sz="15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ML</a:t>
            </a:r>
            <a:r>
              <a:rPr lang="en-US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이용 시장예측, 투자 전략 수립, 모의투자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</a:pPr>
            <a:r>
              <a:rPr lang="en-US">
                <a:highlight>
                  <a:srgbClr val="FFCD00"/>
                </a:highlight>
              </a:rPr>
              <a:t>OUR TEAM</a:t>
            </a:r>
            <a:endParaRPr/>
          </a:p>
        </p:txBody>
      </p:sp>
      <p:sp>
        <p:nvSpPr>
          <p:cNvPr id="63" name="Google Shape;63;p2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64" name="Google Shape;64;p2"/>
          <p:cNvSpPr txBox="1"/>
          <p:nvPr/>
        </p:nvSpPr>
        <p:spPr>
          <a:xfrm>
            <a:off x="2590631" y="1849653"/>
            <a:ext cx="22002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000"/>
              <a:buFont typeface="Arial"/>
              <a:buChar char="•"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기획 </a:t>
            </a:r>
            <a:endParaRPr/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000"/>
              <a:buFont typeface="Arial"/>
              <a:buChar char="•"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수집/전처리, EDA</a:t>
            </a:r>
            <a:endParaRPr/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000"/>
              <a:buFont typeface="Arial"/>
              <a:buChar char="•"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통계처리 </a:t>
            </a:r>
            <a:endParaRPr/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000"/>
              <a:buFont typeface="Arial"/>
              <a:buChar char="•"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투자전략</a:t>
            </a:r>
            <a:endParaRPr/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000"/>
              <a:buFont typeface="Arial"/>
              <a:buChar char="•"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볼린저밴드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000"/>
              <a:buFont typeface="Arial"/>
              <a:buChar char="•"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Working Paper </a:t>
            </a:r>
            <a:endParaRPr/>
          </a:p>
        </p:txBody>
      </p:sp>
      <p:sp>
        <p:nvSpPr>
          <p:cNvPr id="65" name="Google Shape;65;p2"/>
          <p:cNvSpPr txBox="1"/>
          <p:nvPr/>
        </p:nvSpPr>
        <p:spPr>
          <a:xfrm>
            <a:off x="2590631" y="3331667"/>
            <a:ext cx="22002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2400"/>
              <a:buFont typeface="Quattrocento Sans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highlight>
                  <a:srgbClr val="FFCD00"/>
                </a:highlight>
                <a:latin typeface="Arial"/>
                <a:ea typeface="Arial"/>
                <a:cs typeface="Arial"/>
                <a:sym typeface="Arial"/>
              </a:rPr>
              <a:t>백선영</a:t>
            </a:r>
            <a:endParaRPr/>
          </a:p>
        </p:txBody>
      </p:sp>
      <p:sp>
        <p:nvSpPr>
          <p:cNvPr id="66" name="Google Shape;66;p2"/>
          <p:cNvSpPr txBox="1"/>
          <p:nvPr/>
        </p:nvSpPr>
        <p:spPr>
          <a:xfrm>
            <a:off x="2590631" y="3556681"/>
            <a:ext cx="22002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000"/>
              <a:buFont typeface="Arial"/>
              <a:buChar char="•"/>
            </a:pP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강화학습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예측</a:t>
            </a:r>
            <a:endParaRPr dirty="0"/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000"/>
              <a:buFont typeface="Arial"/>
              <a:buChar char="•"/>
            </a:pP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선별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기업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</a:t>
            </a:r>
            <a:r>
              <a:rPr lang="ko-KR" alt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분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일중데이터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수집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000"/>
              <a:buFont typeface="Arial"/>
              <a:buChar char="•"/>
            </a:pP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LSTM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예측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000"/>
              <a:buFont typeface="Arial"/>
              <a:buChar char="•"/>
            </a:pP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자료검토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000"/>
              <a:buFont typeface="Arial"/>
              <a:buChar char="•"/>
            </a:pP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모의투자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2"/>
          <p:cNvPicPr preferRelativeResize="0"/>
          <p:nvPr/>
        </p:nvPicPr>
        <p:blipFill rotWithShape="1">
          <a:blip r:embed="rId3">
            <a:alphaModFix/>
          </a:blip>
          <a:srcRect l="2187" r="12033"/>
          <a:stretch/>
        </p:blipFill>
        <p:spPr>
          <a:xfrm>
            <a:off x="1186181" y="3329841"/>
            <a:ext cx="1328251" cy="114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2"/>
          <p:cNvPicPr preferRelativeResize="0"/>
          <p:nvPr/>
        </p:nvPicPr>
        <p:blipFill rotWithShape="1">
          <a:blip r:embed="rId4">
            <a:alphaModFix/>
          </a:blip>
          <a:srcRect l="16658" r="10375" b="6261"/>
          <a:stretch/>
        </p:blipFill>
        <p:spPr>
          <a:xfrm>
            <a:off x="6667804" y="2341895"/>
            <a:ext cx="1328251" cy="114035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2"/>
          <p:cNvSpPr txBox="1"/>
          <p:nvPr/>
        </p:nvSpPr>
        <p:spPr>
          <a:xfrm>
            <a:off x="2590631" y="1622824"/>
            <a:ext cx="22002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highlight>
                  <a:srgbClr val="FFCD00"/>
                </a:highlight>
                <a:latin typeface="Arial"/>
                <a:ea typeface="Arial"/>
                <a:cs typeface="Arial"/>
                <a:sym typeface="Arial"/>
              </a:rPr>
              <a:t>이동현</a:t>
            </a:r>
            <a:endParaRPr/>
          </a:p>
        </p:txBody>
      </p:sp>
      <p:sp>
        <p:nvSpPr>
          <p:cNvPr id="70" name="Google Shape;70;p2"/>
          <p:cNvSpPr txBox="1"/>
          <p:nvPr/>
        </p:nvSpPr>
        <p:spPr>
          <a:xfrm>
            <a:off x="4467604" y="2341895"/>
            <a:ext cx="22002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highlight>
                  <a:srgbClr val="FFCD00"/>
                </a:highlight>
                <a:latin typeface="Arial"/>
                <a:ea typeface="Arial"/>
                <a:cs typeface="Arial"/>
                <a:sym typeface="Arial"/>
              </a:rPr>
              <a:t>최지호</a:t>
            </a:r>
            <a:endParaRPr/>
          </a:p>
        </p:txBody>
      </p:sp>
      <p:sp>
        <p:nvSpPr>
          <p:cNvPr id="71" name="Google Shape;71;p2"/>
          <p:cNvSpPr txBox="1"/>
          <p:nvPr/>
        </p:nvSpPr>
        <p:spPr>
          <a:xfrm>
            <a:off x="5259650" y="2656866"/>
            <a:ext cx="1590029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5725" marR="0" lvl="0" indent="-85725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100"/>
              <a:buFont typeface="Arial"/>
              <a:buChar char="•"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파이썬 자동화 처리</a:t>
            </a:r>
            <a:endParaRPr/>
          </a:p>
          <a:p>
            <a:pPr marL="85725" marR="0" lvl="0" indent="-85725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100"/>
              <a:buFont typeface="Arial"/>
              <a:buChar char="•"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외국어 논문 정리 </a:t>
            </a:r>
            <a:endParaRPr/>
          </a:p>
          <a:p>
            <a:pPr marL="85725" marR="0" lvl="0" indent="-85725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100"/>
              <a:buFont typeface="Arial"/>
              <a:buChar char="•"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백테스팅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" marR="0" lvl="0" indent="-85725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100"/>
              <a:buFont typeface="Arial"/>
              <a:buChar char="•"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PPT제작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2"/>
          <p:cNvPicPr preferRelativeResize="0"/>
          <p:nvPr/>
        </p:nvPicPr>
        <p:blipFill rotWithShape="1">
          <a:blip r:embed="rId5">
            <a:alphaModFix/>
          </a:blip>
          <a:srcRect r="22408"/>
          <a:stretch/>
        </p:blipFill>
        <p:spPr>
          <a:xfrm>
            <a:off x="1186181" y="1636610"/>
            <a:ext cx="1328251" cy="11403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2"/>
          <p:cNvSpPr txBox="1"/>
          <p:nvPr/>
        </p:nvSpPr>
        <p:spPr>
          <a:xfrm>
            <a:off x="861352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0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rgbClr val="FFCD00"/>
                </a:highlight>
              </a:rPr>
              <a:t>TABLE OF CONTENTS</a:t>
            </a:r>
            <a:endParaRPr/>
          </a:p>
        </p:txBody>
      </p:sp>
      <p:grpSp>
        <p:nvGrpSpPr>
          <p:cNvPr id="79" name="Google Shape;79;p3"/>
          <p:cNvGrpSpPr/>
          <p:nvPr/>
        </p:nvGrpSpPr>
        <p:grpSpPr>
          <a:xfrm>
            <a:off x="1320800" y="1495145"/>
            <a:ext cx="6846890" cy="2813097"/>
            <a:chOff x="1320800" y="1299761"/>
            <a:chExt cx="6846890" cy="2813097"/>
          </a:xfrm>
        </p:grpSpPr>
        <p:sp>
          <p:nvSpPr>
            <p:cNvPr id="80" name="Google Shape;80;p3"/>
            <p:cNvSpPr txBox="1"/>
            <p:nvPr/>
          </p:nvSpPr>
          <p:spPr>
            <a:xfrm>
              <a:off x="1573800" y="1470499"/>
              <a:ext cx="2680200" cy="35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Quattrocento Sans"/>
                <a:buNone/>
              </a:pPr>
              <a:r>
                <a:rPr lang="en-US" sz="1400" b="1" i="0" u="none" strike="noStrike" cap="none">
                  <a:solidFill>
                    <a:schemeClr val="dk1"/>
                  </a:solidFill>
                  <a:highlight>
                    <a:srgbClr val="FFCD00"/>
                  </a:highlight>
                  <a:latin typeface="Lora"/>
                  <a:ea typeface="Lora"/>
                  <a:cs typeface="Lora"/>
                  <a:sym typeface="Lora"/>
                </a:rPr>
                <a:t>ABOUT THE PROJECT</a:t>
              </a:r>
              <a:endParaRPr/>
            </a:p>
          </p:txBody>
        </p:sp>
        <p:sp>
          <p:nvSpPr>
            <p:cNvPr id="81" name="Google Shape;81;p3"/>
            <p:cNvSpPr txBox="1"/>
            <p:nvPr/>
          </p:nvSpPr>
          <p:spPr>
            <a:xfrm>
              <a:off x="1573800" y="1754961"/>
              <a:ext cx="1467121" cy="73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프로젝트 요약</a:t>
              </a: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연구 배경 </a:t>
              </a: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선행연구</a:t>
              </a:r>
              <a:endParaRPr/>
            </a:p>
          </p:txBody>
        </p:sp>
        <p:sp>
          <p:nvSpPr>
            <p:cNvPr id="82" name="Google Shape;82;p3"/>
            <p:cNvSpPr txBox="1"/>
            <p:nvPr/>
          </p:nvSpPr>
          <p:spPr>
            <a:xfrm>
              <a:off x="1320800" y="1337261"/>
              <a:ext cx="354784" cy="57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Quattrocento Sans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1.</a:t>
              </a:r>
              <a:endParaRPr/>
            </a:p>
          </p:txBody>
        </p:sp>
        <p:sp>
          <p:nvSpPr>
            <p:cNvPr id="83" name="Google Shape;83;p3"/>
            <p:cNvSpPr txBox="1"/>
            <p:nvPr/>
          </p:nvSpPr>
          <p:spPr>
            <a:xfrm>
              <a:off x="1573800" y="2548307"/>
              <a:ext cx="2680200" cy="35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rgbClr val="000000"/>
                  </a:solidFill>
                  <a:highlight>
                    <a:srgbClr val="FFCD00"/>
                  </a:highlight>
                  <a:latin typeface="Lora"/>
                  <a:ea typeface="Lora"/>
                  <a:cs typeface="Lora"/>
                  <a:sym typeface="Lora"/>
                </a:rPr>
                <a:t>PROJECT PROGRESSION</a:t>
              </a:r>
              <a:endParaRPr/>
            </a:p>
          </p:txBody>
        </p:sp>
        <p:sp>
          <p:nvSpPr>
            <p:cNvPr id="84" name="Google Shape;84;p3"/>
            <p:cNvSpPr txBox="1"/>
            <p:nvPr/>
          </p:nvSpPr>
          <p:spPr>
            <a:xfrm>
              <a:off x="1502139" y="2891256"/>
              <a:ext cx="2832615" cy="12216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85725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연구과정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85725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400" b="1" i="0" u="none" strike="noStrike" cap="non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1. Data Preprocessing &amp; EDA</a:t>
              </a:r>
              <a:endParaRPr/>
            </a:p>
            <a:p>
              <a:pPr marL="85725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 2. Security Selection &amp; Quant</a:t>
              </a:r>
              <a:endParaRPr/>
            </a:p>
            <a:p>
              <a:pPr marL="85725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 3. Prediction</a:t>
              </a:r>
              <a:endParaRPr/>
            </a:p>
            <a:p>
              <a:pPr marL="85725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 4. Forecasting</a:t>
              </a:r>
              <a:endParaRPr/>
            </a:p>
          </p:txBody>
        </p:sp>
        <p:sp>
          <p:nvSpPr>
            <p:cNvPr id="85" name="Google Shape;85;p3"/>
            <p:cNvSpPr txBox="1"/>
            <p:nvPr/>
          </p:nvSpPr>
          <p:spPr>
            <a:xfrm>
              <a:off x="1320800" y="2409450"/>
              <a:ext cx="354783" cy="57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2.</a:t>
              </a:r>
              <a:endParaRPr/>
            </a:p>
          </p:txBody>
        </p:sp>
        <p:sp>
          <p:nvSpPr>
            <p:cNvPr id="86" name="Google Shape;86;p3"/>
            <p:cNvSpPr txBox="1"/>
            <p:nvPr/>
          </p:nvSpPr>
          <p:spPr>
            <a:xfrm>
              <a:off x="4809246" y="1432999"/>
              <a:ext cx="2680200" cy="35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rgbClr val="000000"/>
                  </a:solidFill>
                  <a:highlight>
                    <a:srgbClr val="FFCD00"/>
                  </a:highlight>
                  <a:latin typeface="Lora"/>
                  <a:ea typeface="Lora"/>
                  <a:cs typeface="Lora"/>
                  <a:sym typeface="Lora"/>
                </a:rPr>
                <a:t>CONCLUSION</a:t>
              </a:r>
              <a:endParaRPr/>
            </a:p>
          </p:txBody>
        </p:sp>
        <p:sp>
          <p:nvSpPr>
            <p:cNvPr id="87" name="Google Shape;87;p3"/>
            <p:cNvSpPr txBox="1"/>
            <p:nvPr/>
          </p:nvSpPr>
          <p:spPr>
            <a:xfrm>
              <a:off x="4809246" y="1696996"/>
              <a:ext cx="1467121" cy="73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도출서사점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프로젝트 요약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지속과제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3"/>
            <p:cNvSpPr txBox="1"/>
            <p:nvPr/>
          </p:nvSpPr>
          <p:spPr>
            <a:xfrm>
              <a:off x="4502274" y="1299761"/>
              <a:ext cx="408755" cy="57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3.</a:t>
              </a:r>
              <a:endParaRPr/>
            </a:p>
          </p:txBody>
        </p:sp>
        <p:sp>
          <p:nvSpPr>
            <p:cNvPr id="89" name="Google Shape;89;p3"/>
            <p:cNvSpPr txBox="1"/>
            <p:nvPr/>
          </p:nvSpPr>
          <p:spPr>
            <a:xfrm>
              <a:off x="4809245" y="2578996"/>
              <a:ext cx="3358445" cy="35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rgbClr val="000000"/>
                  </a:solidFill>
                  <a:highlight>
                    <a:srgbClr val="FFCD00"/>
                  </a:highlight>
                  <a:latin typeface="Lora"/>
                  <a:ea typeface="Lora"/>
                  <a:cs typeface="Lora"/>
                  <a:sym typeface="Lora"/>
                </a:rPr>
                <a:t>REFERENCES  &amp; SPECIAL THANKS </a:t>
              </a:r>
              <a:endParaRPr/>
            </a:p>
          </p:txBody>
        </p:sp>
        <p:sp>
          <p:nvSpPr>
            <p:cNvPr id="90" name="Google Shape;90;p3"/>
            <p:cNvSpPr txBox="1"/>
            <p:nvPr/>
          </p:nvSpPr>
          <p:spPr>
            <a:xfrm>
              <a:off x="4809246" y="2880345"/>
              <a:ext cx="2199785" cy="9648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사용 문헌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감사드리고 싶은 분들 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3"/>
            <p:cNvSpPr txBox="1"/>
            <p:nvPr/>
          </p:nvSpPr>
          <p:spPr>
            <a:xfrm>
              <a:off x="4502274" y="2408593"/>
              <a:ext cx="408755" cy="57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4.</a:t>
              </a:r>
              <a:endParaRPr/>
            </a:p>
          </p:txBody>
        </p:sp>
      </p:grpSp>
      <p:sp>
        <p:nvSpPr>
          <p:cNvPr id="92" name="Google Shape;92;p3"/>
          <p:cNvSpPr txBox="1"/>
          <p:nvPr/>
        </p:nvSpPr>
        <p:spPr>
          <a:xfrm>
            <a:off x="861352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0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"/>
          <p:cNvSpPr txBox="1">
            <a:spLocks noGrp="1"/>
          </p:cNvSpPr>
          <p:nvPr>
            <p:ph type="ctrTitle"/>
          </p:nvPr>
        </p:nvSpPr>
        <p:spPr>
          <a:xfrm>
            <a:off x="2022225" y="1693523"/>
            <a:ext cx="37878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About the Project </a:t>
            </a:r>
            <a:endParaRPr/>
          </a:p>
        </p:txBody>
      </p:sp>
      <p:sp>
        <p:nvSpPr>
          <p:cNvPr id="98" name="Google Shape;98;p4"/>
          <p:cNvSpPr txBox="1">
            <a:spLocks noGrp="1"/>
          </p:cNvSpPr>
          <p:nvPr>
            <p:ph type="subTitle" idx="1"/>
          </p:nvPr>
        </p:nvSpPr>
        <p:spPr>
          <a:xfrm>
            <a:off x="2022300" y="2815923"/>
            <a:ext cx="55914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프로젝트 요약 및 연구배경</a:t>
            </a:r>
            <a:endParaRPr/>
          </a:p>
        </p:txBody>
      </p:sp>
      <p:sp>
        <p:nvSpPr>
          <p:cNvPr id="99" name="Google Shape;99;p4"/>
          <p:cNvSpPr txBox="1"/>
          <p:nvPr/>
        </p:nvSpPr>
        <p:spPr>
          <a:xfrm>
            <a:off x="1133975" y="2291150"/>
            <a:ext cx="543900" cy="5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1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0" name="Google Shape;100;p4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프로젝트 요약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106" name="Google Shape;106;p5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grpSp>
        <p:nvGrpSpPr>
          <p:cNvPr id="107" name="Google Shape;107;p5"/>
          <p:cNvGrpSpPr/>
          <p:nvPr/>
        </p:nvGrpSpPr>
        <p:grpSpPr>
          <a:xfrm>
            <a:off x="398564" y="1516791"/>
            <a:ext cx="8868566" cy="2680624"/>
            <a:chOff x="261404" y="1516791"/>
            <a:chExt cx="8868566" cy="2680624"/>
          </a:xfrm>
        </p:grpSpPr>
        <p:sp>
          <p:nvSpPr>
            <p:cNvPr id="108" name="Google Shape;108;p5"/>
            <p:cNvSpPr txBox="1"/>
            <p:nvPr/>
          </p:nvSpPr>
          <p:spPr>
            <a:xfrm>
              <a:off x="6780970" y="2688300"/>
              <a:ext cx="2349000" cy="101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92075" marR="0" lvl="0" indent="-9207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CD00"/>
                </a:buClr>
                <a:buSzPts val="1200"/>
                <a:buFont typeface="Arial"/>
                <a:buChar char="•"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모델선정 후 </a:t>
              </a:r>
              <a:endParaRPr/>
            </a:p>
            <a:p>
              <a:pPr marL="92075" marR="0" lvl="0" indent="-9207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CD00"/>
                </a:buClr>
                <a:buSzPts val="1200"/>
                <a:buFont typeface="Arial"/>
                <a:buChar char="•"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기업에 대한 모델 적용 </a:t>
              </a:r>
              <a:endPara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및 결과 도출</a:t>
              </a:r>
              <a:endParaRPr/>
            </a:p>
          </p:txBody>
        </p:sp>
        <p:grpSp>
          <p:nvGrpSpPr>
            <p:cNvPr id="109" name="Google Shape;109;p5"/>
            <p:cNvGrpSpPr/>
            <p:nvPr/>
          </p:nvGrpSpPr>
          <p:grpSpPr>
            <a:xfrm>
              <a:off x="261404" y="1516791"/>
              <a:ext cx="8621192" cy="2680624"/>
              <a:chOff x="261404" y="1516791"/>
              <a:chExt cx="8621192" cy="2680624"/>
            </a:xfrm>
          </p:grpSpPr>
          <p:sp>
            <p:nvSpPr>
              <p:cNvPr id="110" name="Google Shape;110;p5"/>
              <p:cNvSpPr txBox="1"/>
              <p:nvPr/>
            </p:nvSpPr>
            <p:spPr>
              <a:xfrm>
                <a:off x="4529296" y="2688300"/>
                <a:ext cx="2349000" cy="101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92075" marR="0" lvl="0" indent="-9207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CD00"/>
                  </a:buClr>
                  <a:buSzPts val="1200"/>
                  <a:buFont typeface="Arial"/>
                  <a:buChar char="•"/>
                </a:pPr>
                <a:r>
                  <a:rPr lang="en-US" sz="12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머신러닝(강화학습, </a:t>
                </a:r>
                <a:r>
                  <a:rPr lang="en-US" sz="1200" b="1" i="0" u="none" strike="noStrike" cap="none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rPr>
                  <a:t>LSTM</a:t>
                </a:r>
                <a:r>
                  <a:rPr lang="en-US" sz="12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), </a:t>
                </a:r>
                <a:endParaRPr/>
              </a:p>
              <a:p>
                <a:pPr marL="92075" marR="0" lvl="0" indent="-9207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CD00"/>
                  </a:buClr>
                  <a:buSzPts val="1200"/>
                  <a:buFont typeface="Arial"/>
                  <a:buChar char="•"/>
                </a:pPr>
                <a:r>
                  <a:rPr lang="en-US" sz="12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예측도구(</a:t>
                </a:r>
                <a:r>
                  <a:rPr lang="en-US" sz="1200" b="1" i="0" u="none" strike="noStrike" cap="none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rPr>
                  <a:t>Prophet</a:t>
                </a:r>
                <a:r>
                  <a:rPr lang="en-US" sz="12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), </a:t>
                </a:r>
                <a:endParaRPr/>
              </a:p>
              <a:p>
                <a:pPr marL="92075" marR="0" lvl="0" indent="-9207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CD00"/>
                  </a:buClr>
                  <a:buSzPts val="1200"/>
                  <a:buFont typeface="Arial"/>
                  <a:buChar char="•"/>
                </a:pPr>
                <a:r>
                  <a:rPr lang="en-US" sz="12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볼린저밴드 이용</a:t>
                </a:r>
                <a:endParaRPr/>
              </a:p>
              <a:p>
                <a:pPr marL="92075" marR="0" lvl="0" indent="-9207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CD00"/>
                  </a:buClr>
                  <a:buSzPts val="1200"/>
                  <a:buFont typeface="Arial"/>
                  <a:buChar char="•"/>
                </a:pPr>
                <a:r>
                  <a:rPr lang="en-US" sz="12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기업들의 주가/추세 예측 </a:t>
                </a:r>
                <a:endParaRPr sz="12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및 모델 선정</a:t>
                </a:r>
                <a:endParaRPr/>
              </a:p>
            </p:txBody>
          </p:sp>
          <p:sp>
            <p:nvSpPr>
              <p:cNvPr id="111" name="Google Shape;111;p5"/>
              <p:cNvSpPr txBox="1"/>
              <p:nvPr/>
            </p:nvSpPr>
            <p:spPr>
              <a:xfrm>
                <a:off x="4306287" y="2443305"/>
                <a:ext cx="2349000" cy="35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76200" marR="0" lvl="0" indent="0" algn="ctr" rtl="0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FFCD00"/>
                  </a:buClr>
                  <a:buSzPts val="2400"/>
                  <a:buFont typeface="Quattrocento Sans"/>
                  <a:buNone/>
                </a:pPr>
                <a:r>
                  <a:rPr lang="en-US" sz="1200" b="1" i="0" u="none" strike="noStrike" cap="none">
                    <a:solidFill>
                      <a:schemeClr val="dk1"/>
                    </a:solidFill>
                    <a:highlight>
                      <a:srgbClr val="FFCD00"/>
                    </a:highlight>
                    <a:latin typeface="Lora"/>
                    <a:ea typeface="Lora"/>
                    <a:cs typeface="Lora"/>
                    <a:sym typeface="Lora"/>
                  </a:rPr>
                  <a:t>Prediction </a:t>
                </a:r>
                <a:endParaRPr/>
              </a:p>
            </p:txBody>
          </p:sp>
          <p:sp>
            <p:nvSpPr>
              <p:cNvPr id="112" name="Google Shape;112;p5"/>
              <p:cNvSpPr txBox="1"/>
              <p:nvPr/>
            </p:nvSpPr>
            <p:spPr>
              <a:xfrm>
                <a:off x="261404" y="2443305"/>
                <a:ext cx="2684995" cy="35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i="0" u="none" strike="noStrike" cap="none">
                    <a:solidFill>
                      <a:srgbClr val="000000"/>
                    </a:solidFill>
                    <a:highlight>
                      <a:srgbClr val="FFCD00"/>
                    </a:highlight>
                    <a:latin typeface="Lora"/>
                    <a:ea typeface="Lora"/>
                    <a:cs typeface="Lora"/>
                    <a:sym typeface="Lora"/>
                  </a:rPr>
                  <a:t>Data Preprocessing/ EDA</a:t>
                </a:r>
                <a:endParaRPr sz="1200" b="1" i="0" u="none" strike="noStrike" cap="none">
                  <a:solidFill>
                    <a:srgbClr val="000000"/>
                  </a:solidFill>
                  <a:highlight>
                    <a:srgbClr val="FFCD00"/>
                  </a:highlight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13" name="Google Shape;113;p5"/>
              <p:cNvSpPr txBox="1"/>
              <p:nvPr/>
            </p:nvSpPr>
            <p:spPr>
              <a:xfrm>
                <a:off x="261405" y="2688300"/>
                <a:ext cx="2128030" cy="101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92075" marR="0" lvl="0" indent="-9207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CD00"/>
                  </a:buClr>
                  <a:buSzPts val="1200"/>
                  <a:buFont typeface="Arial"/>
                  <a:buChar char="•"/>
                </a:pPr>
                <a:r>
                  <a:rPr lang="en-US" sz="12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투자 수익률상승을 위해 </a:t>
                </a:r>
                <a:r>
                  <a:rPr lang="en-US" sz="1200" b="1" i="0" u="none" strike="noStrike" cap="none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rPr>
                  <a:t>Altman</a:t>
                </a:r>
                <a:r>
                  <a:rPr lang="en-US" sz="12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의 한국형 </a:t>
                </a:r>
                <a:endParaRPr sz="12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92075" marR="0" lvl="0" indent="-9207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CD00"/>
                  </a:buClr>
                  <a:buSzPts val="1200"/>
                  <a:buFont typeface="Arial"/>
                  <a:buChar char="•"/>
                </a:pPr>
                <a:r>
                  <a:rPr lang="en-US" sz="1200" b="1" i="0" u="none" strike="noStrike" cap="none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rPr>
                  <a:t>K2-Score</a:t>
                </a:r>
                <a:r>
                  <a:rPr lang="en-US" sz="12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를 이용, </a:t>
                </a:r>
                <a:endParaRPr sz="12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92075" marR="0" lvl="0" indent="-9207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CD00"/>
                  </a:buClr>
                  <a:buSzPts val="1200"/>
                  <a:buFont typeface="Arial"/>
                  <a:buChar char="•"/>
                </a:pPr>
                <a:r>
                  <a:rPr lang="en-US" sz="12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상대적 부실 기업 탐색. </a:t>
                </a:r>
                <a:endParaRPr/>
              </a:p>
            </p:txBody>
          </p:sp>
          <p:sp>
            <p:nvSpPr>
              <p:cNvPr id="114" name="Google Shape;114;p5"/>
              <p:cNvSpPr txBox="1"/>
              <p:nvPr/>
            </p:nvSpPr>
            <p:spPr>
              <a:xfrm>
                <a:off x="6533596" y="2449865"/>
                <a:ext cx="2349000" cy="35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i="0" u="none" strike="noStrike" cap="none">
                    <a:solidFill>
                      <a:srgbClr val="000000"/>
                    </a:solidFill>
                    <a:highlight>
                      <a:srgbClr val="FFCD00"/>
                    </a:highlight>
                    <a:latin typeface="Lora"/>
                    <a:ea typeface="Lora"/>
                    <a:cs typeface="Lora"/>
                    <a:sym typeface="Lora"/>
                  </a:rPr>
                  <a:t>Forecasting</a:t>
                </a:r>
                <a:endParaRPr/>
              </a:p>
            </p:txBody>
          </p:sp>
          <p:sp>
            <p:nvSpPr>
              <p:cNvPr id="115" name="Google Shape;115;p5"/>
              <p:cNvSpPr txBox="1"/>
              <p:nvPr/>
            </p:nvSpPr>
            <p:spPr>
              <a:xfrm>
                <a:off x="2299948" y="2449865"/>
                <a:ext cx="2349000" cy="35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3"/>
                  </a:buClr>
                  <a:buSzPts val="1200"/>
                  <a:buFont typeface="Montserrat"/>
                  <a:buNone/>
                </a:pPr>
                <a:r>
                  <a:rPr lang="en-US" sz="1200" b="1" i="0" u="none" strike="noStrike" cap="none">
                    <a:solidFill>
                      <a:schemeClr val="dk1"/>
                    </a:solidFill>
                    <a:highlight>
                      <a:srgbClr val="FFCD00"/>
                    </a:highlight>
                    <a:latin typeface="Lora"/>
                    <a:ea typeface="Lora"/>
                    <a:cs typeface="Lora"/>
                    <a:sym typeface="Lora"/>
                  </a:rPr>
                  <a:t>Security Selection &amp; Quant</a:t>
                </a:r>
                <a:endParaRPr sz="1200" b="1" i="0" u="none" strike="noStrike" cap="none">
                  <a:solidFill>
                    <a:schemeClr val="dk1"/>
                  </a:solidFill>
                  <a:highlight>
                    <a:srgbClr val="FFCD00"/>
                  </a:highlight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16" name="Google Shape;116;p5"/>
              <p:cNvSpPr txBox="1"/>
              <p:nvPr/>
            </p:nvSpPr>
            <p:spPr>
              <a:xfrm>
                <a:off x="2244373" y="2688300"/>
                <a:ext cx="2349000" cy="101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92075" marR="0" lvl="0" indent="-9207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CD00"/>
                  </a:buClr>
                  <a:buSzPts val="1200"/>
                  <a:buFont typeface="Arial"/>
                  <a:buChar char="•"/>
                </a:pPr>
                <a:r>
                  <a:rPr lang="en-US" sz="1200" b="1" i="0" u="none" strike="noStrike" cap="none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rPr>
                  <a:t>F-Score</a:t>
                </a:r>
                <a:r>
                  <a:rPr lang="en-US" sz="12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가 높은 기업 재분류</a:t>
                </a:r>
                <a:endParaRPr sz="12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92075" marR="0" lvl="0" indent="-9207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CD00"/>
                  </a:buClr>
                  <a:buSzPts val="1200"/>
                  <a:buFont typeface="Arial"/>
                  <a:buChar char="•"/>
                </a:pPr>
                <a:r>
                  <a:rPr lang="en-US" sz="1200" b="1" i="0" u="none" strike="noStrike" cap="none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rPr>
                  <a:t>Backtesting</a:t>
                </a:r>
                <a:r>
                  <a:rPr lang="en-US" sz="12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진행 후</a:t>
                </a:r>
                <a:endParaRPr sz="12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92075" marR="0" lvl="0" indent="-9207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CD00"/>
                  </a:buClr>
                  <a:buSzPts val="1200"/>
                  <a:buFont typeface="Arial"/>
                  <a:buChar char="•"/>
                </a:pPr>
                <a:r>
                  <a:rPr lang="en-US" sz="12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수익률 높은 기업 발굴</a:t>
                </a:r>
                <a:endParaRPr/>
              </a:p>
            </p:txBody>
          </p:sp>
          <p:sp>
            <p:nvSpPr>
              <p:cNvPr id="117" name="Google Shape;117;p5"/>
              <p:cNvSpPr txBox="1"/>
              <p:nvPr/>
            </p:nvSpPr>
            <p:spPr>
              <a:xfrm>
                <a:off x="313713" y="3735750"/>
                <a:ext cx="1930659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※: 코스피 상장기업 중 부도기업의 수는 극히 적으므로 </a:t>
                </a:r>
                <a:endParaRPr/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상대적 부실성이란 용어를 사용</a:t>
                </a:r>
                <a:endParaRPr/>
              </a:p>
            </p:txBody>
          </p:sp>
          <p:grpSp>
            <p:nvGrpSpPr>
              <p:cNvPr id="118" name="Google Shape;118;p5"/>
              <p:cNvGrpSpPr/>
              <p:nvPr/>
            </p:nvGrpSpPr>
            <p:grpSpPr>
              <a:xfrm>
                <a:off x="753401" y="1516831"/>
                <a:ext cx="1043074" cy="844634"/>
                <a:chOff x="5247525" y="3007275"/>
                <a:chExt cx="517575" cy="384825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5247525" y="3007275"/>
                  <a:ext cx="348900" cy="34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56" h="13956" fill="none" extrusionOk="0">
                      <a:moveTo>
                        <a:pt x="13323" y="5772"/>
                      </a:moveTo>
                      <a:lnTo>
                        <a:pt x="11861" y="5626"/>
                      </a:lnTo>
                      <a:lnTo>
                        <a:pt x="11861" y="5626"/>
                      </a:lnTo>
                      <a:lnTo>
                        <a:pt x="11788" y="5334"/>
                      </a:lnTo>
                      <a:lnTo>
                        <a:pt x="11667" y="5042"/>
                      </a:lnTo>
                      <a:lnTo>
                        <a:pt x="11545" y="4750"/>
                      </a:lnTo>
                      <a:lnTo>
                        <a:pt x="11399" y="4482"/>
                      </a:lnTo>
                      <a:lnTo>
                        <a:pt x="12300" y="3337"/>
                      </a:lnTo>
                      <a:lnTo>
                        <a:pt x="12300" y="3337"/>
                      </a:lnTo>
                      <a:lnTo>
                        <a:pt x="12373" y="3240"/>
                      </a:lnTo>
                      <a:lnTo>
                        <a:pt x="12422" y="3118"/>
                      </a:lnTo>
                      <a:lnTo>
                        <a:pt x="12446" y="2996"/>
                      </a:lnTo>
                      <a:lnTo>
                        <a:pt x="12446" y="2850"/>
                      </a:lnTo>
                      <a:lnTo>
                        <a:pt x="12422" y="2728"/>
                      </a:lnTo>
                      <a:lnTo>
                        <a:pt x="12397" y="2606"/>
                      </a:lnTo>
                      <a:lnTo>
                        <a:pt x="12324" y="2485"/>
                      </a:lnTo>
                      <a:lnTo>
                        <a:pt x="12251" y="2387"/>
                      </a:lnTo>
                      <a:lnTo>
                        <a:pt x="11569" y="1705"/>
                      </a:lnTo>
                      <a:lnTo>
                        <a:pt x="11569" y="1705"/>
                      </a:lnTo>
                      <a:lnTo>
                        <a:pt x="11472" y="1632"/>
                      </a:lnTo>
                      <a:lnTo>
                        <a:pt x="11350" y="1559"/>
                      </a:lnTo>
                      <a:lnTo>
                        <a:pt x="11228" y="1510"/>
                      </a:lnTo>
                      <a:lnTo>
                        <a:pt x="11106" y="1510"/>
                      </a:lnTo>
                      <a:lnTo>
                        <a:pt x="10960" y="1510"/>
                      </a:lnTo>
                      <a:lnTo>
                        <a:pt x="10838" y="1535"/>
                      </a:lnTo>
                      <a:lnTo>
                        <a:pt x="10717" y="1583"/>
                      </a:lnTo>
                      <a:lnTo>
                        <a:pt x="10619" y="1656"/>
                      </a:lnTo>
                      <a:lnTo>
                        <a:pt x="9475" y="2558"/>
                      </a:lnTo>
                      <a:lnTo>
                        <a:pt x="9475" y="2558"/>
                      </a:lnTo>
                      <a:lnTo>
                        <a:pt x="9207" y="2411"/>
                      </a:lnTo>
                      <a:lnTo>
                        <a:pt x="8914" y="2290"/>
                      </a:lnTo>
                      <a:lnTo>
                        <a:pt x="8622" y="2168"/>
                      </a:lnTo>
                      <a:lnTo>
                        <a:pt x="8330" y="2070"/>
                      </a:lnTo>
                      <a:lnTo>
                        <a:pt x="8159" y="634"/>
                      </a:lnTo>
                      <a:lnTo>
                        <a:pt x="8159" y="634"/>
                      </a:lnTo>
                      <a:lnTo>
                        <a:pt x="8135" y="512"/>
                      </a:lnTo>
                      <a:lnTo>
                        <a:pt x="8086" y="390"/>
                      </a:lnTo>
                      <a:lnTo>
                        <a:pt x="8013" y="293"/>
                      </a:lnTo>
                      <a:lnTo>
                        <a:pt x="7940" y="195"/>
                      </a:lnTo>
                      <a:lnTo>
                        <a:pt x="7818" y="122"/>
                      </a:lnTo>
                      <a:lnTo>
                        <a:pt x="7721" y="49"/>
                      </a:lnTo>
                      <a:lnTo>
                        <a:pt x="7575" y="25"/>
                      </a:lnTo>
                      <a:lnTo>
                        <a:pt x="7453" y="0"/>
                      </a:lnTo>
                      <a:lnTo>
                        <a:pt x="6479" y="0"/>
                      </a:lnTo>
                      <a:lnTo>
                        <a:pt x="6479" y="0"/>
                      </a:lnTo>
                      <a:lnTo>
                        <a:pt x="6357" y="25"/>
                      </a:lnTo>
                      <a:lnTo>
                        <a:pt x="6235" y="49"/>
                      </a:lnTo>
                      <a:lnTo>
                        <a:pt x="6114" y="122"/>
                      </a:lnTo>
                      <a:lnTo>
                        <a:pt x="6016" y="195"/>
                      </a:lnTo>
                      <a:lnTo>
                        <a:pt x="5919" y="293"/>
                      </a:lnTo>
                      <a:lnTo>
                        <a:pt x="5846" y="390"/>
                      </a:lnTo>
                      <a:lnTo>
                        <a:pt x="5797" y="512"/>
                      </a:lnTo>
                      <a:lnTo>
                        <a:pt x="5773" y="634"/>
                      </a:lnTo>
                      <a:lnTo>
                        <a:pt x="5602" y="2070"/>
                      </a:lnTo>
                      <a:lnTo>
                        <a:pt x="5602" y="2070"/>
                      </a:lnTo>
                      <a:lnTo>
                        <a:pt x="5310" y="2168"/>
                      </a:lnTo>
                      <a:lnTo>
                        <a:pt x="5018" y="2290"/>
                      </a:lnTo>
                      <a:lnTo>
                        <a:pt x="4750" y="2411"/>
                      </a:lnTo>
                      <a:lnTo>
                        <a:pt x="4482" y="2558"/>
                      </a:lnTo>
                      <a:lnTo>
                        <a:pt x="3337" y="1656"/>
                      </a:lnTo>
                      <a:lnTo>
                        <a:pt x="3337" y="1656"/>
                      </a:lnTo>
                      <a:lnTo>
                        <a:pt x="3215" y="1583"/>
                      </a:lnTo>
                      <a:lnTo>
                        <a:pt x="3094" y="1535"/>
                      </a:lnTo>
                      <a:lnTo>
                        <a:pt x="2972" y="1510"/>
                      </a:lnTo>
                      <a:lnTo>
                        <a:pt x="2850" y="1510"/>
                      </a:lnTo>
                      <a:lnTo>
                        <a:pt x="2728" y="1510"/>
                      </a:lnTo>
                      <a:lnTo>
                        <a:pt x="2582" y="1559"/>
                      </a:lnTo>
                      <a:lnTo>
                        <a:pt x="2485" y="1632"/>
                      </a:lnTo>
                      <a:lnTo>
                        <a:pt x="2387" y="1705"/>
                      </a:lnTo>
                      <a:lnTo>
                        <a:pt x="1705" y="2387"/>
                      </a:lnTo>
                      <a:lnTo>
                        <a:pt x="1705" y="2387"/>
                      </a:lnTo>
                      <a:lnTo>
                        <a:pt x="1608" y="2485"/>
                      </a:lnTo>
                      <a:lnTo>
                        <a:pt x="1559" y="2606"/>
                      </a:lnTo>
                      <a:lnTo>
                        <a:pt x="1511" y="2728"/>
                      </a:lnTo>
                      <a:lnTo>
                        <a:pt x="1486" y="2850"/>
                      </a:lnTo>
                      <a:lnTo>
                        <a:pt x="1486" y="2996"/>
                      </a:lnTo>
                      <a:lnTo>
                        <a:pt x="1511" y="3118"/>
                      </a:lnTo>
                      <a:lnTo>
                        <a:pt x="1559" y="3240"/>
                      </a:lnTo>
                      <a:lnTo>
                        <a:pt x="1632" y="3337"/>
                      </a:lnTo>
                      <a:lnTo>
                        <a:pt x="2533" y="4482"/>
                      </a:lnTo>
                      <a:lnTo>
                        <a:pt x="2533" y="4482"/>
                      </a:lnTo>
                      <a:lnTo>
                        <a:pt x="2387" y="4750"/>
                      </a:lnTo>
                      <a:lnTo>
                        <a:pt x="2266" y="5042"/>
                      </a:lnTo>
                      <a:lnTo>
                        <a:pt x="2168" y="5334"/>
                      </a:lnTo>
                      <a:lnTo>
                        <a:pt x="2071" y="5626"/>
                      </a:lnTo>
                      <a:lnTo>
                        <a:pt x="634" y="5772"/>
                      </a:lnTo>
                      <a:lnTo>
                        <a:pt x="634" y="5772"/>
                      </a:lnTo>
                      <a:lnTo>
                        <a:pt x="512" y="5821"/>
                      </a:lnTo>
                      <a:lnTo>
                        <a:pt x="390" y="5870"/>
                      </a:lnTo>
                      <a:lnTo>
                        <a:pt x="268" y="5943"/>
                      </a:lnTo>
                      <a:lnTo>
                        <a:pt x="171" y="6016"/>
                      </a:lnTo>
                      <a:lnTo>
                        <a:pt x="98" y="6138"/>
                      </a:lnTo>
                      <a:lnTo>
                        <a:pt x="49" y="6235"/>
                      </a:lnTo>
                      <a:lnTo>
                        <a:pt x="1" y="6381"/>
                      </a:lnTo>
                      <a:lnTo>
                        <a:pt x="1" y="6503"/>
                      </a:lnTo>
                      <a:lnTo>
                        <a:pt x="1" y="7453"/>
                      </a:lnTo>
                      <a:lnTo>
                        <a:pt x="1" y="7453"/>
                      </a:lnTo>
                      <a:lnTo>
                        <a:pt x="1" y="7599"/>
                      </a:lnTo>
                      <a:lnTo>
                        <a:pt x="49" y="7721"/>
                      </a:lnTo>
                      <a:lnTo>
                        <a:pt x="98" y="7843"/>
                      </a:lnTo>
                      <a:lnTo>
                        <a:pt x="171" y="7940"/>
                      </a:lnTo>
                      <a:lnTo>
                        <a:pt x="268" y="8037"/>
                      </a:lnTo>
                      <a:lnTo>
                        <a:pt x="390" y="8111"/>
                      </a:lnTo>
                      <a:lnTo>
                        <a:pt x="512" y="8159"/>
                      </a:lnTo>
                      <a:lnTo>
                        <a:pt x="634" y="8184"/>
                      </a:lnTo>
                      <a:lnTo>
                        <a:pt x="2071" y="8354"/>
                      </a:lnTo>
                      <a:lnTo>
                        <a:pt x="2071" y="8354"/>
                      </a:lnTo>
                      <a:lnTo>
                        <a:pt x="2168" y="8646"/>
                      </a:lnTo>
                      <a:lnTo>
                        <a:pt x="2266" y="8914"/>
                      </a:lnTo>
                      <a:lnTo>
                        <a:pt x="2387" y="9206"/>
                      </a:lnTo>
                      <a:lnTo>
                        <a:pt x="2533" y="9474"/>
                      </a:lnTo>
                      <a:lnTo>
                        <a:pt x="1632" y="10619"/>
                      </a:lnTo>
                      <a:lnTo>
                        <a:pt x="1632" y="10619"/>
                      </a:lnTo>
                      <a:lnTo>
                        <a:pt x="1559" y="10741"/>
                      </a:lnTo>
                      <a:lnTo>
                        <a:pt x="1511" y="10863"/>
                      </a:lnTo>
                      <a:lnTo>
                        <a:pt x="1486" y="10984"/>
                      </a:lnTo>
                      <a:lnTo>
                        <a:pt x="1486" y="11106"/>
                      </a:lnTo>
                      <a:lnTo>
                        <a:pt x="1511" y="11228"/>
                      </a:lnTo>
                      <a:lnTo>
                        <a:pt x="1559" y="11350"/>
                      </a:lnTo>
                      <a:lnTo>
                        <a:pt x="1608" y="11472"/>
                      </a:lnTo>
                      <a:lnTo>
                        <a:pt x="1705" y="11569"/>
                      </a:lnTo>
                      <a:lnTo>
                        <a:pt x="2387" y="12251"/>
                      </a:lnTo>
                      <a:lnTo>
                        <a:pt x="2387" y="12251"/>
                      </a:lnTo>
                      <a:lnTo>
                        <a:pt x="2485" y="12348"/>
                      </a:lnTo>
                      <a:lnTo>
                        <a:pt x="2582" y="12397"/>
                      </a:lnTo>
                      <a:lnTo>
                        <a:pt x="2728" y="12446"/>
                      </a:lnTo>
                      <a:lnTo>
                        <a:pt x="2850" y="12470"/>
                      </a:lnTo>
                      <a:lnTo>
                        <a:pt x="2972" y="12470"/>
                      </a:lnTo>
                      <a:lnTo>
                        <a:pt x="3094" y="12421"/>
                      </a:lnTo>
                      <a:lnTo>
                        <a:pt x="3215" y="12373"/>
                      </a:lnTo>
                      <a:lnTo>
                        <a:pt x="3337" y="12324"/>
                      </a:lnTo>
                      <a:lnTo>
                        <a:pt x="4482" y="11423"/>
                      </a:lnTo>
                      <a:lnTo>
                        <a:pt x="4482" y="11423"/>
                      </a:lnTo>
                      <a:lnTo>
                        <a:pt x="4750" y="11545"/>
                      </a:lnTo>
                      <a:lnTo>
                        <a:pt x="5018" y="11691"/>
                      </a:lnTo>
                      <a:lnTo>
                        <a:pt x="5310" y="11788"/>
                      </a:lnTo>
                      <a:lnTo>
                        <a:pt x="5602" y="11886"/>
                      </a:lnTo>
                      <a:lnTo>
                        <a:pt x="5773" y="13322"/>
                      </a:lnTo>
                      <a:lnTo>
                        <a:pt x="5773" y="13322"/>
                      </a:lnTo>
                      <a:lnTo>
                        <a:pt x="5797" y="13444"/>
                      </a:lnTo>
                      <a:lnTo>
                        <a:pt x="5846" y="13566"/>
                      </a:lnTo>
                      <a:lnTo>
                        <a:pt x="5919" y="13688"/>
                      </a:lnTo>
                      <a:lnTo>
                        <a:pt x="6016" y="13785"/>
                      </a:lnTo>
                      <a:lnTo>
                        <a:pt x="6114" y="13858"/>
                      </a:lnTo>
                      <a:lnTo>
                        <a:pt x="6235" y="13907"/>
                      </a:lnTo>
                      <a:lnTo>
                        <a:pt x="6357" y="13956"/>
                      </a:lnTo>
                      <a:lnTo>
                        <a:pt x="6479" y="13956"/>
                      </a:lnTo>
                      <a:lnTo>
                        <a:pt x="7453" y="13956"/>
                      </a:lnTo>
                      <a:lnTo>
                        <a:pt x="7453" y="13956"/>
                      </a:lnTo>
                      <a:lnTo>
                        <a:pt x="7575" y="13956"/>
                      </a:lnTo>
                      <a:lnTo>
                        <a:pt x="7721" y="13907"/>
                      </a:lnTo>
                      <a:lnTo>
                        <a:pt x="7818" y="13858"/>
                      </a:lnTo>
                      <a:lnTo>
                        <a:pt x="7940" y="13785"/>
                      </a:lnTo>
                      <a:lnTo>
                        <a:pt x="8013" y="13688"/>
                      </a:lnTo>
                      <a:lnTo>
                        <a:pt x="8086" y="13566"/>
                      </a:lnTo>
                      <a:lnTo>
                        <a:pt x="8135" y="13444"/>
                      </a:lnTo>
                      <a:lnTo>
                        <a:pt x="8159" y="13322"/>
                      </a:lnTo>
                      <a:lnTo>
                        <a:pt x="8330" y="11886"/>
                      </a:lnTo>
                      <a:lnTo>
                        <a:pt x="8330" y="11886"/>
                      </a:lnTo>
                      <a:lnTo>
                        <a:pt x="8622" y="11788"/>
                      </a:lnTo>
                      <a:lnTo>
                        <a:pt x="8914" y="11691"/>
                      </a:lnTo>
                      <a:lnTo>
                        <a:pt x="9207" y="11545"/>
                      </a:lnTo>
                      <a:lnTo>
                        <a:pt x="9475" y="11423"/>
                      </a:lnTo>
                      <a:lnTo>
                        <a:pt x="10619" y="12324"/>
                      </a:lnTo>
                      <a:lnTo>
                        <a:pt x="10619" y="12324"/>
                      </a:lnTo>
                      <a:lnTo>
                        <a:pt x="10717" y="12373"/>
                      </a:lnTo>
                      <a:lnTo>
                        <a:pt x="10838" y="12421"/>
                      </a:lnTo>
                      <a:lnTo>
                        <a:pt x="10960" y="12470"/>
                      </a:lnTo>
                      <a:lnTo>
                        <a:pt x="11106" y="12470"/>
                      </a:lnTo>
                      <a:lnTo>
                        <a:pt x="11228" y="12446"/>
                      </a:lnTo>
                      <a:lnTo>
                        <a:pt x="11350" y="12397"/>
                      </a:lnTo>
                      <a:lnTo>
                        <a:pt x="11472" y="12348"/>
                      </a:lnTo>
                      <a:lnTo>
                        <a:pt x="11569" y="12251"/>
                      </a:lnTo>
                      <a:lnTo>
                        <a:pt x="12251" y="11569"/>
                      </a:lnTo>
                      <a:lnTo>
                        <a:pt x="12251" y="11569"/>
                      </a:lnTo>
                      <a:lnTo>
                        <a:pt x="12324" y="11472"/>
                      </a:lnTo>
                      <a:lnTo>
                        <a:pt x="12397" y="11350"/>
                      </a:lnTo>
                      <a:lnTo>
                        <a:pt x="12422" y="11228"/>
                      </a:lnTo>
                      <a:lnTo>
                        <a:pt x="12446" y="11106"/>
                      </a:lnTo>
                      <a:lnTo>
                        <a:pt x="12446" y="10984"/>
                      </a:lnTo>
                      <a:lnTo>
                        <a:pt x="12422" y="10863"/>
                      </a:lnTo>
                      <a:lnTo>
                        <a:pt x="12373" y="10741"/>
                      </a:lnTo>
                      <a:lnTo>
                        <a:pt x="12300" y="10619"/>
                      </a:lnTo>
                      <a:lnTo>
                        <a:pt x="11399" y="9474"/>
                      </a:lnTo>
                      <a:lnTo>
                        <a:pt x="11399" y="9474"/>
                      </a:lnTo>
                      <a:lnTo>
                        <a:pt x="11545" y="9206"/>
                      </a:lnTo>
                      <a:lnTo>
                        <a:pt x="11667" y="8914"/>
                      </a:lnTo>
                      <a:lnTo>
                        <a:pt x="11788" y="8646"/>
                      </a:lnTo>
                      <a:lnTo>
                        <a:pt x="11861" y="8354"/>
                      </a:lnTo>
                      <a:lnTo>
                        <a:pt x="13323" y="8184"/>
                      </a:lnTo>
                      <a:lnTo>
                        <a:pt x="13323" y="8184"/>
                      </a:lnTo>
                      <a:lnTo>
                        <a:pt x="13444" y="8159"/>
                      </a:lnTo>
                      <a:lnTo>
                        <a:pt x="13566" y="8111"/>
                      </a:lnTo>
                      <a:lnTo>
                        <a:pt x="13664" y="8037"/>
                      </a:lnTo>
                      <a:lnTo>
                        <a:pt x="13761" y="7940"/>
                      </a:lnTo>
                      <a:lnTo>
                        <a:pt x="13834" y="7843"/>
                      </a:lnTo>
                      <a:lnTo>
                        <a:pt x="13907" y="7721"/>
                      </a:lnTo>
                      <a:lnTo>
                        <a:pt x="13932" y="7599"/>
                      </a:lnTo>
                      <a:lnTo>
                        <a:pt x="13956" y="7453"/>
                      </a:lnTo>
                      <a:lnTo>
                        <a:pt x="13956" y="6503"/>
                      </a:lnTo>
                      <a:lnTo>
                        <a:pt x="13956" y="6503"/>
                      </a:lnTo>
                      <a:lnTo>
                        <a:pt x="13932" y="6381"/>
                      </a:lnTo>
                      <a:lnTo>
                        <a:pt x="13907" y="6235"/>
                      </a:lnTo>
                      <a:lnTo>
                        <a:pt x="13834" y="6138"/>
                      </a:lnTo>
                      <a:lnTo>
                        <a:pt x="13761" y="6016"/>
                      </a:lnTo>
                      <a:lnTo>
                        <a:pt x="13664" y="5943"/>
                      </a:lnTo>
                      <a:lnTo>
                        <a:pt x="13566" y="5870"/>
                      </a:lnTo>
                      <a:lnTo>
                        <a:pt x="13444" y="5821"/>
                      </a:lnTo>
                      <a:lnTo>
                        <a:pt x="13323" y="5772"/>
                      </a:lnTo>
                      <a:lnTo>
                        <a:pt x="13323" y="5772"/>
                      </a:lnTo>
                      <a:close/>
                      <a:moveTo>
                        <a:pt x="8573" y="8598"/>
                      </a:moveTo>
                      <a:lnTo>
                        <a:pt x="8573" y="8598"/>
                      </a:lnTo>
                      <a:lnTo>
                        <a:pt x="8403" y="8744"/>
                      </a:lnTo>
                      <a:lnTo>
                        <a:pt x="8232" y="8890"/>
                      </a:lnTo>
                      <a:lnTo>
                        <a:pt x="8038" y="8987"/>
                      </a:lnTo>
                      <a:lnTo>
                        <a:pt x="7818" y="9085"/>
                      </a:lnTo>
                      <a:lnTo>
                        <a:pt x="7624" y="9158"/>
                      </a:lnTo>
                      <a:lnTo>
                        <a:pt x="7404" y="9206"/>
                      </a:lnTo>
                      <a:lnTo>
                        <a:pt x="7185" y="9231"/>
                      </a:lnTo>
                      <a:lnTo>
                        <a:pt x="6966" y="9255"/>
                      </a:lnTo>
                      <a:lnTo>
                        <a:pt x="6747" y="9231"/>
                      </a:lnTo>
                      <a:lnTo>
                        <a:pt x="6528" y="9206"/>
                      </a:lnTo>
                      <a:lnTo>
                        <a:pt x="6333" y="9158"/>
                      </a:lnTo>
                      <a:lnTo>
                        <a:pt x="6114" y="9085"/>
                      </a:lnTo>
                      <a:lnTo>
                        <a:pt x="5919" y="8987"/>
                      </a:lnTo>
                      <a:lnTo>
                        <a:pt x="5724" y="8890"/>
                      </a:lnTo>
                      <a:lnTo>
                        <a:pt x="5529" y="8744"/>
                      </a:lnTo>
                      <a:lnTo>
                        <a:pt x="5359" y="8598"/>
                      </a:lnTo>
                      <a:lnTo>
                        <a:pt x="5359" y="8598"/>
                      </a:lnTo>
                      <a:lnTo>
                        <a:pt x="5212" y="8427"/>
                      </a:lnTo>
                      <a:lnTo>
                        <a:pt x="5066" y="8232"/>
                      </a:lnTo>
                      <a:lnTo>
                        <a:pt x="4969" y="8037"/>
                      </a:lnTo>
                      <a:lnTo>
                        <a:pt x="4871" y="7843"/>
                      </a:lnTo>
                      <a:lnTo>
                        <a:pt x="4798" y="7623"/>
                      </a:lnTo>
                      <a:lnTo>
                        <a:pt x="4750" y="7404"/>
                      </a:lnTo>
                      <a:lnTo>
                        <a:pt x="4701" y="7209"/>
                      </a:lnTo>
                      <a:lnTo>
                        <a:pt x="4701" y="6990"/>
                      </a:lnTo>
                      <a:lnTo>
                        <a:pt x="4701" y="6771"/>
                      </a:lnTo>
                      <a:lnTo>
                        <a:pt x="4750" y="6552"/>
                      </a:lnTo>
                      <a:lnTo>
                        <a:pt x="4798" y="6333"/>
                      </a:lnTo>
                      <a:lnTo>
                        <a:pt x="4871" y="6138"/>
                      </a:lnTo>
                      <a:lnTo>
                        <a:pt x="4969" y="5919"/>
                      </a:lnTo>
                      <a:lnTo>
                        <a:pt x="5066" y="5724"/>
                      </a:lnTo>
                      <a:lnTo>
                        <a:pt x="5212" y="5553"/>
                      </a:lnTo>
                      <a:lnTo>
                        <a:pt x="5359" y="5383"/>
                      </a:lnTo>
                      <a:lnTo>
                        <a:pt x="5359" y="5383"/>
                      </a:lnTo>
                      <a:lnTo>
                        <a:pt x="5529" y="5212"/>
                      </a:lnTo>
                      <a:lnTo>
                        <a:pt x="5724" y="5091"/>
                      </a:lnTo>
                      <a:lnTo>
                        <a:pt x="5919" y="4969"/>
                      </a:lnTo>
                      <a:lnTo>
                        <a:pt x="6114" y="4871"/>
                      </a:lnTo>
                      <a:lnTo>
                        <a:pt x="6333" y="4798"/>
                      </a:lnTo>
                      <a:lnTo>
                        <a:pt x="6528" y="4750"/>
                      </a:lnTo>
                      <a:lnTo>
                        <a:pt x="6747" y="4725"/>
                      </a:lnTo>
                      <a:lnTo>
                        <a:pt x="6966" y="4701"/>
                      </a:lnTo>
                      <a:lnTo>
                        <a:pt x="7185" y="4725"/>
                      </a:lnTo>
                      <a:lnTo>
                        <a:pt x="7404" y="4750"/>
                      </a:lnTo>
                      <a:lnTo>
                        <a:pt x="7624" y="4798"/>
                      </a:lnTo>
                      <a:lnTo>
                        <a:pt x="7818" y="4871"/>
                      </a:lnTo>
                      <a:lnTo>
                        <a:pt x="8038" y="4969"/>
                      </a:lnTo>
                      <a:lnTo>
                        <a:pt x="8232" y="5091"/>
                      </a:lnTo>
                      <a:lnTo>
                        <a:pt x="8403" y="5212"/>
                      </a:lnTo>
                      <a:lnTo>
                        <a:pt x="8573" y="5383"/>
                      </a:lnTo>
                      <a:lnTo>
                        <a:pt x="8573" y="5383"/>
                      </a:lnTo>
                      <a:lnTo>
                        <a:pt x="8744" y="5553"/>
                      </a:lnTo>
                      <a:lnTo>
                        <a:pt x="8866" y="5724"/>
                      </a:lnTo>
                      <a:lnTo>
                        <a:pt x="8987" y="5919"/>
                      </a:lnTo>
                      <a:lnTo>
                        <a:pt x="9085" y="6138"/>
                      </a:lnTo>
                      <a:lnTo>
                        <a:pt x="9158" y="6333"/>
                      </a:lnTo>
                      <a:lnTo>
                        <a:pt x="9207" y="6552"/>
                      </a:lnTo>
                      <a:lnTo>
                        <a:pt x="9231" y="6771"/>
                      </a:lnTo>
                      <a:lnTo>
                        <a:pt x="9231" y="6990"/>
                      </a:lnTo>
                      <a:lnTo>
                        <a:pt x="9231" y="7209"/>
                      </a:lnTo>
                      <a:lnTo>
                        <a:pt x="9207" y="7404"/>
                      </a:lnTo>
                      <a:lnTo>
                        <a:pt x="9158" y="7623"/>
                      </a:lnTo>
                      <a:lnTo>
                        <a:pt x="9085" y="7843"/>
                      </a:lnTo>
                      <a:lnTo>
                        <a:pt x="8987" y="8037"/>
                      </a:lnTo>
                      <a:lnTo>
                        <a:pt x="8866" y="8232"/>
                      </a:lnTo>
                      <a:lnTo>
                        <a:pt x="8744" y="8427"/>
                      </a:lnTo>
                      <a:lnTo>
                        <a:pt x="8573" y="8598"/>
                      </a:lnTo>
                      <a:lnTo>
                        <a:pt x="8573" y="859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rnd" cmpd="sng">
                  <a:solidFill>
                    <a:srgbClr val="7F7F7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5566575" y="3193575"/>
                  <a:ext cx="198525" cy="19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41" h="7941" fill="none" extrusionOk="0">
                      <a:moveTo>
                        <a:pt x="7258" y="2144"/>
                      </a:moveTo>
                      <a:lnTo>
                        <a:pt x="6138" y="2388"/>
                      </a:lnTo>
                      <a:lnTo>
                        <a:pt x="6138" y="2388"/>
                      </a:lnTo>
                      <a:lnTo>
                        <a:pt x="6016" y="2217"/>
                      </a:lnTo>
                      <a:lnTo>
                        <a:pt x="5870" y="2071"/>
                      </a:lnTo>
                      <a:lnTo>
                        <a:pt x="6260" y="975"/>
                      </a:lnTo>
                      <a:lnTo>
                        <a:pt x="6260" y="975"/>
                      </a:lnTo>
                      <a:lnTo>
                        <a:pt x="6284" y="902"/>
                      </a:lnTo>
                      <a:lnTo>
                        <a:pt x="6284" y="829"/>
                      </a:lnTo>
                      <a:lnTo>
                        <a:pt x="6260" y="683"/>
                      </a:lnTo>
                      <a:lnTo>
                        <a:pt x="6162" y="561"/>
                      </a:lnTo>
                      <a:lnTo>
                        <a:pt x="6114" y="488"/>
                      </a:lnTo>
                      <a:lnTo>
                        <a:pt x="6065" y="464"/>
                      </a:lnTo>
                      <a:lnTo>
                        <a:pt x="5553" y="196"/>
                      </a:lnTo>
                      <a:lnTo>
                        <a:pt x="5553" y="196"/>
                      </a:lnTo>
                      <a:lnTo>
                        <a:pt x="5480" y="171"/>
                      </a:lnTo>
                      <a:lnTo>
                        <a:pt x="5407" y="171"/>
                      </a:lnTo>
                      <a:lnTo>
                        <a:pt x="5261" y="171"/>
                      </a:lnTo>
                      <a:lnTo>
                        <a:pt x="5115" y="244"/>
                      </a:lnTo>
                      <a:lnTo>
                        <a:pt x="5066" y="293"/>
                      </a:lnTo>
                      <a:lnTo>
                        <a:pt x="5018" y="342"/>
                      </a:lnTo>
                      <a:lnTo>
                        <a:pt x="4384" y="1316"/>
                      </a:lnTo>
                      <a:lnTo>
                        <a:pt x="4384" y="1316"/>
                      </a:lnTo>
                      <a:lnTo>
                        <a:pt x="4165" y="1292"/>
                      </a:lnTo>
                      <a:lnTo>
                        <a:pt x="3970" y="1292"/>
                      </a:lnTo>
                      <a:lnTo>
                        <a:pt x="3483" y="244"/>
                      </a:lnTo>
                      <a:lnTo>
                        <a:pt x="3483" y="244"/>
                      </a:lnTo>
                      <a:lnTo>
                        <a:pt x="3435" y="171"/>
                      </a:lnTo>
                      <a:lnTo>
                        <a:pt x="3386" y="123"/>
                      </a:lnTo>
                      <a:lnTo>
                        <a:pt x="3264" y="50"/>
                      </a:lnTo>
                      <a:lnTo>
                        <a:pt x="3118" y="1"/>
                      </a:lnTo>
                      <a:lnTo>
                        <a:pt x="3045" y="1"/>
                      </a:lnTo>
                      <a:lnTo>
                        <a:pt x="2972" y="25"/>
                      </a:lnTo>
                      <a:lnTo>
                        <a:pt x="2436" y="196"/>
                      </a:lnTo>
                      <a:lnTo>
                        <a:pt x="2436" y="196"/>
                      </a:lnTo>
                      <a:lnTo>
                        <a:pt x="2363" y="220"/>
                      </a:lnTo>
                      <a:lnTo>
                        <a:pt x="2290" y="269"/>
                      </a:lnTo>
                      <a:lnTo>
                        <a:pt x="2192" y="391"/>
                      </a:lnTo>
                      <a:lnTo>
                        <a:pt x="2144" y="537"/>
                      </a:lnTo>
                      <a:lnTo>
                        <a:pt x="2144" y="610"/>
                      </a:lnTo>
                      <a:lnTo>
                        <a:pt x="2144" y="683"/>
                      </a:lnTo>
                      <a:lnTo>
                        <a:pt x="2387" y="1828"/>
                      </a:lnTo>
                      <a:lnTo>
                        <a:pt x="2387" y="1828"/>
                      </a:lnTo>
                      <a:lnTo>
                        <a:pt x="2217" y="1949"/>
                      </a:lnTo>
                      <a:lnTo>
                        <a:pt x="2071" y="2095"/>
                      </a:lnTo>
                      <a:lnTo>
                        <a:pt x="999" y="1681"/>
                      </a:lnTo>
                      <a:lnTo>
                        <a:pt x="999" y="1681"/>
                      </a:lnTo>
                      <a:lnTo>
                        <a:pt x="926" y="1681"/>
                      </a:lnTo>
                      <a:lnTo>
                        <a:pt x="829" y="1657"/>
                      </a:lnTo>
                      <a:lnTo>
                        <a:pt x="682" y="1706"/>
                      </a:lnTo>
                      <a:lnTo>
                        <a:pt x="561" y="1779"/>
                      </a:lnTo>
                      <a:lnTo>
                        <a:pt x="512" y="1828"/>
                      </a:lnTo>
                      <a:lnTo>
                        <a:pt x="463" y="1901"/>
                      </a:lnTo>
                      <a:lnTo>
                        <a:pt x="220" y="2388"/>
                      </a:lnTo>
                      <a:lnTo>
                        <a:pt x="220" y="2388"/>
                      </a:lnTo>
                      <a:lnTo>
                        <a:pt x="195" y="2461"/>
                      </a:lnTo>
                      <a:lnTo>
                        <a:pt x="171" y="2534"/>
                      </a:lnTo>
                      <a:lnTo>
                        <a:pt x="195" y="2704"/>
                      </a:lnTo>
                      <a:lnTo>
                        <a:pt x="244" y="2826"/>
                      </a:lnTo>
                      <a:lnTo>
                        <a:pt x="293" y="2899"/>
                      </a:lnTo>
                      <a:lnTo>
                        <a:pt x="366" y="2948"/>
                      </a:lnTo>
                      <a:lnTo>
                        <a:pt x="1340" y="3581"/>
                      </a:lnTo>
                      <a:lnTo>
                        <a:pt x="1340" y="3581"/>
                      </a:lnTo>
                      <a:lnTo>
                        <a:pt x="1316" y="3776"/>
                      </a:lnTo>
                      <a:lnTo>
                        <a:pt x="1291" y="3995"/>
                      </a:lnTo>
                      <a:lnTo>
                        <a:pt x="244" y="4482"/>
                      </a:lnTo>
                      <a:lnTo>
                        <a:pt x="244" y="4482"/>
                      </a:lnTo>
                      <a:lnTo>
                        <a:pt x="195" y="4507"/>
                      </a:lnTo>
                      <a:lnTo>
                        <a:pt x="122" y="4555"/>
                      </a:lnTo>
                      <a:lnTo>
                        <a:pt x="49" y="4701"/>
                      </a:lnTo>
                      <a:lnTo>
                        <a:pt x="0" y="4848"/>
                      </a:lnTo>
                      <a:lnTo>
                        <a:pt x="25" y="4921"/>
                      </a:lnTo>
                      <a:lnTo>
                        <a:pt x="25" y="4994"/>
                      </a:lnTo>
                      <a:lnTo>
                        <a:pt x="220" y="5530"/>
                      </a:lnTo>
                      <a:lnTo>
                        <a:pt x="220" y="5530"/>
                      </a:lnTo>
                      <a:lnTo>
                        <a:pt x="244" y="5578"/>
                      </a:lnTo>
                      <a:lnTo>
                        <a:pt x="293" y="5651"/>
                      </a:lnTo>
                      <a:lnTo>
                        <a:pt x="390" y="5749"/>
                      </a:lnTo>
                      <a:lnTo>
                        <a:pt x="536" y="5797"/>
                      </a:lnTo>
                      <a:lnTo>
                        <a:pt x="609" y="5797"/>
                      </a:lnTo>
                      <a:lnTo>
                        <a:pt x="682" y="5797"/>
                      </a:lnTo>
                      <a:lnTo>
                        <a:pt x="1827" y="5554"/>
                      </a:lnTo>
                      <a:lnTo>
                        <a:pt x="1827" y="5554"/>
                      </a:lnTo>
                      <a:lnTo>
                        <a:pt x="1949" y="5724"/>
                      </a:lnTo>
                      <a:lnTo>
                        <a:pt x="2095" y="5870"/>
                      </a:lnTo>
                      <a:lnTo>
                        <a:pt x="1705" y="6966"/>
                      </a:lnTo>
                      <a:lnTo>
                        <a:pt x="1705" y="6966"/>
                      </a:lnTo>
                      <a:lnTo>
                        <a:pt x="1681" y="7040"/>
                      </a:lnTo>
                      <a:lnTo>
                        <a:pt x="1681" y="7113"/>
                      </a:lnTo>
                      <a:lnTo>
                        <a:pt x="1705" y="7259"/>
                      </a:lnTo>
                      <a:lnTo>
                        <a:pt x="1778" y="7380"/>
                      </a:lnTo>
                      <a:lnTo>
                        <a:pt x="1851" y="7429"/>
                      </a:lnTo>
                      <a:lnTo>
                        <a:pt x="1900" y="7478"/>
                      </a:lnTo>
                      <a:lnTo>
                        <a:pt x="2412" y="7721"/>
                      </a:lnTo>
                      <a:lnTo>
                        <a:pt x="2412" y="7721"/>
                      </a:lnTo>
                      <a:lnTo>
                        <a:pt x="2485" y="7770"/>
                      </a:lnTo>
                      <a:lnTo>
                        <a:pt x="2558" y="7770"/>
                      </a:lnTo>
                      <a:lnTo>
                        <a:pt x="2704" y="7770"/>
                      </a:lnTo>
                      <a:lnTo>
                        <a:pt x="2850" y="7697"/>
                      </a:lnTo>
                      <a:lnTo>
                        <a:pt x="2899" y="7648"/>
                      </a:lnTo>
                      <a:lnTo>
                        <a:pt x="2947" y="7600"/>
                      </a:lnTo>
                      <a:lnTo>
                        <a:pt x="3581" y="6625"/>
                      </a:lnTo>
                      <a:lnTo>
                        <a:pt x="3581" y="6625"/>
                      </a:lnTo>
                      <a:lnTo>
                        <a:pt x="3800" y="6650"/>
                      </a:lnTo>
                      <a:lnTo>
                        <a:pt x="3995" y="6650"/>
                      </a:lnTo>
                      <a:lnTo>
                        <a:pt x="4482" y="7697"/>
                      </a:lnTo>
                      <a:lnTo>
                        <a:pt x="4482" y="7697"/>
                      </a:lnTo>
                      <a:lnTo>
                        <a:pt x="4531" y="7770"/>
                      </a:lnTo>
                      <a:lnTo>
                        <a:pt x="4579" y="7819"/>
                      </a:lnTo>
                      <a:lnTo>
                        <a:pt x="4701" y="7892"/>
                      </a:lnTo>
                      <a:lnTo>
                        <a:pt x="4847" y="7941"/>
                      </a:lnTo>
                      <a:lnTo>
                        <a:pt x="4920" y="7941"/>
                      </a:lnTo>
                      <a:lnTo>
                        <a:pt x="4993" y="7916"/>
                      </a:lnTo>
                      <a:lnTo>
                        <a:pt x="5529" y="7746"/>
                      </a:lnTo>
                      <a:lnTo>
                        <a:pt x="5529" y="7746"/>
                      </a:lnTo>
                      <a:lnTo>
                        <a:pt x="5602" y="7721"/>
                      </a:lnTo>
                      <a:lnTo>
                        <a:pt x="5651" y="7673"/>
                      </a:lnTo>
                      <a:lnTo>
                        <a:pt x="5748" y="7551"/>
                      </a:lnTo>
                      <a:lnTo>
                        <a:pt x="5821" y="7405"/>
                      </a:lnTo>
                      <a:lnTo>
                        <a:pt x="5821" y="7332"/>
                      </a:lnTo>
                      <a:lnTo>
                        <a:pt x="5821" y="7259"/>
                      </a:lnTo>
                      <a:lnTo>
                        <a:pt x="5578" y="6114"/>
                      </a:lnTo>
                      <a:lnTo>
                        <a:pt x="5578" y="6114"/>
                      </a:lnTo>
                      <a:lnTo>
                        <a:pt x="5724" y="5992"/>
                      </a:lnTo>
                      <a:lnTo>
                        <a:pt x="5894" y="5846"/>
                      </a:lnTo>
                      <a:lnTo>
                        <a:pt x="6966" y="6260"/>
                      </a:lnTo>
                      <a:lnTo>
                        <a:pt x="6966" y="6260"/>
                      </a:lnTo>
                      <a:lnTo>
                        <a:pt x="7039" y="6260"/>
                      </a:lnTo>
                      <a:lnTo>
                        <a:pt x="7112" y="6285"/>
                      </a:lnTo>
                      <a:lnTo>
                        <a:pt x="7258" y="6236"/>
                      </a:lnTo>
                      <a:lnTo>
                        <a:pt x="7404" y="6163"/>
                      </a:lnTo>
                      <a:lnTo>
                        <a:pt x="7453" y="6114"/>
                      </a:lnTo>
                      <a:lnTo>
                        <a:pt x="7502" y="6041"/>
                      </a:lnTo>
                      <a:lnTo>
                        <a:pt x="7745" y="5530"/>
                      </a:lnTo>
                      <a:lnTo>
                        <a:pt x="7745" y="5530"/>
                      </a:lnTo>
                      <a:lnTo>
                        <a:pt x="7770" y="5481"/>
                      </a:lnTo>
                      <a:lnTo>
                        <a:pt x="7794" y="5383"/>
                      </a:lnTo>
                      <a:lnTo>
                        <a:pt x="7770" y="5237"/>
                      </a:lnTo>
                      <a:lnTo>
                        <a:pt x="7697" y="5115"/>
                      </a:lnTo>
                      <a:lnTo>
                        <a:pt x="7648" y="5042"/>
                      </a:lnTo>
                      <a:lnTo>
                        <a:pt x="7599" y="4994"/>
                      </a:lnTo>
                      <a:lnTo>
                        <a:pt x="6625" y="4360"/>
                      </a:lnTo>
                      <a:lnTo>
                        <a:pt x="6625" y="4360"/>
                      </a:lnTo>
                      <a:lnTo>
                        <a:pt x="6649" y="4166"/>
                      </a:lnTo>
                      <a:lnTo>
                        <a:pt x="6649" y="3946"/>
                      </a:lnTo>
                      <a:lnTo>
                        <a:pt x="7697" y="3459"/>
                      </a:lnTo>
                      <a:lnTo>
                        <a:pt x="7697" y="3459"/>
                      </a:lnTo>
                      <a:lnTo>
                        <a:pt x="7770" y="3435"/>
                      </a:lnTo>
                      <a:lnTo>
                        <a:pt x="7843" y="3386"/>
                      </a:lnTo>
                      <a:lnTo>
                        <a:pt x="7916" y="3240"/>
                      </a:lnTo>
                      <a:lnTo>
                        <a:pt x="7940" y="3094"/>
                      </a:lnTo>
                      <a:lnTo>
                        <a:pt x="7940" y="3021"/>
                      </a:lnTo>
                      <a:lnTo>
                        <a:pt x="7940" y="2948"/>
                      </a:lnTo>
                      <a:lnTo>
                        <a:pt x="7745" y="2412"/>
                      </a:lnTo>
                      <a:lnTo>
                        <a:pt x="7745" y="2412"/>
                      </a:lnTo>
                      <a:lnTo>
                        <a:pt x="7721" y="2339"/>
                      </a:lnTo>
                      <a:lnTo>
                        <a:pt x="7672" y="2290"/>
                      </a:lnTo>
                      <a:lnTo>
                        <a:pt x="7551" y="2193"/>
                      </a:lnTo>
                      <a:lnTo>
                        <a:pt x="7429" y="2144"/>
                      </a:lnTo>
                      <a:lnTo>
                        <a:pt x="7356" y="2144"/>
                      </a:lnTo>
                      <a:lnTo>
                        <a:pt x="7258" y="2144"/>
                      </a:lnTo>
                      <a:lnTo>
                        <a:pt x="7258" y="2144"/>
                      </a:lnTo>
                      <a:close/>
                      <a:moveTo>
                        <a:pt x="5480" y="4726"/>
                      </a:moveTo>
                      <a:lnTo>
                        <a:pt x="5480" y="4726"/>
                      </a:lnTo>
                      <a:lnTo>
                        <a:pt x="5383" y="4872"/>
                      </a:lnTo>
                      <a:lnTo>
                        <a:pt x="5286" y="4994"/>
                      </a:lnTo>
                      <a:lnTo>
                        <a:pt x="5188" y="5140"/>
                      </a:lnTo>
                      <a:lnTo>
                        <a:pt x="5066" y="5237"/>
                      </a:lnTo>
                      <a:lnTo>
                        <a:pt x="4945" y="5335"/>
                      </a:lnTo>
                      <a:lnTo>
                        <a:pt x="4798" y="5432"/>
                      </a:lnTo>
                      <a:lnTo>
                        <a:pt x="4652" y="5505"/>
                      </a:lnTo>
                      <a:lnTo>
                        <a:pt x="4506" y="5554"/>
                      </a:lnTo>
                      <a:lnTo>
                        <a:pt x="4360" y="5603"/>
                      </a:lnTo>
                      <a:lnTo>
                        <a:pt x="4190" y="5627"/>
                      </a:lnTo>
                      <a:lnTo>
                        <a:pt x="4043" y="5651"/>
                      </a:lnTo>
                      <a:lnTo>
                        <a:pt x="3873" y="5627"/>
                      </a:lnTo>
                      <a:lnTo>
                        <a:pt x="3702" y="5627"/>
                      </a:lnTo>
                      <a:lnTo>
                        <a:pt x="3556" y="5578"/>
                      </a:lnTo>
                      <a:lnTo>
                        <a:pt x="3386" y="5530"/>
                      </a:lnTo>
                      <a:lnTo>
                        <a:pt x="3240" y="5456"/>
                      </a:lnTo>
                      <a:lnTo>
                        <a:pt x="3240" y="5456"/>
                      </a:lnTo>
                      <a:lnTo>
                        <a:pt x="3094" y="5383"/>
                      </a:lnTo>
                      <a:lnTo>
                        <a:pt x="2947" y="5286"/>
                      </a:lnTo>
                      <a:lnTo>
                        <a:pt x="2826" y="5164"/>
                      </a:lnTo>
                      <a:lnTo>
                        <a:pt x="2704" y="5067"/>
                      </a:lnTo>
                      <a:lnTo>
                        <a:pt x="2606" y="4921"/>
                      </a:lnTo>
                      <a:lnTo>
                        <a:pt x="2533" y="4799"/>
                      </a:lnTo>
                      <a:lnTo>
                        <a:pt x="2460" y="4653"/>
                      </a:lnTo>
                      <a:lnTo>
                        <a:pt x="2387" y="4507"/>
                      </a:lnTo>
                      <a:lnTo>
                        <a:pt x="2363" y="4336"/>
                      </a:lnTo>
                      <a:lnTo>
                        <a:pt x="2314" y="4190"/>
                      </a:lnTo>
                      <a:lnTo>
                        <a:pt x="2314" y="4020"/>
                      </a:lnTo>
                      <a:lnTo>
                        <a:pt x="2314" y="3873"/>
                      </a:lnTo>
                      <a:lnTo>
                        <a:pt x="2339" y="3703"/>
                      </a:lnTo>
                      <a:lnTo>
                        <a:pt x="2363" y="3532"/>
                      </a:lnTo>
                      <a:lnTo>
                        <a:pt x="2412" y="3386"/>
                      </a:lnTo>
                      <a:lnTo>
                        <a:pt x="2485" y="3216"/>
                      </a:lnTo>
                      <a:lnTo>
                        <a:pt x="2485" y="3216"/>
                      </a:lnTo>
                      <a:lnTo>
                        <a:pt x="2582" y="3070"/>
                      </a:lnTo>
                      <a:lnTo>
                        <a:pt x="2680" y="2948"/>
                      </a:lnTo>
                      <a:lnTo>
                        <a:pt x="2777" y="2802"/>
                      </a:lnTo>
                      <a:lnTo>
                        <a:pt x="2899" y="2704"/>
                      </a:lnTo>
                      <a:lnTo>
                        <a:pt x="3020" y="2607"/>
                      </a:lnTo>
                      <a:lnTo>
                        <a:pt x="3167" y="2509"/>
                      </a:lnTo>
                      <a:lnTo>
                        <a:pt x="3313" y="2436"/>
                      </a:lnTo>
                      <a:lnTo>
                        <a:pt x="3459" y="2388"/>
                      </a:lnTo>
                      <a:lnTo>
                        <a:pt x="3605" y="2339"/>
                      </a:lnTo>
                      <a:lnTo>
                        <a:pt x="3775" y="2315"/>
                      </a:lnTo>
                      <a:lnTo>
                        <a:pt x="3922" y="2290"/>
                      </a:lnTo>
                      <a:lnTo>
                        <a:pt x="4092" y="2315"/>
                      </a:lnTo>
                      <a:lnTo>
                        <a:pt x="4263" y="2315"/>
                      </a:lnTo>
                      <a:lnTo>
                        <a:pt x="4409" y="2363"/>
                      </a:lnTo>
                      <a:lnTo>
                        <a:pt x="4579" y="2412"/>
                      </a:lnTo>
                      <a:lnTo>
                        <a:pt x="4725" y="2485"/>
                      </a:lnTo>
                      <a:lnTo>
                        <a:pt x="4725" y="2485"/>
                      </a:lnTo>
                      <a:lnTo>
                        <a:pt x="4871" y="2558"/>
                      </a:lnTo>
                      <a:lnTo>
                        <a:pt x="5018" y="2656"/>
                      </a:lnTo>
                      <a:lnTo>
                        <a:pt x="5139" y="2777"/>
                      </a:lnTo>
                      <a:lnTo>
                        <a:pt x="5261" y="2875"/>
                      </a:lnTo>
                      <a:lnTo>
                        <a:pt x="5359" y="3021"/>
                      </a:lnTo>
                      <a:lnTo>
                        <a:pt x="5432" y="3143"/>
                      </a:lnTo>
                      <a:lnTo>
                        <a:pt x="5505" y="3289"/>
                      </a:lnTo>
                      <a:lnTo>
                        <a:pt x="5578" y="3435"/>
                      </a:lnTo>
                      <a:lnTo>
                        <a:pt x="5602" y="3605"/>
                      </a:lnTo>
                      <a:lnTo>
                        <a:pt x="5626" y="3752"/>
                      </a:lnTo>
                      <a:lnTo>
                        <a:pt x="5651" y="3922"/>
                      </a:lnTo>
                      <a:lnTo>
                        <a:pt x="5651" y="4068"/>
                      </a:lnTo>
                      <a:lnTo>
                        <a:pt x="5626" y="4239"/>
                      </a:lnTo>
                      <a:lnTo>
                        <a:pt x="5602" y="4409"/>
                      </a:lnTo>
                      <a:lnTo>
                        <a:pt x="5553" y="4555"/>
                      </a:lnTo>
                      <a:lnTo>
                        <a:pt x="5480" y="4726"/>
                      </a:lnTo>
                      <a:lnTo>
                        <a:pt x="5480" y="472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rnd" cmpd="sng">
                  <a:solidFill>
                    <a:srgbClr val="7F7F7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1" name="Google Shape;121;p5"/>
              <p:cNvGrpSpPr/>
              <p:nvPr/>
            </p:nvGrpSpPr>
            <p:grpSpPr>
              <a:xfrm>
                <a:off x="3072242" y="1516831"/>
                <a:ext cx="703142" cy="844634"/>
                <a:chOff x="3951850" y="2985350"/>
                <a:chExt cx="407950" cy="416500"/>
              </a:xfrm>
            </p:grpSpPr>
            <p:sp>
              <p:nvSpPr>
                <p:cNvPr id="122" name="Google Shape;122;p5"/>
                <p:cNvSpPr/>
                <p:nvPr/>
              </p:nvSpPr>
              <p:spPr>
                <a:xfrm>
                  <a:off x="3951850" y="2985350"/>
                  <a:ext cx="314800" cy="31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92" h="12593" fill="none" extrusionOk="0">
                      <a:moveTo>
                        <a:pt x="6284" y="1"/>
                      </a:moveTo>
                      <a:lnTo>
                        <a:pt x="6284" y="1"/>
                      </a:lnTo>
                      <a:lnTo>
                        <a:pt x="5967" y="25"/>
                      </a:lnTo>
                      <a:lnTo>
                        <a:pt x="5651" y="49"/>
                      </a:lnTo>
                      <a:lnTo>
                        <a:pt x="5334" y="74"/>
                      </a:lnTo>
                      <a:lnTo>
                        <a:pt x="5017" y="147"/>
                      </a:lnTo>
                      <a:lnTo>
                        <a:pt x="4725" y="220"/>
                      </a:lnTo>
                      <a:lnTo>
                        <a:pt x="4433" y="293"/>
                      </a:lnTo>
                      <a:lnTo>
                        <a:pt x="4141" y="390"/>
                      </a:lnTo>
                      <a:lnTo>
                        <a:pt x="3848" y="512"/>
                      </a:lnTo>
                      <a:lnTo>
                        <a:pt x="3556" y="634"/>
                      </a:lnTo>
                      <a:lnTo>
                        <a:pt x="3288" y="780"/>
                      </a:lnTo>
                      <a:lnTo>
                        <a:pt x="3020" y="926"/>
                      </a:lnTo>
                      <a:lnTo>
                        <a:pt x="2777" y="1072"/>
                      </a:lnTo>
                      <a:lnTo>
                        <a:pt x="2290" y="1437"/>
                      </a:lnTo>
                      <a:lnTo>
                        <a:pt x="1851" y="1852"/>
                      </a:lnTo>
                      <a:lnTo>
                        <a:pt x="1437" y="2290"/>
                      </a:lnTo>
                      <a:lnTo>
                        <a:pt x="1072" y="2777"/>
                      </a:lnTo>
                      <a:lnTo>
                        <a:pt x="901" y="3045"/>
                      </a:lnTo>
                      <a:lnTo>
                        <a:pt x="755" y="3313"/>
                      </a:lnTo>
                      <a:lnTo>
                        <a:pt x="609" y="3581"/>
                      </a:lnTo>
                      <a:lnTo>
                        <a:pt x="487" y="3849"/>
                      </a:lnTo>
                      <a:lnTo>
                        <a:pt x="390" y="4141"/>
                      </a:lnTo>
                      <a:lnTo>
                        <a:pt x="292" y="4433"/>
                      </a:lnTo>
                      <a:lnTo>
                        <a:pt x="195" y="4725"/>
                      </a:lnTo>
                      <a:lnTo>
                        <a:pt x="122" y="5042"/>
                      </a:lnTo>
                      <a:lnTo>
                        <a:pt x="73" y="5334"/>
                      </a:lnTo>
                      <a:lnTo>
                        <a:pt x="25" y="5651"/>
                      </a:lnTo>
                      <a:lnTo>
                        <a:pt x="0" y="5968"/>
                      </a:lnTo>
                      <a:lnTo>
                        <a:pt x="0" y="6308"/>
                      </a:lnTo>
                      <a:lnTo>
                        <a:pt x="0" y="6308"/>
                      </a:lnTo>
                      <a:lnTo>
                        <a:pt x="0" y="6625"/>
                      </a:lnTo>
                      <a:lnTo>
                        <a:pt x="25" y="6942"/>
                      </a:lnTo>
                      <a:lnTo>
                        <a:pt x="73" y="7258"/>
                      </a:lnTo>
                      <a:lnTo>
                        <a:pt x="122" y="7575"/>
                      </a:lnTo>
                      <a:lnTo>
                        <a:pt x="195" y="7867"/>
                      </a:lnTo>
                      <a:lnTo>
                        <a:pt x="292" y="8184"/>
                      </a:lnTo>
                      <a:lnTo>
                        <a:pt x="390" y="8476"/>
                      </a:lnTo>
                      <a:lnTo>
                        <a:pt x="487" y="8744"/>
                      </a:lnTo>
                      <a:lnTo>
                        <a:pt x="609" y="9036"/>
                      </a:lnTo>
                      <a:lnTo>
                        <a:pt x="755" y="9304"/>
                      </a:lnTo>
                      <a:lnTo>
                        <a:pt x="901" y="9572"/>
                      </a:lnTo>
                      <a:lnTo>
                        <a:pt x="1072" y="9816"/>
                      </a:lnTo>
                      <a:lnTo>
                        <a:pt x="1437" y="10303"/>
                      </a:lnTo>
                      <a:lnTo>
                        <a:pt x="1851" y="10741"/>
                      </a:lnTo>
                      <a:lnTo>
                        <a:pt x="2290" y="11155"/>
                      </a:lnTo>
                      <a:lnTo>
                        <a:pt x="2777" y="11520"/>
                      </a:lnTo>
                      <a:lnTo>
                        <a:pt x="3020" y="11691"/>
                      </a:lnTo>
                      <a:lnTo>
                        <a:pt x="3288" y="11837"/>
                      </a:lnTo>
                      <a:lnTo>
                        <a:pt x="3556" y="11983"/>
                      </a:lnTo>
                      <a:lnTo>
                        <a:pt x="3848" y="12105"/>
                      </a:lnTo>
                      <a:lnTo>
                        <a:pt x="4141" y="12202"/>
                      </a:lnTo>
                      <a:lnTo>
                        <a:pt x="4433" y="12300"/>
                      </a:lnTo>
                      <a:lnTo>
                        <a:pt x="4725" y="12397"/>
                      </a:lnTo>
                      <a:lnTo>
                        <a:pt x="5017" y="12470"/>
                      </a:lnTo>
                      <a:lnTo>
                        <a:pt x="5334" y="12519"/>
                      </a:lnTo>
                      <a:lnTo>
                        <a:pt x="5651" y="12568"/>
                      </a:lnTo>
                      <a:lnTo>
                        <a:pt x="5967" y="12592"/>
                      </a:lnTo>
                      <a:lnTo>
                        <a:pt x="6284" y="12592"/>
                      </a:lnTo>
                      <a:lnTo>
                        <a:pt x="6284" y="12592"/>
                      </a:lnTo>
                      <a:lnTo>
                        <a:pt x="6625" y="12592"/>
                      </a:lnTo>
                      <a:lnTo>
                        <a:pt x="6941" y="12568"/>
                      </a:lnTo>
                      <a:lnTo>
                        <a:pt x="7258" y="12519"/>
                      </a:lnTo>
                      <a:lnTo>
                        <a:pt x="7550" y="12470"/>
                      </a:lnTo>
                      <a:lnTo>
                        <a:pt x="7867" y="12397"/>
                      </a:lnTo>
                      <a:lnTo>
                        <a:pt x="8159" y="12300"/>
                      </a:lnTo>
                      <a:lnTo>
                        <a:pt x="8451" y="12202"/>
                      </a:lnTo>
                      <a:lnTo>
                        <a:pt x="8744" y="12105"/>
                      </a:lnTo>
                      <a:lnTo>
                        <a:pt x="9012" y="11983"/>
                      </a:lnTo>
                      <a:lnTo>
                        <a:pt x="9279" y="11837"/>
                      </a:lnTo>
                      <a:lnTo>
                        <a:pt x="9547" y="11691"/>
                      </a:lnTo>
                      <a:lnTo>
                        <a:pt x="9815" y="11520"/>
                      </a:lnTo>
                      <a:lnTo>
                        <a:pt x="10302" y="11155"/>
                      </a:lnTo>
                      <a:lnTo>
                        <a:pt x="10741" y="10741"/>
                      </a:lnTo>
                      <a:lnTo>
                        <a:pt x="11155" y="10303"/>
                      </a:lnTo>
                      <a:lnTo>
                        <a:pt x="11520" y="9816"/>
                      </a:lnTo>
                      <a:lnTo>
                        <a:pt x="11666" y="9572"/>
                      </a:lnTo>
                      <a:lnTo>
                        <a:pt x="11812" y="9304"/>
                      </a:lnTo>
                      <a:lnTo>
                        <a:pt x="11958" y="9036"/>
                      </a:lnTo>
                      <a:lnTo>
                        <a:pt x="12080" y="8744"/>
                      </a:lnTo>
                      <a:lnTo>
                        <a:pt x="12202" y="8476"/>
                      </a:lnTo>
                      <a:lnTo>
                        <a:pt x="12299" y="8184"/>
                      </a:lnTo>
                      <a:lnTo>
                        <a:pt x="12397" y="7867"/>
                      </a:lnTo>
                      <a:lnTo>
                        <a:pt x="12446" y="7575"/>
                      </a:lnTo>
                      <a:lnTo>
                        <a:pt x="12519" y="7258"/>
                      </a:lnTo>
                      <a:lnTo>
                        <a:pt x="12543" y="6942"/>
                      </a:lnTo>
                      <a:lnTo>
                        <a:pt x="12567" y="6625"/>
                      </a:lnTo>
                      <a:lnTo>
                        <a:pt x="12592" y="6308"/>
                      </a:lnTo>
                      <a:lnTo>
                        <a:pt x="12592" y="6308"/>
                      </a:lnTo>
                      <a:lnTo>
                        <a:pt x="12567" y="5968"/>
                      </a:lnTo>
                      <a:lnTo>
                        <a:pt x="12543" y="5651"/>
                      </a:lnTo>
                      <a:lnTo>
                        <a:pt x="12519" y="5334"/>
                      </a:lnTo>
                      <a:lnTo>
                        <a:pt x="12446" y="5042"/>
                      </a:lnTo>
                      <a:lnTo>
                        <a:pt x="12397" y="4725"/>
                      </a:lnTo>
                      <a:lnTo>
                        <a:pt x="12299" y="4433"/>
                      </a:lnTo>
                      <a:lnTo>
                        <a:pt x="12202" y="4141"/>
                      </a:lnTo>
                      <a:lnTo>
                        <a:pt x="12080" y="3849"/>
                      </a:lnTo>
                      <a:lnTo>
                        <a:pt x="11958" y="3581"/>
                      </a:lnTo>
                      <a:lnTo>
                        <a:pt x="11812" y="3313"/>
                      </a:lnTo>
                      <a:lnTo>
                        <a:pt x="11666" y="3045"/>
                      </a:lnTo>
                      <a:lnTo>
                        <a:pt x="11520" y="2777"/>
                      </a:lnTo>
                      <a:lnTo>
                        <a:pt x="11155" y="2290"/>
                      </a:lnTo>
                      <a:lnTo>
                        <a:pt x="10741" y="1852"/>
                      </a:lnTo>
                      <a:lnTo>
                        <a:pt x="10302" y="1437"/>
                      </a:lnTo>
                      <a:lnTo>
                        <a:pt x="9815" y="1072"/>
                      </a:lnTo>
                      <a:lnTo>
                        <a:pt x="9547" y="926"/>
                      </a:lnTo>
                      <a:lnTo>
                        <a:pt x="9279" y="780"/>
                      </a:lnTo>
                      <a:lnTo>
                        <a:pt x="9012" y="634"/>
                      </a:lnTo>
                      <a:lnTo>
                        <a:pt x="8744" y="512"/>
                      </a:lnTo>
                      <a:lnTo>
                        <a:pt x="8451" y="390"/>
                      </a:lnTo>
                      <a:lnTo>
                        <a:pt x="8159" y="293"/>
                      </a:lnTo>
                      <a:lnTo>
                        <a:pt x="7867" y="220"/>
                      </a:lnTo>
                      <a:lnTo>
                        <a:pt x="7550" y="147"/>
                      </a:lnTo>
                      <a:lnTo>
                        <a:pt x="7258" y="74"/>
                      </a:lnTo>
                      <a:lnTo>
                        <a:pt x="6941" y="49"/>
                      </a:lnTo>
                      <a:lnTo>
                        <a:pt x="6625" y="25"/>
                      </a:lnTo>
                      <a:lnTo>
                        <a:pt x="6284" y="1"/>
                      </a:lnTo>
                      <a:lnTo>
                        <a:pt x="6284" y="1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rgbClr val="7F7F7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3988375" y="3021875"/>
                  <a:ext cx="241750" cy="24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70" h="9670" fill="none" extrusionOk="0">
                      <a:moveTo>
                        <a:pt x="4823" y="1"/>
                      </a:moveTo>
                      <a:lnTo>
                        <a:pt x="4823" y="1"/>
                      </a:lnTo>
                      <a:lnTo>
                        <a:pt x="4336" y="25"/>
                      </a:lnTo>
                      <a:lnTo>
                        <a:pt x="3849" y="98"/>
                      </a:lnTo>
                      <a:lnTo>
                        <a:pt x="3386" y="220"/>
                      </a:lnTo>
                      <a:lnTo>
                        <a:pt x="2947" y="391"/>
                      </a:lnTo>
                      <a:lnTo>
                        <a:pt x="2533" y="585"/>
                      </a:lnTo>
                      <a:lnTo>
                        <a:pt x="2144" y="829"/>
                      </a:lnTo>
                      <a:lnTo>
                        <a:pt x="1754" y="1121"/>
                      </a:lnTo>
                      <a:lnTo>
                        <a:pt x="1413" y="1438"/>
                      </a:lnTo>
                      <a:lnTo>
                        <a:pt x="1096" y="1779"/>
                      </a:lnTo>
                      <a:lnTo>
                        <a:pt x="829" y="2144"/>
                      </a:lnTo>
                      <a:lnTo>
                        <a:pt x="585" y="2534"/>
                      </a:lnTo>
                      <a:lnTo>
                        <a:pt x="390" y="2972"/>
                      </a:lnTo>
                      <a:lnTo>
                        <a:pt x="220" y="3411"/>
                      </a:lnTo>
                      <a:lnTo>
                        <a:pt x="98" y="3873"/>
                      </a:lnTo>
                      <a:lnTo>
                        <a:pt x="25" y="4336"/>
                      </a:lnTo>
                      <a:lnTo>
                        <a:pt x="1" y="4847"/>
                      </a:lnTo>
                      <a:lnTo>
                        <a:pt x="1" y="4847"/>
                      </a:lnTo>
                      <a:lnTo>
                        <a:pt x="25" y="5335"/>
                      </a:lnTo>
                      <a:lnTo>
                        <a:pt x="98" y="5822"/>
                      </a:lnTo>
                      <a:lnTo>
                        <a:pt x="220" y="6284"/>
                      </a:lnTo>
                      <a:lnTo>
                        <a:pt x="390" y="6723"/>
                      </a:lnTo>
                      <a:lnTo>
                        <a:pt x="585" y="7137"/>
                      </a:lnTo>
                      <a:lnTo>
                        <a:pt x="829" y="7527"/>
                      </a:lnTo>
                      <a:lnTo>
                        <a:pt x="1096" y="7916"/>
                      </a:lnTo>
                      <a:lnTo>
                        <a:pt x="1413" y="8257"/>
                      </a:lnTo>
                      <a:lnTo>
                        <a:pt x="1754" y="8574"/>
                      </a:lnTo>
                      <a:lnTo>
                        <a:pt x="2144" y="8842"/>
                      </a:lnTo>
                      <a:lnTo>
                        <a:pt x="2533" y="9085"/>
                      </a:lnTo>
                      <a:lnTo>
                        <a:pt x="2947" y="9280"/>
                      </a:lnTo>
                      <a:lnTo>
                        <a:pt x="3386" y="9451"/>
                      </a:lnTo>
                      <a:lnTo>
                        <a:pt x="3849" y="9572"/>
                      </a:lnTo>
                      <a:lnTo>
                        <a:pt x="4336" y="9645"/>
                      </a:lnTo>
                      <a:lnTo>
                        <a:pt x="4823" y="9670"/>
                      </a:lnTo>
                      <a:lnTo>
                        <a:pt x="4823" y="9670"/>
                      </a:lnTo>
                      <a:lnTo>
                        <a:pt x="5334" y="9645"/>
                      </a:lnTo>
                      <a:lnTo>
                        <a:pt x="5797" y="9572"/>
                      </a:lnTo>
                      <a:lnTo>
                        <a:pt x="6260" y="9451"/>
                      </a:lnTo>
                      <a:lnTo>
                        <a:pt x="6698" y="9280"/>
                      </a:lnTo>
                      <a:lnTo>
                        <a:pt x="7136" y="9085"/>
                      </a:lnTo>
                      <a:lnTo>
                        <a:pt x="7526" y="8842"/>
                      </a:lnTo>
                      <a:lnTo>
                        <a:pt x="7892" y="8574"/>
                      </a:lnTo>
                      <a:lnTo>
                        <a:pt x="8232" y="8257"/>
                      </a:lnTo>
                      <a:lnTo>
                        <a:pt x="8549" y="7916"/>
                      </a:lnTo>
                      <a:lnTo>
                        <a:pt x="8841" y="7527"/>
                      </a:lnTo>
                      <a:lnTo>
                        <a:pt x="9085" y="7137"/>
                      </a:lnTo>
                      <a:lnTo>
                        <a:pt x="9280" y="6723"/>
                      </a:lnTo>
                      <a:lnTo>
                        <a:pt x="9450" y="6284"/>
                      </a:lnTo>
                      <a:lnTo>
                        <a:pt x="9572" y="5822"/>
                      </a:lnTo>
                      <a:lnTo>
                        <a:pt x="9645" y="5335"/>
                      </a:lnTo>
                      <a:lnTo>
                        <a:pt x="9669" y="4847"/>
                      </a:lnTo>
                      <a:lnTo>
                        <a:pt x="9669" y="4847"/>
                      </a:lnTo>
                      <a:lnTo>
                        <a:pt x="9645" y="4336"/>
                      </a:lnTo>
                      <a:lnTo>
                        <a:pt x="9572" y="3873"/>
                      </a:lnTo>
                      <a:lnTo>
                        <a:pt x="9450" y="3411"/>
                      </a:lnTo>
                      <a:lnTo>
                        <a:pt x="9280" y="2972"/>
                      </a:lnTo>
                      <a:lnTo>
                        <a:pt x="9085" y="2534"/>
                      </a:lnTo>
                      <a:lnTo>
                        <a:pt x="8841" y="2144"/>
                      </a:lnTo>
                      <a:lnTo>
                        <a:pt x="8549" y="1779"/>
                      </a:lnTo>
                      <a:lnTo>
                        <a:pt x="8232" y="1438"/>
                      </a:lnTo>
                      <a:lnTo>
                        <a:pt x="7892" y="1121"/>
                      </a:lnTo>
                      <a:lnTo>
                        <a:pt x="7526" y="829"/>
                      </a:lnTo>
                      <a:lnTo>
                        <a:pt x="7136" y="585"/>
                      </a:lnTo>
                      <a:lnTo>
                        <a:pt x="6698" y="391"/>
                      </a:lnTo>
                      <a:lnTo>
                        <a:pt x="6260" y="220"/>
                      </a:lnTo>
                      <a:lnTo>
                        <a:pt x="5797" y="98"/>
                      </a:lnTo>
                      <a:lnTo>
                        <a:pt x="5334" y="25"/>
                      </a:lnTo>
                      <a:lnTo>
                        <a:pt x="4823" y="1"/>
                      </a:lnTo>
                      <a:lnTo>
                        <a:pt x="4823" y="1"/>
                      </a:lnTo>
                    </a:path>
                  </a:pathLst>
                </a:custGeom>
                <a:noFill/>
                <a:ln w="9525" cap="rnd" cmpd="sng">
                  <a:solidFill>
                    <a:srgbClr val="7F7F7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4" name="Google Shape;124;p5"/>
                <p:cNvSpPr/>
                <p:nvPr/>
              </p:nvSpPr>
              <p:spPr>
                <a:xfrm>
                  <a:off x="4024300" y="3058425"/>
                  <a:ext cx="84650" cy="84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86" h="3386" fill="none" extrusionOk="0">
                      <a:moveTo>
                        <a:pt x="0" y="3385"/>
                      </a:moveTo>
                      <a:lnTo>
                        <a:pt x="0" y="3385"/>
                      </a:lnTo>
                      <a:lnTo>
                        <a:pt x="25" y="3020"/>
                      </a:lnTo>
                      <a:lnTo>
                        <a:pt x="74" y="2704"/>
                      </a:lnTo>
                      <a:lnTo>
                        <a:pt x="147" y="2363"/>
                      </a:lnTo>
                      <a:lnTo>
                        <a:pt x="268" y="2070"/>
                      </a:lnTo>
                      <a:lnTo>
                        <a:pt x="414" y="1754"/>
                      </a:lnTo>
                      <a:lnTo>
                        <a:pt x="585" y="1486"/>
                      </a:lnTo>
                      <a:lnTo>
                        <a:pt x="780" y="1218"/>
                      </a:lnTo>
                      <a:lnTo>
                        <a:pt x="999" y="974"/>
                      </a:lnTo>
                      <a:lnTo>
                        <a:pt x="1243" y="755"/>
                      </a:lnTo>
                      <a:lnTo>
                        <a:pt x="1510" y="560"/>
                      </a:lnTo>
                      <a:lnTo>
                        <a:pt x="1778" y="390"/>
                      </a:lnTo>
                      <a:lnTo>
                        <a:pt x="2071" y="244"/>
                      </a:lnTo>
                      <a:lnTo>
                        <a:pt x="2387" y="146"/>
                      </a:lnTo>
                      <a:lnTo>
                        <a:pt x="2704" y="49"/>
                      </a:lnTo>
                      <a:lnTo>
                        <a:pt x="3045" y="0"/>
                      </a:lnTo>
                      <a:lnTo>
                        <a:pt x="3386" y="0"/>
                      </a:lnTo>
                    </a:path>
                  </a:pathLst>
                </a:custGeom>
                <a:noFill/>
                <a:ln w="9525" cap="rnd" cmpd="sng">
                  <a:solidFill>
                    <a:srgbClr val="7F7F7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5" name="Google Shape;125;p5"/>
                <p:cNvSpPr/>
                <p:nvPr/>
              </p:nvSpPr>
              <p:spPr>
                <a:xfrm>
                  <a:off x="4205750" y="3248375"/>
                  <a:ext cx="154050" cy="153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62" h="6139" fill="none" extrusionOk="0">
                      <a:moveTo>
                        <a:pt x="0" y="1024"/>
                      </a:moveTo>
                      <a:lnTo>
                        <a:pt x="4969" y="5992"/>
                      </a:lnTo>
                      <a:lnTo>
                        <a:pt x="4969" y="5992"/>
                      </a:lnTo>
                      <a:lnTo>
                        <a:pt x="5042" y="6041"/>
                      </a:lnTo>
                      <a:lnTo>
                        <a:pt x="5115" y="6090"/>
                      </a:lnTo>
                      <a:lnTo>
                        <a:pt x="5212" y="6114"/>
                      </a:lnTo>
                      <a:lnTo>
                        <a:pt x="5310" y="6138"/>
                      </a:lnTo>
                      <a:lnTo>
                        <a:pt x="5407" y="6114"/>
                      </a:lnTo>
                      <a:lnTo>
                        <a:pt x="5480" y="6090"/>
                      </a:lnTo>
                      <a:lnTo>
                        <a:pt x="5577" y="6041"/>
                      </a:lnTo>
                      <a:lnTo>
                        <a:pt x="5651" y="5992"/>
                      </a:lnTo>
                      <a:lnTo>
                        <a:pt x="6016" y="5627"/>
                      </a:lnTo>
                      <a:lnTo>
                        <a:pt x="6016" y="5627"/>
                      </a:lnTo>
                      <a:lnTo>
                        <a:pt x="6089" y="5554"/>
                      </a:lnTo>
                      <a:lnTo>
                        <a:pt x="6138" y="5456"/>
                      </a:lnTo>
                      <a:lnTo>
                        <a:pt x="6162" y="5359"/>
                      </a:lnTo>
                      <a:lnTo>
                        <a:pt x="6162" y="5286"/>
                      </a:lnTo>
                      <a:lnTo>
                        <a:pt x="6162" y="5188"/>
                      </a:lnTo>
                      <a:lnTo>
                        <a:pt x="6138" y="5091"/>
                      </a:lnTo>
                      <a:lnTo>
                        <a:pt x="6089" y="5018"/>
                      </a:lnTo>
                      <a:lnTo>
                        <a:pt x="6016" y="4921"/>
                      </a:lnTo>
                      <a:lnTo>
                        <a:pt x="1072" y="1"/>
                      </a:lnTo>
                    </a:path>
                  </a:pathLst>
                </a:custGeom>
                <a:noFill/>
                <a:ln w="9525" cap="rnd" cmpd="sng">
                  <a:solidFill>
                    <a:srgbClr val="7F7F7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6" name="Google Shape;126;p5"/>
              <p:cNvGrpSpPr/>
              <p:nvPr/>
            </p:nvGrpSpPr>
            <p:grpSpPr>
              <a:xfrm>
                <a:off x="5000070" y="1516831"/>
                <a:ext cx="964141" cy="844634"/>
                <a:chOff x="3932350" y="3714775"/>
                <a:chExt cx="439650" cy="319075"/>
              </a:xfrm>
            </p:grpSpPr>
            <p:sp>
              <p:nvSpPr>
                <p:cNvPr id="127" name="Google Shape;127;p5"/>
                <p:cNvSpPr/>
                <p:nvPr/>
              </p:nvSpPr>
              <p:spPr>
                <a:xfrm>
                  <a:off x="3932350" y="3714775"/>
                  <a:ext cx="439650" cy="31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86" h="12763" fill="none" extrusionOk="0">
                      <a:moveTo>
                        <a:pt x="1" y="1"/>
                      </a:moveTo>
                      <a:lnTo>
                        <a:pt x="1" y="12276"/>
                      </a:lnTo>
                      <a:lnTo>
                        <a:pt x="1" y="12276"/>
                      </a:lnTo>
                      <a:lnTo>
                        <a:pt x="1" y="12373"/>
                      </a:lnTo>
                      <a:lnTo>
                        <a:pt x="25" y="12471"/>
                      </a:lnTo>
                      <a:lnTo>
                        <a:pt x="74" y="12544"/>
                      </a:lnTo>
                      <a:lnTo>
                        <a:pt x="123" y="12617"/>
                      </a:lnTo>
                      <a:lnTo>
                        <a:pt x="196" y="12690"/>
                      </a:lnTo>
                      <a:lnTo>
                        <a:pt x="293" y="12714"/>
                      </a:lnTo>
                      <a:lnTo>
                        <a:pt x="366" y="12763"/>
                      </a:lnTo>
                      <a:lnTo>
                        <a:pt x="488" y="12763"/>
                      </a:lnTo>
                      <a:lnTo>
                        <a:pt x="17585" y="12763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3970100" y="3862750"/>
                  <a:ext cx="77350" cy="132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4" h="5310" fill="none" extrusionOk="0">
                      <a:moveTo>
                        <a:pt x="3094" y="5309"/>
                      </a:moveTo>
                      <a:lnTo>
                        <a:pt x="3094" y="487"/>
                      </a:lnTo>
                      <a:lnTo>
                        <a:pt x="3094" y="487"/>
                      </a:lnTo>
                      <a:lnTo>
                        <a:pt x="3094" y="390"/>
                      </a:lnTo>
                      <a:lnTo>
                        <a:pt x="3070" y="292"/>
                      </a:lnTo>
                      <a:lnTo>
                        <a:pt x="3021" y="219"/>
                      </a:lnTo>
                      <a:lnTo>
                        <a:pt x="2948" y="146"/>
                      </a:lnTo>
                      <a:lnTo>
                        <a:pt x="2899" y="97"/>
                      </a:lnTo>
                      <a:lnTo>
                        <a:pt x="2802" y="49"/>
                      </a:lnTo>
                      <a:lnTo>
                        <a:pt x="2704" y="24"/>
                      </a:lnTo>
                      <a:lnTo>
                        <a:pt x="2607" y="0"/>
                      </a:lnTo>
                      <a:lnTo>
                        <a:pt x="488" y="0"/>
                      </a:lnTo>
                      <a:lnTo>
                        <a:pt x="488" y="0"/>
                      </a:lnTo>
                      <a:lnTo>
                        <a:pt x="391" y="24"/>
                      </a:lnTo>
                      <a:lnTo>
                        <a:pt x="293" y="49"/>
                      </a:lnTo>
                      <a:lnTo>
                        <a:pt x="220" y="97"/>
                      </a:lnTo>
                      <a:lnTo>
                        <a:pt x="147" y="146"/>
                      </a:lnTo>
                      <a:lnTo>
                        <a:pt x="74" y="219"/>
                      </a:lnTo>
                      <a:lnTo>
                        <a:pt x="50" y="292"/>
                      </a:lnTo>
                      <a:lnTo>
                        <a:pt x="1" y="390"/>
                      </a:lnTo>
                      <a:lnTo>
                        <a:pt x="1" y="487"/>
                      </a:lnTo>
                      <a:lnTo>
                        <a:pt x="1" y="5309"/>
                      </a:lnTo>
                      <a:lnTo>
                        <a:pt x="3094" y="5309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4278800" y="3862750"/>
                  <a:ext cx="77350" cy="132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4" h="5310" fill="none" extrusionOk="0">
                      <a:moveTo>
                        <a:pt x="3094" y="5309"/>
                      </a:moveTo>
                      <a:lnTo>
                        <a:pt x="3094" y="487"/>
                      </a:lnTo>
                      <a:lnTo>
                        <a:pt x="3094" y="487"/>
                      </a:lnTo>
                      <a:lnTo>
                        <a:pt x="3094" y="390"/>
                      </a:lnTo>
                      <a:lnTo>
                        <a:pt x="3070" y="292"/>
                      </a:lnTo>
                      <a:lnTo>
                        <a:pt x="3021" y="219"/>
                      </a:lnTo>
                      <a:lnTo>
                        <a:pt x="2948" y="146"/>
                      </a:lnTo>
                      <a:lnTo>
                        <a:pt x="2899" y="97"/>
                      </a:lnTo>
                      <a:lnTo>
                        <a:pt x="2802" y="49"/>
                      </a:lnTo>
                      <a:lnTo>
                        <a:pt x="2704" y="24"/>
                      </a:lnTo>
                      <a:lnTo>
                        <a:pt x="2607" y="0"/>
                      </a:lnTo>
                      <a:lnTo>
                        <a:pt x="488" y="0"/>
                      </a:lnTo>
                      <a:lnTo>
                        <a:pt x="488" y="0"/>
                      </a:lnTo>
                      <a:lnTo>
                        <a:pt x="390" y="24"/>
                      </a:lnTo>
                      <a:lnTo>
                        <a:pt x="293" y="49"/>
                      </a:lnTo>
                      <a:lnTo>
                        <a:pt x="220" y="97"/>
                      </a:lnTo>
                      <a:lnTo>
                        <a:pt x="147" y="146"/>
                      </a:lnTo>
                      <a:lnTo>
                        <a:pt x="74" y="219"/>
                      </a:lnTo>
                      <a:lnTo>
                        <a:pt x="50" y="292"/>
                      </a:lnTo>
                      <a:lnTo>
                        <a:pt x="1" y="390"/>
                      </a:lnTo>
                      <a:lnTo>
                        <a:pt x="1" y="487"/>
                      </a:lnTo>
                      <a:lnTo>
                        <a:pt x="1" y="5309"/>
                      </a:lnTo>
                      <a:lnTo>
                        <a:pt x="3094" y="5309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0" name="Google Shape;130;p5"/>
                <p:cNvSpPr/>
                <p:nvPr/>
              </p:nvSpPr>
              <p:spPr>
                <a:xfrm>
                  <a:off x="4073000" y="3716600"/>
                  <a:ext cx="77350" cy="27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4" h="11156" fill="none" extrusionOk="0">
                      <a:moveTo>
                        <a:pt x="3094" y="11155"/>
                      </a:moveTo>
                      <a:lnTo>
                        <a:pt x="3094" y="488"/>
                      </a:lnTo>
                      <a:lnTo>
                        <a:pt x="3094" y="488"/>
                      </a:lnTo>
                      <a:lnTo>
                        <a:pt x="3094" y="391"/>
                      </a:lnTo>
                      <a:lnTo>
                        <a:pt x="3070" y="293"/>
                      </a:lnTo>
                      <a:lnTo>
                        <a:pt x="3021" y="220"/>
                      </a:lnTo>
                      <a:lnTo>
                        <a:pt x="2948" y="147"/>
                      </a:lnTo>
                      <a:lnTo>
                        <a:pt x="2899" y="98"/>
                      </a:lnTo>
                      <a:lnTo>
                        <a:pt x="2802" y="50"/>
                      </a:lnTo>
                      <a:lnTo>
                        <a:pt x="2704" y="25"/>
                      </a:lnTo>
                      <a:lnTo>
                        <a:pt x="2607" y="1"/>
                      </a:lnTo>
                      <a:lnTo>
                        <a:pt x="488" y="1"/>
                      </a:lnTo>
                      <a:lnTo>
                        <a:pt x="488" y="1"/>
                      </a:lnTo>
                      <a:lnTo>
                        <a:pt x="391" y="25"/>
                      </a:lnTo>
                      <a:lnTo>
                        <a:pt x="293" y="50"/>
                      </a:lnTo>
                      <a:lnTo>
                        <a:pt x="220" y="98"/>
                      </a:lnTo>
                      <a:lnTo>
                        <a:pt x="147" y="147"/>
                      </a:lnTo>
                      <a:lnTo>
                        <a:pt x="74" y="220"/>
                      </a:lnTo>
                      <a:lnTo>
                        <a:pt x="50" y="293"/>
                      </a:lnTo>
                      <a:lnTo>
                        <a:pt x="1" y="391"/>
                      </a:lnTo>
                      <a:lnTo>
                        <a:pt x="1" y="488"/>
                      </a:lnTo>
                      <a:lnTo>
                        <a:pt x="1" y="11155"/>
                      </a:lnTo>
                      <a:lnTo>
                        <a:pt x="3094" y="11155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1" name="Google Shape;131;p5"/>
                <p:cNvSpPr/>
                <p:nvPr/>
              </p:nvSpPr>
              <p:spPr>
                <a:xfrm>
                  <a:off x="4175900" y="3787250"/>
                  <a:ext cx="77350" cy="208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4" h="8330" fill="none" extrusionOk="0">
                      <a:moveTo>
                        <a:pt x="3094" y="8329"/>
                      </a:moveTo>
                      <a:lnTo>
                        <a:pt x="3094" y="487"/>
                      </a:lnTo>
                      <a:lnTo>
                        <a:pt x="3094" y="487"/>
                      </a:lnTo>
                      <a:lnTo>
                        <a:pt x="3094" y="390"/>
                      </a:lnTo>
                      <a:lnTo>
                        <a:pt x="3070" y="292"/>
                      </a:lnTo>
                      <a:lnTo>
                        <a:pt x="3021" y="219"/>
                      </a:lnTo>
                      <a:lnTo>
                        <a:pt x="2948" y="146"/>
                      </a:lnTo>
                      <a:lnTo>
                        <a:pt x="2899" y="97"/>
                      </a:lnTo>
                      <a:lnTo>
                        <a:pt x="2802" y="49"/>
                      </a:lnTo>
                      <a:lnTo>
                        <a:pt x="2704" y="24"/>
                      </a:lnTo>
                      <a:lnTo>
                        <a:pt x="2607" y="0"/>
                      </a:lnTo>
                      <a:lnTo>
                        <a:pt x="488" y="0"/>
                      </a:lnTo>
                      <a:lnTo>
                        <a:pt x="488" y="0"/>
                      </a:lnTo>
                      <a:lnTo>
                        <a:pt x="391" y="24"/>
                      </a:lnTo>
                      <a:lnTo>
                        <a:pt x="293" y="49"/>
                      </a:lnTo>
                      <a:lnTo>
                        <a:pt x="220" y="97"/>
                      </a:lnTo>
                      <a:lnTo>
                        <a:pt x="147" y="146"/>
                      </a:lnTo>
                      <a:lnTo>
                        <a:pt x="74" y="219"/>
                      </a:lnTo>
                      <a:lnTo>
                        <a:pt x="50" y="292"/>
                      </a:lnTo>
                      <a:lnTo>
                        <a:pt x="1" y="390"/>
                      </a:lnTo>
                      <a:lnTo>
                        <a:pt x="1" y="487"/>
                      </a:lnTo>
                      <a:lnTo>
                        <a:pt x="1" y="8329"/>
                      </a:lnTo>
                      <a:lnTo>
                        <a:pt x="3094" y="8329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2" name="Google Shape;132;p5"/>
              <p:cNvGrpSpPr/>
              <p:nvPr/>
            </p:nvGrpSpPr>
            <p:grpSpPr>
              <a:xfrm>
                <a:off x="7226025" y="1516791"/>
                <a:ext cx="964141" cy="933073"/>
                <a:chOff x="5292575" y="3681900"/>
                <a:chExt cx="420150" cy="373275"/>
              </a:xfrm>
            </p:grpSpPr>
            <p:sp>
              <p:nvSpPr>
                <p:cNvPr id="133" name="Google Shape;133;p5"/>
                <p:cNvSpPr/>
                <p:nvPr/>
              </p:nvSpPr>
              <p:spPr>
                <a:xfrm>
                  <a:off x="5292575" y="3706875"/>
                  <a:ext cx="420150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06" h="10668" fill="none" extrusionOk="0">
                      <a:moveTo>
                        <a:pt x="16319" y="0"/>
                      </a:moveTo>
                      <a:lnTo>
                        <a:pt x="488" y="0"/>
                      </a:lnTo>
                      <a:lnTo>
                        <a:pt x="488" y="0"/>
                      </a:lnTo>
                      <a:lnTo>
                        <a:pt x="390" y="0"/>
                      </a:lnTo>
                      <a:lnTo>
                        <a:pt x="293" y="25"/>
                      </a:lnTo>
                      <a:lnTo>
                        <a:pt x="196" y="73"/>
                      </a:lnTo>
                      <a:lnTo>
                        <a:pt x="123" y="146"/>
                      </a:lnTo>
                      <a:lnTo>
                        <a:pt x="74" y="219"/>
                      </a:lnTo>
                      <a:lnTo>
                        <a:pt x="25" y="292"/>
                      </a:lnTo>
                      <a:lnTo>
                        <a:pt x="1" y="390"/>
                      </a:lnTo>
                      <a:lnTo>
                        <a:pt x="1" y="487"/>
                      </a:lnTo>
                      <a:lnTo>
                        <a:pt x="1" y="10181"/>
                      </a:lnTo>
                      <a:lnTo>
                        <a:pt x="1" y="10181"/>
                      </a:lnTo>
                      <a:lnTo>
                        <a:pt x="1" y="10278"/>
                      </a:lnTo>
                      <a:lnTo>
                        <a:pt x="25" y="10375"/>
                      </a:lnTo>
                      <a:lnTo>
                        <a:pt x="74" y="10448"/>
                      </a:lnTo>
                      <a:lnTo>
                        <a:pt x="123" y="10522"/>
                      </a:lnTo>
                      <a:lnTo>
                        <a:pt x="196" y="10570"/>
                      </a:lnTo>
                      <a:lnTo>
                        <a:pt x="293" y="10619"/>
                      </a:lnTo>
                      <a:lnTo>
                        <a:pt x="390" y="10643"/>
                      </a:lnTo>
                      <a:lnTo>
                        <a:pt x="488" y="10668"/>
                      </a:lnTo>
                      <a:lnTo>
                        <a:pt x="16319" y="10668"/>
                      </a:lnTo>
                      <a:lnTo>
                        <a:pt x="16319" y="10668"/>
                      </a:lnTo>
                      <a:lnTo>
                        <a:pt x="16416" y="10643"/>
                      </a:lnTo>
                      <a:lnTo>
                        <a:pt x="16513" y="10619"/>
                      </a:lnTo>
                      <a:lnTo>
                        <a:pt x="16611" y="10570"/>
                      </a:lnTo>
                      <a:lnTo>
                        <a:pt x="16684" y="10522"/>
                      </a:lnTo>
                      <a:lnTo>
                        <a:pt x="16733" y="10448"/>
                      </a:lnTo>
                      <a:lnTo>
                        <a:pt x="16781" y="10375"/>
                      </a:lnTo>
                      <a:lnTo>
                        <a:pt x="16806" y="10278"/>
                      </a:lnTo>
                      <a:lnTo>
                        <a:pt x="16806" y="10181"/>
                      </a:lnTo>
                      <a:lnTo>
                        <a:pt x="16806" y="487"/>
                      </a:lnTo>
                      <a:lnTo>
                        <a:pt x="16806" y="487"/>
                      </a:lnTo>
                      <a:lnTo>
                        <a:pt x="16806" y="390"/>
                      </a:lnTo>
                      <a:lnTo>
                        <a:pt x="16781" y="292"/>
                      </a:lnTo>
                      <a:lnTo>
                        <a:pt x="16733" y="219"/>
                      </a:lnTo>
                      <a:lnTo>
                        <a:pt x="16684" y="146"/>
                      </a:lnTo>
                      <a:lnTo>
                        <a:pt x="16611" y="73"/>
                      </a:lnTo>
                      <a:lnTo>
                        <a:pt x="16513" y="25"/>
                      </a:lnTo>
                      <a:lnTo>
                        <a:pt x="16416" y="0"/>
                      </a:lnTo>
                      <a:lnTo>
                        <a:pt x="16319" y="0"/>
                      </a:lnTo>
                      <a:lnTo>
                        <a:pt x="16319" y="0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5490475" y="3681900"/>
                  <a:ext cx="24375" cy="2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5" h="1000" fill="none" extrusionOk="0">
                      <a:moveTo>
                        <a:pt x="974" y="999"/>
                      </a:moveTo>
                      <a:lnTo>
                        <a:pt x="974" y="488"/>
                      </a:lnTo>
                      <a:lnTo>
                        <a:pt x="974" y="488"/>
                      </a:lnTo>
                      <a:lnTo>
                        <a:pt x="974" y="390"/>
                      </a:lnTo>
                      <a:lnTo>
                        <a:pt x="926" y="293"/>
                      </a:lnTo>
                      <a:lnTo>
                        <a:pt x="901" y="220"/>
                      </a:lnTo>
                      <a:lnTo>
                        <a:pt x="828" y="147"/>
                      </a:lnTo>
                      <a:lnTo>
                        <a:pt x="755" y="74"/>
                      </a:lnTo>
                      <a:lnTo>
                        <a:pt x="682" y="49"/>
                      </a:lnTo>
                      <a:lnTo>
                        <a:pt x="585" y="1"/>
                      </a:lnTo>
                      <a:lnTo>
                        <a:pt x="487" y="1"/>
                      </a:lnTo>
                      <a:lnTo>
                        <a:pt x="487" y="1"/>
                      </a:lnTo>
                      <a:lnTo>
                        <a:pt x="390" y="1"/>
                      </a:lnTo>
                      <a:lnTo>
                        <a:pt x="292" y="49"/>
                      </a:lnTo>
                      <a:lnTo>
                        <a:pt x="219" y="74"/>
                      </a:lnTo>
                      <a:lnTo>
                        <a:pt x="146" y="147"/>
                      </a:lnTo>
                      <a:lnTo>
                        <a:pt x="73" y="220"/>
                      </a:lnTo>
                      <a:lnTo>
                        <a:pt x="49" y="293"/>
                      </a:lnTo>
                      <a:lnTo>
                        <a:pt x="0" y="390"/>
                      </a:lnTo>
                      <a:lnTo>
                        <a:pt x="0" y="488"/>
                      </a:lnTo>
                      <a:lnTo>
                        <a:pt x="0" y="99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5358350" y="3973550"/>
                  <a:ext cx="60900" cy="8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36" h="3265" fill="none" extrusionOk="0">
                      <a:moveTo>
                        <a:pt x="1340" y="1"/>
                      </a:moveTo>
                      <a:lnTo>
                        <a:pt x="49" y="2558"/>
                      </a:lnTo>
                      <a:lnTo>
                        <a:pt x="49" y="2558"/>
                      </a:lnTo>
                      <a:lnTo>
                        <a:pt x="24" y="2631"/>
                      </a:lnTo>
                      <a:lnTo>
                        <a:pt x="0" y="2728"/>
                      </a:lnTo>
                      <a:lnTo>
                        <a:pt x="0" y="2826"/>
                      </a:lnTo>
                      <a:lnTo>
                        <a:pt x="24" y="2923"/>
                      </a:lnTo>
                      <a:lnTo>
                        <a:pt x="73" y="2996"/>
                      </a:lnTo>
                      <a:lnTo>
                        <a:pt x="122" y="3094"/>
                      </a:lnTo>
                      <a:lnTo>
                        <a:pt x="195" y="3142"/>
                      </a:lnTo>
                      <a:lnTo>
                        <a:pt x="268" y="3215"/>
                      </a:lnTo>
                      <a:lnTo>
                        <a:pt x="268" y="3215"/>
                      </a:lnTo>
                      <a:lnTo>
                        <a:pt x="390" y="3240"/>
                      </a:lnTo>
                      <a:lnTo>
                        <a:pt x="487" y="3264"/>
                      </a:lnTo>
                      <a:lnTo>
                        <a:pt x="487" y="3264"/>
                      </a:lnTo>
                      <a:lnTo>
                        <a:pt x="633" y="3240"/>
                      </a:lnTo>
                      <a:lnTo>
                        <a:pt x="755" y="3191"/>
                      </a:lnTo>
                      <a:lnTo>
                        <a:pt x="853" y="3094"/>
                      </a:lnTo>
                      <a:lnTo>
                        <a:pt x="926" y="2996"/>
                      </a:lnTo>
                      <a:lnTo>
                        <a:pt x="2436" y="1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6" name="Google Shape;136;p5"/>
                <p:cNvSpPr/>
                <p:nvPr/>
              </p:nvSpPr>
              <p:spPr>
                <a:xfrm>
                  <a:off x="5586050" y="3973550"/>
                  <a:ext cx="60925" cy="8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37" h="3265" fill="none" extrusionOk="0">
                      <a:moveTo>
                        <a:pt x="1" y="1"/>
                      </a:moveTo>
                      <a:lnTo>
                        <a:pt x="1511" y="2996"/>
                      </a:lnTo>
                      <a:lnTo>
                        <a:pt x="1511" y="2996"/>
                      </a:lnTo>
                      <a:lnTo>
                        <a:pt x="1584" y="3094"/>
                      </a:lnTo>
                      <a:lnTo>
                        <a:pt x="1681" y="3191"/>
                      </a:lnTo>
                      <a:lnTo>
                        <a:pt x="1803" y="3240"/>
                      </a:lnTo>
                      <a:lnTo>
                        <a:pt x="1949" y="3264"/>
                      </a:lnTo>
                      <a:lnTo>
                        <a:pt x="1949" y="3264"/>
                      </a:lnTo>
                      <a:lnTo>
                        <a:pt x="2047" y="3240"/>
                      </a:lnTo>
                      <a:lnTo>
                        <a:pt x="2168" y="3215"/>
                      </a:lnTo>
                      <a:lnTo>
                        <a:pt x="2168" y="3215"/>
                      </a:lnTo>
                      <a:lnTo>
                        <a:pt x="2241" y="3142"/>
                      </a:lnTo>
                      <a:lnTo>
                        <a:pt x="2315" y="3094"/>
                      </a:lnTo>
                      <a:lnTo>
                        <a:pt x="2363" y="2996"/>
                      </a:lnTo>
                      <a:lnTo>
                        <a:pt x="2412" y="2923"/>
                      </a:lnTo>
                      <a:lnTo>
                        <a:pt x="2436" y="2826"/>
                      </a:lnTo>
                      <a:lnTo>
                        <a:pt x="2436" y="2728"/>
                      </a:lnTo>
                      <a:lnTo>
                        <a:pt x="2412" y="2631"/>
                      </a:lnTo>
                      <a:lnTo>
                        <a:pt x="2388" y="2558"/>
                      </a:lnTo>
                      <a:lnTo>
                        <a:pt x="1097" y="1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" name="Google Shape;137;p5"/>
                <p:cNvSpPr/>
                <p:nvPr/>
              </p:nvSpPr>
              <p:spPr>
                <a:xfrm>
                  <a:off x="5316925" y="3731225"/>
                  <a:ext cx="371450" cy="21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58" h="8720" fill="none" extrusionOk="0">
                      <a:moveTo>
                        <a:pt x="1" y="0"/>
                      </a:moveTo>
                      <a:lnTo>
                        <a:pt x="1" y="8719"/>
                      </a:lnTo>
                      <a:lnTo>
                        <a:pt x="14857" y="8719"/>
                      </a:lnTo>
                      <a:lnTo>
                        <a:pt x="14857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8" name="Google Shape;138;p5"/>
                <p:cNvSpPr/>
                <p:nvPr/>
              </p:nvSpPr>
              <p:spPr>
                <a:xfrm>
                  <a:off x="5380250" y="3784800"/>
                  <a:ext cx="230200" cy="11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08" h="4629" fill="none" extrusionOk="0">
                      <a:moveTo>
                        <a:pt x="9207" y="1"/>
                      </a:moveTo>
                      <a:lnTo>
                        <a:pt x="5213" y="3995"/>
                      </a:lnTo>
                      <a:lnTo>
                        <a:pt x="5213" y="3995"/>
                      </a:lnTo>
                      <a:lnTo>
                        <a:pt x="5140" y="4044"/>
                      </a:lnTo>
                      <a:lnTo>
                        <a:pt x="5067" y="4092"/>
                      </a:lnTo>
                      <a:lnTo>
                        <a:pt x="4969" y="4117"/>
                      </a:lnTo>
                      <a:lnTo>
                        <a:pt x="4872" y="4141"/>
                      </a:lnTo>
                      <a:lnTo>
                        <a:pt x="4774" y="4117"/>
                      </a:lnTo>
                      <a:lnTo>
                        <a:pt x="4677" y="4092"/>
                      </a:lnTo>
                      <a:lnTo>
                        <a:pt x="4604" y="4044"/>
                      </a:lnTo>
                      <a:lnTo>
                        <a:pt x="4531" y="3995"/>
                      </a:lnTo>
                      <a:lnTo>
                        <a:pt x="2582" y="2046"/>
                      </a:lnTo>
                      <a:lnTo>
                        <a:pt x="1" y="4628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" name="Google Shape;139;p5"/>
                <p:cNvSpPr/>
                <p:nvPr/>
              </p:nvSpPr>
              <p:spPr>
                <a:xfrm>
                  <a:off x="5547700" y="3779925"/>
                  <a:ext cx="68825" cy="6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53" h="2753" fill="none" extrusionOk="0">
                      <a:moveTo>
                        <a:pt x="0" y="1"/>
                      </a:moveTo>
                      <a:lnTo>
                        <a:pt x="2265" y="1"/>
                      </a:lnTo>
                      <a:lnTo>
                        <a:pt x="2265" y="1"/>
                      </a:lnTo>
                      <a:lnTo>
                        <a:pt x="2363" y="1"/>
                      </a:lnTo>
                      <a:lnTo>
                        <a:pt x="2460" y="25"/>
                      </a:lnTo>
                      <a:lnTo>
                        <a:pt x="2533" y="74"/>
                      </a:lnTo>
                      <a:lnTo>
                        <a:pt x="2606" y="147"/>
                      </a:lnTo>
                      <a:lnTo>
                        <a:pt x="2680" y="220"/>
                      </a:lnTo>
                      <a:lnTo>
                        <a:pt x="2728" y="293"/>
                      </a:lnTo>
                      <a:lnTo>
                        <a:pt x="2753" y="390"/>
                      </a:lnTo>
                      <a:lnTo>
                        <a:pt x="2753" y="488"/>
                      </a:lnTo>
                      <a:lnTo>
                        <a:pt x="2753" y="2753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140" name="Google Shape;140;p5"/>
          <p:cNvSpPr txBox="1"/>
          <p:nvPr/>
        </p:nvSpPr>
        <p:spPr>
          <a:xfrm>
            <a:off x="861352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1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 txBox="1"/>
          <p:nvPr/>
        </p:nvSpPr>
        <p:spPr>
          <a:xfrm>
            <a:off x="2409950" y="795117"/>
            <a:ext cx="337363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</a:t>
            </a:r>
            <a:r>
              <a:rPr lang="en-US" sz="20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상대적 부실기업 정의</a:t>
            </a:r>
            <a:endParaRPr sz="800" b="0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6" name="Google Shape;146;p6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121717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연구배경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147" name="Google Shape;147;p6"/>
          <p:cNvSpPr txBox="1">
            <a:spLocks noGrp="1"/>
          </p:cNvSpPr>
          <p:nvPr>
            <p:ph type="body" idx="1"/>
          </p:nvPr>
        </p:nvSpPr>
        <p:spPr>
          <a:xfrm>
            <a:off x="1381250" y="1616470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1996년 Altman 한국기업대상 제시한 도산예측모형에서 근거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/>
          </a:p>
          <a:p>
            <a:pPr marL="45720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/>
          </a:p>
          <a:p>
            <a:pPr marL="45720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/>
          </a:p>
          <a:p>
            <a:pPr marL="358775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/>
          </a:p>
          <a:p>
            <a:pPr marL="182563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800">
                <a:latin typeface="Arial"/>
                <a:ea typeface="Arial"/>
                <a:cs typeface="Arial"/>
                <a:sym typeface="Arial"/>
              </a:rPr>
              <a:t>2009년부터 2019년까지 한국상장협의회 공시자료에 따르면 78개 기업이 상장폐지</a:t>
            </a:r>
            <a:endParaRPr/>
          </a:p>
          <a:p>
            <a:pPr marL="182563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800">
                <a:latin typeface="Arial"/>
                <a:ea typeface="Arial"/>
                <a:cs typeface="Arial"/>
                <a:sym typeface="Arial"/>
              </a:rPr>
              <a:t>(근거 : 한국상장협의회(TS2000, 공시자료 기간 2009.1.1.~ 201912.31)</a:t>
            </a:r>
            <a:endParaRPr/>
          </a:p>
        </p:txBody>
      </p:sp>
      <p:sp>
        <p:nvSpPr>
          <p:cNvPr id="148" name="Google Shape;148;p6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graphicFrame>
        <p:nvGraphicFramePr>
          <p:cNvPr id="149" name="Google Shape;149;p6"/>
          <p:cNvGraphicFramePr/>
          <p:nvPr/>
        </p:nvGraphicFramePr>
        <p:xfrm>
          <a:off x="1680272" y="2307748"/>
          <a:ext cx="3387025" cy="1296500"/>
        </p:xfrm>
        <a:graphic>
          <a:graphicData uri="http://schemas.openxmlformats.org/drawingml/2006/table">
            <a:tbl>
              <a:tblPr firstRow="1" firstCol="1" bandRow="1">
                <a:noFill/>
                <a:tableStyleId>{4D9EB66F-1FA9-4FDE-9DB3-DB622A6A229C}</a:tableStyleId>
              </a:tblPr>
              <a:tblGrid>
                <a:gridCol w="171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4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K2(Z) 범위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판단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K2&lt;-2.30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상대적 부실기업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-2.30≤K2≤0.75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유보기업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K2&gt;0.75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건전기업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0" name="Google Shape;150;p6"/>
          <p:cNvSpPr txBox="1"/>
          <p:nvPr/>
        </p:nvSpPr>
        <p:spPr>
          <a:xfrm>
            <a:off x="861352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1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연구배경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156" name="Google Shape;156;p7"/>
          <p:cNvSpPr txBox="1">
            <a:spLocks noGrp="1"/>
          </p:cNvSpPr>
          <p:nvPr>
            <p:ph type="body" idx="1"/>
          </p:nvPr>
        </p:nvSpPr>
        <p:spPr>
          <a:xfrm>
            <a:off x="1381250" y="1616470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1996년 Altman 한국기업대상 도산예측모형제시</a:t>
            </a:r>
            <a:endParaRPr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1989~1992 34개 부실기업과 61개 건전기업 분석</a:t>
            </a:r>
            <a:endParaRPr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20개 변수 검토 후 최종적 기업규모, 총자산회전율, 누적수익성, 재무구조의 4개 변수 선정 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182563" lvl="0" indent="-3016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endParaRPr sz="12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200" b="1">
                <a:latin typeface="Lora"/>
                <a:ea typeface="Lora"/>
                <a:cs typeface="Lora"/>
                <a:sym typeface="Lora"/>
              </a:rPr>
              <a:t>K1-Score</a:t>
            </a: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모형 : 상장, 비상장 기업 적용 가능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200" b="1">
                <a:latin typeface="Lora"/>
                <a:ea typeface="Lora"/>
                <a:cs typeface="Lora"/>
                <a:sym typeface="Lora"/>
              </a:rPr>
              <a:t>K2-Score</a:t>
            </a: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모형 : 상장 기업 적용 가능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76200" lvl="0" indent="0" algn="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76200" lvl="0" indent="0" algn="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200" b="1">
                <a:latin typeface="Lora"/>
                <a:ea typeface="Lora"/>
                <a:cs typeface="Lora"/>
                <a:sym typeface="Lora"/>
              </a:rPr>
              <a:t>   </a:t>
            </a:r>
            <a:endParaRPr sz="1000"/>
          </a:p>
          <a:p>
            <a:pPr marL="45720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/>
          </a:p>
        </p:txBody>
      </p:sp>
      <p:sp>
        <p:nvSpPr>
          <p:cNvPr id="157" name="Google Shape;157;p7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graphicFrame>
        <p:nvGraphicFramePr>
          <p:cNvPr id="158" name="Google Shape;158;p7"/>
          <p:cNvGraphicFramePr/>
          <p:nvPr/>
        </p:nvGraphicFramePr>
        <p:xfrm>
          <a:off x="1381250" y="3282505"/>
          <a:ext cx="2378725" cy="1057860"/>
        </p:xfrm>
        <a:graphic>
          <a:graphicData uri="http://schemas.openxmlformats.org/drawingml/2006/table">
            <a:tbl>
              <a:tblPr firstRow="1" firstCol="1" bandRow="1">
                <a:noFill/>
                <a:tableStyleId>{4D9EB66F-1FA9-4FDE-9DB3-DB622A6A229C}</a:tableStyleId>
              </a:tblPr>
              <a:tblGrid>
                <a:gridCol w="64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6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/>
                        <a:t>X1</a:t>
                      </a:r>
                      <a:endParaRPr sz="12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log 총자산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/>
                        <a:t>X2</a:t>
                      </a:r>
                      <a:endParaRPr sz="12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log (매출액/총자산)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/>
                        <a:t>X3</a:t>
                      </a:r>
                      <a:endParaRPr sz="12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이익잉여금/총자산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/>
                        <a:t>X4</a:t>
                      </a:r>
                      <a:endParaRPr sz="12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자기자본 장부가치/총부채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6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/>
                        <a:t>X4</a:t>
                      </a:r>
                      <a:endParaRPr sz="12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자기자본 시장가치/총부채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9" name="Google Shape;159;p7"/>
          <p:cNvSpPr txBox="1"/>
          <p:nvPr/>
        </p:nvSpPr>
        <p:spPr>
          <a:xfrm>
            <a:off x="2409950" y="795117"/>
            <a:ext cx="446329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Altman K2-Score(1996) 선정배경</a:t>
            </a:r>
            <a:endParaRPr/>
          </a:p>
        </p:txBody>
      </p:sp>
      <p:sp>
        <p:nvSpPr>
          <p:cNvPr id="160" name="Google Shape;160;p7"/>
          <p:cNvSpPr txBox="1"/>
          <p:nvPr/>
        </p:nvSpPr>
        <p:spPr>
          <a:xfrm>
            <a:off x="3589019" y="3278727"/>
            <a:ext cx="3939177" cy="477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620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K1-Score = -17.862 + 1.472X1 + 3.042X2 + 14.839X3 + 1.516X4</a:t>
            </a:r>
            <a:endParaRPr/>
          </a:p>
          <a:p>
            <a:pPr marL="76200" marR="0" lvl="0" indent="0" algn="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   K2-Score = -18.696 + 1.501X1 + 2.706X2 + 19.760X3 + 1.146X'4</a:t>
            </a:r>
            <a:endParaRPr/>
          </a:p>
        </p:txBody>
      </p:sp>
      <p:sp>
        <p:nvSpPr>
          <p:cNvPr id="161" name="Google Shape;161;p7"/>
          <p:cNvSpPr txBox="1"/>
          <p:nvPr/>
        </p:nvSpPr>
        <p:spPr>
          <a:xfrm>
            <a:off x="861352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1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연구배경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167" name="Google Shape;167;p8"/>
          <p:cNvSpPr txBox="1">
            <a:spLocks noGrp="1"/>
          </p:cNvSpPr>
          <p:nvPr>
            <p:ph type="body" idx="1"/>
          </p:nvPr>
        </p:nvSpPr>
        <p:spPr>
          <a:xfrm>
            <a:off x="1381250" y="1616470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Altman(1996)의 검증표본 사용 후 분석결과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266700" lvl="0" indent="-38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endParaRPr sz="1000"/>
          </a:p>
          <a:p>
            <a:pPr marL="266700" lvl="0" indent="-38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endParaRPr sz="1000"/>
          </a:p>
          <a:p>
            <a:pPr marL="266700" lvl="0" indent="-38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endParaRPr sz="1000"/>
          </a:p>
          <a:p>
            <a:pPr marL="266700" lvl="0" indent="-38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endParaRPr sz="100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200">
                <a:highlight>
                  <a:srgbClr val="FFCD00"/>
                </a:highlight>
                <a:latin typeface="Arial"/>
                <a:ea typeface="Arial"/>
                <a:cs typeface="Arial"/>
                <a:sym typeface="Arial"/>
              </a:rPr>
              <a:t>본 연구에는 상장기업 대상으로 K2모형 선택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높은 도산예측 정확도로 검증된 모델로서 본 연구에 적용함</a:t>
            </a:r>
            <a:endParaRPr/>
          </a:p>
          <a:p>
            <a:pPr marL="266700" lvl="0" indent="-38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266700" lvl="0" indent="-38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endParaRPr sz="1000" b="1">
              <a:latin typeface="Arial"/>
              <a:ea typeface="Arial"/>
              <a:cs typeface="Arial"/>
              <a:sym typeface="Arial"/>
            </a:endParaRPr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800"/>
          </a:p>
        </p:txBody>
      </p:sp>
      <p:sp>
        <p:nvSpPr>
          <p:cNvPr id="168" name="Google Shape;168;p8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graphicFrame>
        <p:nvGraphicFramePr>
          <p:cNvPr id="169" name="Google Shape;169;p8"/>
          <p:cNvGraphicFramePr/>
          <p:nvPr/>
        </p:nvGraphicFramePr>
        <p:xfrm>
          <a:off x="1614486" y="2051526"/>
          <a:ext cx="4915850" cy="737400"/>
        </p:xfrm>
        <a:graphic>
          <a:graphicData uri="http://schemas.openxmlformats.org/drawingml/2006/table">
            <a:tbl>
              <a:tblPr firstRow="1" firstCol="1" bandRow="1">
                <a:noFill/>
                <a:tableStyleId>{4D9EB66F-1FA9-4FDE-9DB3-DB622A6A229C}</a:tableStyleId>
              </a:tblPr>
              <a:tblGrid>
                <a:gridCol w="114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8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8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5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도산예측정확도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도산 1년전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도산 2년전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도산 5년전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K1-Score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97.1%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88.2%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68.8%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K2-Score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96.6%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85.2%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75.0%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0" name="Google Shape;170;p8"/>
          <p:cNvSpPr txBox="1"/>
          <p:nvPr/>
        </p:nvSpPr>
        <p:spPr>
          <a:xfrm>
            <a:off x="2409950" y="795117"/>
            <a:ext cx="43413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Altman K2-Score(1996) 선정배경</a:t>
            </a:r>
            <a:endParaRPr/>
          </a:p>
        </p:txBody>
      </p:sp>
      <p:sp>
        <p:nvSpPr>
          <p:cNvPr id="171" name="Google Shape;171;p8"/>
          <p:cNvSpPr txBox="1"/>
          <p:nvPr/>
        </p:nvSpPr>
        <p:spPr>
          <a:xfrm>
            <a:off x="861352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1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연구배경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177" name="Google Shape;177;p9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66700" lvl="0" indent="-38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endParaRPr sz="1000"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/>
              <a:t>재무제표에서 수익성, 성장성, 안정성, 활동성을 9가지 내용으로 재분류 </a:t>
            </a:r>
            <a:endParaRPr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/>
              <a:t>충족 시 +1점, 충족하지 않을 시 0점, 총 9점 만점으로 평가</a:t>
            </a:r>
            <a:endParaRPr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/>
              <a:t>가장 대표적인 재무정보들을 이용하여 분석하고 점수화</a:t>
            </a:r>
            <a:endParaRPr/>
          </a:p>
          <a:p>
            <a:pPr marL="266700" lvl="0" indent="-38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80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80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80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80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80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80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80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80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80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80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800"/>
              <a:t>점수화가 쉬운 편 이므로 투명성 높음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80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800"/>
          </a:p>
        </p:txBody>
      </p:sp>
      <p:sp>
        <p:nvSpPr>
          <p:cNvPr id="178" name="Google Shape;178;p9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79" name="Google Shape;179;p9"/>
          <p:cNvSpPr txBox="1"/>
          <p:nvPr/>
        </p:nvSpPr>
        <p:spPr>
          <a:xfrm>
            <a:off x="2409950" y="795117"/>
            <a:ext cx="412039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F-Score 선정배경</a:t>
            </a:r>
            <a:endParaRPr/>
          </a:p>
        </p:txBody>
      </p:sp>
      <p:graphicFrame>
        <p:nvGraphicFramePr>
          <p:cNvPr id="180" name="Google Shape;180;p9"/>
          <p:cNvGraphicFramePr/>
          <p:nvPr/>
        </p:nvGraphicFramePr>
        <p:xfrm>
          <a:off x="1526058" y="2408341"/>
          <a:ext cx="5697700" cy="2150669"/>
        </p:xfrm>
        <a:graphic>
          <a:graphicData uri="http://schemas.openxmlformats.org/drawingml/2006/table">
            <a:tbl>
              <a:tblPr firstRow="1" firstCol="1" bandRow="1">
                <a:noFill/>
                <a:tableStyleId>{4D9EB66F-1FA9-4FDE-9DB3-DB622A6A229C}</a:tableStyleId>
              </a:tblPr>
              <a:tblGrid>
                <a:gridCol w="204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6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4325">
                <a:tc row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/>
                        <a:t>수익성지표</a:t>
                      </a:r>
                      <a:endParaRPr sz="15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전년 당기순이익이 0 이상?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highlight>
                            <a:srgbClr val="FFCD00"/>
                          </a:highlight>
                        </a:rPr>
                        <a:t>+1/0</a:t>
                      </a:r>
                      <a:endParaRPr sz="1000" u="none" strike="noStrike" cap="none">
                        <a:solidFill>
                          <a:srgbClr val="000000"/>
                        </a:solidFill>
                        <a:highlight>
                          <a:srgbClr val="FFCD00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3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전년 영업현금흐름 0 이상?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highlight>
                            <a:srgbClr val="FFCD00"/>
                          </a:highlight>
                        </a:rPr>
                        <a:t>+1/0</a:t>
                      </a:r>
                      <a:endParaRPr sz="1000" u="none" strike="noStrike" cap="none">
                        <a:solidFill>
                          <a:srgbClr val="000000"/>
                        </a:solidFill>
                        <a:highlight>
                          <a:srgbClr val="FFCD00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3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ROA(당기 순이익/총자산)가 전년대비 증가?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highlight>
                            <a:srgbClr val="FFCD00"/>
                          </a:highlight>
                        </a:rPr>
                        <a:t>+1/0</a:t>
                      </a:r>
                      <a:endParaRPr sz="1000" u="none" strike="noStrike" cap="none">
                        <a:solidFill>
                          <a:srgbClr val="000000"/>
                        </a:solidFill>
                        <a:highlight>
                          <a:srgbClr val="FFCD00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3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영업현금흐름이 순이익보다 높음?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highlight>
                            <a:srgbClr val="FFCD00"/>
                          </a:highlight>
                        </a:rPr>
                        <a:t>+1/0</a:t>
                      </a:r>
                      <a:endParaRPr sz="1000" u="none" strike="noStrike" cap="none">
                        <a:solidFill>
                          <a:srgbClr val="000000"/>
                        </a:solidFill>
                        <a:highlight>
                          <a:srgbClr val="FFCD00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/>
                        <a:t>성장성지표</a:t>
                      </a:r>
                      <a:endParaRPr sz="15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매출총이익이 전년대비 증가?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highlight>
                            <a:srgbClr val="FFCD00"/>
                          </a:highlight>
                        </a:rPr>
                        <a:t>+1/0</a:t>
                      </a:r>
                      <a:endParaRPr sz="1000" u="none" strike="noStrike" cap="none">
                        <a:solidFill>
                          <a:srgbClr val="000000"/>
                        </a:solidFill>
                        <a:highlight>
                          <a:srgbClr val="FFCD00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325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/>
                        <a:t>안정성지표</a:t>
                      </a:r>
                      <a:endParaRPr sz="15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부채비율(부채/자본)이 전년보다 감소?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highlight>
                            <a:srgbClr val="FFCD00"/>
                          </a:highlight>
                        </a:rPr>
                        <a:t>+1/0</a:t>
                      </a:r>
                      <a:endParaRPr sz="1000" u="none" strike="noStrike" cap="none">
                        <a:solidFill>
                          <a:srgbClr val="000000"/>
                        </a:solidFill>
                        <a:highlight>
                          <a:srgbClr val="FFCD00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3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 유동비율(유동자산/유동부채)이 전년보다 증가 ?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highlight>
                            <a:srgbClr val="FFCD00"/>
                          </a:highlight>
                        </a:rPr>
                        <a:t>+1/0</a:t>
                      </a:r>
                      <a:endParaRPr sz="1000" u="none" strike="noStrike" cap="none">
                        <a:solidFill>
                          <a:srgbClr val="000000"/>
                        </a:solidFill>
                        <a:highlight>
                          <a:srgbClr val="FFCD00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3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당해 신규주식 발행이 없는가?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highlight>
                            <a:srgbClr val="FFCD00"/>
                          </a:highlight>
                        </a:rPr>
                        <a:t>+1/0</a:t>
                      </a:r>
                      <a:endParaRPr sz="1000" u="none" strike="noStrike" cap="none">
                        <a:solidFill>
                          <a:srgbClr val="000000"/>
                        </a:solidFill>
                        <a:highlight>
                          <a:srgbClr val="FFCD00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/>
                        <a:t>활동성지표</a:t>
                      </a:r>
                      <a:endParaRPr sz="15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자산회전율이 전년대비 증가?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highlight>
                            <a:srgbClr val="FFCD00"/>
                          </a:highlight>
                        </a:rPr>
                        <a:t>+1/0</a:t>
                      </a:r>
                      <a:endParaRPr sz="1000" u="none" strike="noStrike" cap="none">
                        <a:solidFill>
                          <a:srgbClr val="000000"/>
                        </a:solidFill>
                        <a:highlight>
                          <a:srgbClr val="FFCD00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1" name="Google Shape;181;p9"/>
          <p:cNvSpPr txBox="1"/>
          <p:nvPr/>
        </p:nvSpPr>
        <p:spPr>
          <a:xfrm>
            <a:off x="861352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1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연구배경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187" name="Google Shape;187;p10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/>
              <a:t>미국 증시 대상, 2000년부터 2014년 기간 </a:t>
            </a:r>
            <a:endParaRPr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/>
              <a:t>F-score가 0-9점인 주식들을 매수해서 보유하는 전략</a:t>
            </a:r>
            <a:endParaRPr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/>
              <a:t>점수별로 연평균 수익률 결과</a:t>
            </a:r>
            <a:endParaRPr/>
          </a:p>
          <a:p>
            <a:pPr marL="266700" lvl="0" indent="-38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80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80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80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800"/>
          </a:p>
        </p:txBody>
      </p:sp>
      <p:sp>
        <p:nvSpPr>
          <p:cNvPr id="188" name="Google Shape;188;p10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89" name="Google Shape;189;p10"/>
          <p:cNvSpPr txBox="1"/>
          <p:nvPr/>
        </p:nvSpPr>
        <p:spPr>
          <a:xfrm>
            <a:off x="2409950" y="795117"/>
            <a:ext cx="412039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F-Score 선정배경</a:t>
            </a:r>
            <a:endParaRPr/>
          </a:p>
        </p:txBody>
      </p:sp>
      <p:pic>
        <p:nvPicPr>
          <p:cNvPr id="190" name="Google Shape;190;p10" descr="그림입니다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74302" y="2155118"/>
            <a:ext cx="3795395" cy="282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0"/>
          <p:cNvSpPr txBox="1"/>
          <p:nvPr/>
        </p:nvSpPr>
        <p:spPr>
          <a:xfrm>
            <a:off x="861352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1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연구배경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197" name="Google Shape;197;p11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•"/>
            </a:pPr>
            <a:r>
              <a:rPr lang="en-US" sz="1000"/>
              <a:t>2005년부터 2017년 기간 F-Score 5점이상 부터 9점인 주식을 매수</a:t>
            </a:r>
            <a:endParaRPr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•"/>
            </a:pPr>
            <a:r>
              <a:rPr lang="en-US" sz="1000"/>
              <a:t>1년마다 리밸런싱 결과 : 7,8점이 우수</a:t>
            </a: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80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80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80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800"/>
          </a:p>
        </p:txBody>
      </p:sp>
      <p:sp>
        <p:nvSpPr>
          <p:cNvPr id="198" name="Google Shape;198;p11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99" name="Google Shape;199;p11"/>
          <p:cNvSpPr txBox="1"/>
          <p:nvPr/>
        </p:nvSpPr>
        <p:spPr>
          <a:xfrm>
            <a:off x="2409950" y="795117"/>
            <a:ext cx="412039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F-Score 선정배경</a:t>
            </a:r>
            <a:endParaRPr/>
          </a:p>
        </p:txBody>
      </p:sp>
      <p:pic>
        <p:nvPicPr>
          <p:cNvPr id="200" name="Google Shape;200;p11" descr="그림입니다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3660" y="2054600"/>
            <a:ext cx="3916680" cy="2643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1"/>
          <p:cNvSpPr txBox="1"/>
          <p:nvPr/>
        </p:nvSpPr>
        <p:spPr>
          <a:xfrm>
            <a:off x="861352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1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선행연구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207" name="Google Shape;207;p12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graphicFrame>
        <p:nvGraphicFramePr>
          <p:cNvPr id="208" name="Google Shape;208;p12"/>
          <p:cNvGraphicFramePr/>
          <p:nvPr/>
        </p:nvGraphicFramePr>
        <p:xfrm>
          <a:off x="885824" y="1489838"/>
          <a:ext cx="7801000" cy="3261059"/>
        </p:xfrm>
        <a:graphic>
          <a:graphicData uri="http://schemas.openxmlformats.org/drawingml/2006/table">
            <a:tbl>
              <a:tblPr firstRow="1" firstCol="1" bandRow="1">
                <a:noFill/>
                <a:tableStyleId>{4D9EB66F-1FA9-4FDE-9DB3-DB622A6A229C}</a:tableStyleId>
              </a:tblPr>
              <a:tblGrid>
                <a:gridCol w="105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9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667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/>
                        <a:t>부실예측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/>
                        <a:t>모형</a:t>
                      </a:r>
                      <a:endParaRPr sz="12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875" marR="30875" marT="8475" marB="84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Z-Score 전략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ALTMAN, E. 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875" marR="30875" marT="8475" marB="84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ALTMAN, E. "Financial Ratios, Discriminant Analysis and the Prediction of Corporate Bankruptcy." Journal of Finance (September 1968)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875" marR="30875" marT="8475" marB="847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0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K2_Score 전략 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875" marR="30875" marT="8475" marB="84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Altman(1996) 한국기업을 대상 연구 도산예측모형 제시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K1-score  : 상장기업과 비상장기업 적용 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K2-score : 상장기업 적용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K2-score 모형의 경우 도산 1년 전에 96.6% 예측률 보임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875" marR="30875" marT="8475" marB="84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37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/>
                        <a:t>종목선정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/>
                        <a:t>관련연구</a:t>
                      </a:r>
                      <a:endParaRPr sz="12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875" marR="30875" marT="8475" marB="84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동양증권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(2009.8.27.) 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875" marR="30875" marT="8475" marB="84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새로운 투자지표의 발견 Z-스코어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sng" strike="noStrike" cap="none"/>
                        <a:t>주식시장 상승 구간에서 Z-스코어가 낮은 고위험 그룹에서 수익률 이 높게 나타나는 현상</a:t>
                      </a:r>
                      <a:endParaRPr sz="800" u="none" strike="noStrike" cap="none"/>
                    </a:p>
                    <a:p>
                      <a:pPr marL="0" marR="0" lvl="0" indent="0" algn="l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지수의 상승 국면에서는 리스크가 상대적으로 크게 측정되는 주식들의 수익률이 높게 나타나는 성향이 있다는 점을 고려한 투자 대상 물색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875" marR="30875" marT="8475" marB="84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0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F-Score 전략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JOSEPH D. PIOTROSKI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875" marR="30875" marT="8475" marB="84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2000 "Value Investing: The Use of Historical Financial Statement Information to Separate Winners from Losers" </a:t>
                      </a:r>
                      <a:endParaRPr sz="800" u="none" strike="noStrike" cap="none"/>
                    </a:p>
                    <a:p>
                      <a:pPr marL="0" marR="0" lvl="0" indent="0" algn="just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F_Score가 높은 기업들의 수익률이 높게 나타남을 보임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875" marR="30875" marT="8475" marB="84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67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/>
                        <a:t>Market</a:t>
                      </a:r>
                      <a:endParaRPr sz="1200" b="1" u="none" strike="noStrike" cap="none"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/>
                        <a:t>Timing</a:t>
                      </a:r>
                      <a:endParaRPr sz="12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875" marR="30875" marT="8475" marB="84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Treynor-Mazuy(1966)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875" marR="30875" marT="8475" marB="84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Treynor, J. L., &amp; Mazuy, K. (1966). Can Mutual Funds Outguess the Market? </a:t>
                      </a:r>
                      <a:endParaRPr sz="800" u="none" strike="noStrike" cap="none"/>
                    </a:p>
                    <a:p>
                      <a:pPr marL="0" marR="0" lvl="0" indent="0" algn="l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Harvard Business Review, 4, 131-136.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875" marR="30875" marT="8475" marB="84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21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Henriksson-Merton(1981) 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875" marR="30875" marT="8475" marB="84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On Market Timing and Investment Performance. II. Statistical Procedures for Evaluating Forecasting Skills</a:t>
                      </a:r>
                      <a:endParaRPr sz="800" u="none" strike="noStrike" cap="none"/>
                    </a:p>
                    <a:p>
                      <a:pPr marL="0" marR="0" lvl="0" indent="0" algn="l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Roy D. Henriksson and Robert C. Merton</a:t>
                      </a:r>
                      <a:endParaRPr sz="800" u="none" strike="noStrike" cap="none"/>
                    </a:p>
                    <a:p>
                      <a:pPr marL="0" marR="0" lvl="0" indent="0" algn="l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The Journal of Business</a:t>
                      </a:r>
                      <a:endParaRPr sz="800" u="none" strike="noStrike" cap="none"/>
                    </a:p>
                    <a:p>
                      <a:pPr marL="0" marR="0" lvl="0" indent="0" algn="l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Vol. 54, No. 4 (Oct., 1981), pp. 513-533 (21 pages)</a:t>
                      </a:r>
                      <a:endParaRPr sz="800" u="none" strike="noStrike" cap="none"/>
                    </a:p>
                    <a:p>
                      <a:pPr marL="0" marR="0" lvl="0" indent="0" algn="l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Published By: The University of Chicago Press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875" marR="30875" marT="8475" marB="847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62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/>
                        <a:t>주가예측</a:t>
                      </a:r>
                      <a:endParaRPr sz="12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875" marR="30875" marT="8475" marB="84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LSTM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875" marR="30875" marT="8475" marB="84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A  Comparative  Study  on  Stock  Price  Forecasting  Models Using  LSTM  and  Bidirectional  Neural  Networks</a:t>
                      </a:r>
                      <a:endParaRPr sz="800" u="none" strike="noStrike" cap="none"/>
                    </a:p>
                    <a:p>
                      <a:pPr marL="0" marR="0" lvl="0" indent="0" algn="l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Lee,  Jong  Hyeok (Supervisor  Kook,  Kwang  Ho) Dept.  of  Software  Analysis  and  Design Graduate  School  of Seoul  National  University  of  Science  and  Technology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875" marR="30875" marT="8475" marB="847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66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강화학습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875" marR="30875" marT="8475" marB="84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Dtock Price Prediction Using Rainforcement Learning. LEE BOMI .Dept. of Bussiness Informatics Graduate School of Hanyang University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875" marR="30875" marT="8475" marB="847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09" name="Google Shape;209;p12"/>
          <p:cNvSpPr txBox="1"/>
          <p:nvPr/>
        </p:nvSpPr>
        <p:spPr>
          <a:xfrm>
            <a:off x="861352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1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"/>
          <p:cNvSpPr txBox="1">
            <a:spLocks noGrp="1"/>
          </p:cNvSpPr>
          <p:nvPr>
            <p:ph type="ctrTitle"/>
          </p:nvPr>
        </p:nvSpPr>
        <p:spPr>
          <a:xfrm>
            <a:off x="2022225" y="1693523"/>
            <a:ext cx="37878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Project Progression</a:t>
            </a:r>
            <a:endParaRPr/>
          </a:p>
        </p:txBody>
      </p:sp>
      <p:sp>
        <p:nvSpPr>
          <p:cNvPr id="215" name="Google Shape;215;p13"/>
          <p:cNvSpPr txBox="1">
            <a:spLocks noGrp="1"/>
          </p:cNvSpPr>
          <p:nvPr>
            <p:ph type="subTitle" idx="1"/>
          </p:nvPr>
        </p:nvSpPr>
        <p:spPr>
          <a:xfrm>
            <a:off x="2022300" y="2815923"/>
            <a:ext cx="55914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연구과정</a:t>
            </a:r>
            <a:endParaRPr/>
          </a:p>
        </p:txBody>
      </p:sp>
      <p:sp>
        <p:nvSpPr>
          <p:cNvPr id="216" name="Google Shape;216;p13"/>
          <p:cNvSpPr txBox="1"/>
          <p:nvPr/>
        </p:nvSpPr>
        <p:spPr>
          <a:xfrm>
            <a:off x="1133975" y="2291150"/>
            <a:ext cx="543900" cy="5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17" name="Google Shape;217;p13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4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223" name="Google Shape;223;p14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24" name="Google Shape;224;p14"/>
          <p:cNvSpPr txBox="1"/>
          <p:nvPr/>
        </p:nvSpPr>
        <p:spPr>
          <a:xfrm>
            <a:off x="2409950" y="795117"/>
            <a:ext cx="412039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진행과정</a:t>
            </a:r>
            <a:endParaRPr/>
          </a:p>
        </p:txBody>
      </p:sp>
      <p:sp>
        <p:nvSpPr>
          <p:cNvPr id="225" name="Google Shape;225;p14"/>
          <p:cNvSpPr/>
          <p:nvPr/>
        </p:nvSpPr>
        <p:spPr>
          <a:xfrm>
            <a:off x="632459" y="2080260"/>
            <a:ext cx="1472689" cy="1593060"/>
          </a:xfrm>
          <a:prstGeom prst="rect">
            <a:avLst/>
          </a:prstGeom>
          <a:solidFill>
            <a:srgbClr val="FFE166"/>
          </a:solidFill>
          <a:ln w="25400" cap="flat" cmpd="sng">
            <a:solidFill>
              <a:srgbClr val="BA9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STEP 1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PREPROCESSING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/ EDA</a:t>
            </a:r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4"/>
          <p:cNvSpPr/>
          <p:nvPr/>
        </p:nvSpPr>
        <p:spPr>
          <a:xfrm>
            <a:off x="2738376" y="2080260"/>
            <a:ext cx="1472690" cy="159306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BA9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STEP 2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SECURITY SELECTING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&amp; QUANT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4"/>
          <p:cNvSpPr/>
          <p:nvPr/>
        </p:nvSpPr>
        <p:spPr>
          <a:xfrm>
            <a:off x="4844294" y="2080260"/>
            <a:ext cx="1472690" cy="1593060"/>
          </a:xfrm>
          <a:prstGeom prst="rect">
            <a:avLst/>
          </a:prstGeom>
          <a:solidFill>
            <a:srgbClr val="BF9900"/>
          </a:solidFill>
          <a:ln w="25400" cap="flat" cmpd="sng">
            <a:solidFill>
              <a:srgbClr val="C66E0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STEP 3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PREDICTING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4"/>
          <p:cNvSpPr/>
          <p:nvPr/>
        </p:nvSpPr>
        <p:spPr>
          <a:xfrm>
            <a:off x="6945388" y="2080260"/>
            <a:ext cx="1472690" cy="1593060"/>
          </a:xfrm>
          <a:prstGeom prst="rect">
            <a:avLst/>
          </a:prstGeom>
          <a:solidFill>
            <a:srgbClr val="7F6600"/>
          </a:solidFill>
          <a:ln w="25400" cap="flat" cmpd="sng">
            <a:solidFill>
              <a:srgbClr val="53341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STEP 4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FORECASTING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4"/>
          <p:cNvSpPr/>
          <p:nvPr/>
        </p:nvSpPr>
        <p:spPr>
          <a:xfrm>
            <a:off x="2186940" y="2720820"/>
            <a:ext cx="464820" cy="3119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BA9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4"/>
          <p:cNvSpPr/>
          <p:nvPr/>
        </p:nvSpPr>
        <p:spPr>
          <a:xfrm>
            <a:off x="4299707" y="2720820"/>
            <a:ext cx="464820" cy="3119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BA9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4"/>
          <p:cNvSpPr/>
          <p:nvPr/>
        </p:nvSpPr>
        <p:spPr>
          <a:xfrm>
            <a:off x="6396751" y="2720820"/>
            <a:ext cx="464820" cy="3119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BA9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4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5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238" name="Google Shape;238;p15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200" b="1">
                <a:highlight>
                  <a:srgbClr val="FFCD00"/>
                </a:highlight>
              </a:rPr>
              <a:t>가설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/>
              <a:t>1. </a:t>
            </a:r>
            <a:r>
              <a:rPr lang="en-US" sz="1000">
                <a:highlight>
                  <a:srgbClr val="FFCD00"/>
                </a:highlight>
              </a:rPr>
              <a:t>집단 비교 </a:t>
            </a:r>
            <a:r>
              <a:rPr lang="en-US" sz="1000"/>
              <a:t>: 연구배경에서 정의한 기업을 토대로 함</a:t>
            </a:r>
            <a:endParaRPr sz="1000"/>
          </a:p>
          <a:p>
            <a:pPr marL="266700" lvl="0" indent="-38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endParaRPr sz="1000"/>
          </a:p>
          <a:p>
            <a:pPr marL="266700" lvl="0" indent="-38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endParaRPr sz="1000"/>
          </a:p>
          <a:p>
            <a:pPr marL="266700" lvl="0" indent="-38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endParaRPr sz="100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/>
              <a:t>2, </a:t>
            </a:r>
            <a:r>
              <a:rPr lang="en-US" sz="1000">
                <a:highlight>
                  <a:srgbClr val="FFCD00"/>
                </a:highlight>
              </a:rPr>
              <a:t>가설설정</a:t>
            </a:r>
            <a:r>
              <a:rPr lang="en-US" sz="1000"/>
              <a:t> : 수익률의 상대성</a:t>
            </a:r>
            <a:endParaRPr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>
                <a:highlight>
                  <a:srgbClr val="FFCD00"/>
                </a:highlight>
              </a:rPr>
              <a:t>귀무가설(H0) </a:t>
            </a:r>
            <a:r>
              <a:rPr lang="en-US" sz="1000"/>
              <a:t>: 상대적 부실기업과 건전기업간의 수익률 차이가 없다.</a:t>
            </a:r>
            <a:endParaRPr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>
                <a:highlight>
                  <a:srgbClr val="FFCD00"/>
                </a:highlight>
              </a:rPr>
              <a:t>대립가설(H1) </a:t>
            </a:r>
            <a:r>
              <a:rPr lang="en-US" sz="1000"/>
              <a:t>: 상대적 부실기업과 건전기업간의 수익률 차이가 있다. 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/>
              <a:t>※Backtesting, Prediction 벤치마크는 코스피 지수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/>
              <a:t>※Forecasting 추출된 상대적 부실기업 6종목 대비 건전기업 수익률은 코스피50과 비교 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800" b="1">
              <a:highlight>
                <a:srgbClr val="FFCD00"/>
              </a:highlight>
            </a:endParaRPr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200" b="1">
                <a:highlight>
                  <a:srgbClr val="FFCD00"/>
                </a:highlight>
              </a:rPr>
              <a:t>데이터</a:t>
            </a:r>
            <a:r>
              <a:rPr lang="en-US" sz="1000" b="1"/>
              <a:t> </a:t>
            </a:r>
            <a:endParaRPr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/>
              <a:t>한국상장협의회 자료(2009.1.1. ~ 2019.12.31.) </a:t>
            </a:r>
            <a:endParaRPr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/>
              <a:t>유가증권시장 2021.12.8.검색기준 상장된 798개 기업 대상</a:t>
            </a:r>
            <a:endParaRPr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/>
              <a:t>재무재표가 다른 금융권 기업과 회계자료 빠진 92개 기업 제외한 706개 기업 선택</a:t>
            </a:r>
            <a:endParaRPr/>
          </a:p>
          <a:p>
            <a:pPr marL="723900" lvl="1" indent="-63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endParaRPr sz="100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80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80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80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800"/>
          </a:p>
        </p:txBody>
      </p:sp>
      <p:sp>
        <p:nvSpPr>
          <p:cNvPr id="239" name="Google Shape;239;p15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240" name="Google Shape;240;p15"/>
          <p:cNvSpPr txBox="1"/>
          <p:nvPr/>
        </p:nvSpPr>
        <p:spPr>
          <a:xfrm>
            <a:off x="2409950" y="795117"/>
            <a:ext cx="412039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Data Preprocessing / EDA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aphicFrame>
        <p:nvGraphicFramePr>
          <p:cNvPr id="241" name="Google Shape;241;p15"/>
          <p:cNvGraphicFramePr/>
          <p:nvPr/>
        </p:nvGraphicFramePr>
        <p:xfrm>
          <a:off x="1546860" y="1967491"/>
          <a:ext cx="4101475" cy="612150"/>
        </p:xfrm>
        <a:graphic>
          <a:graphicData uri="http://schemas.openxmlformats.org/drawingml/2006/table">
            <a:tbl>
              <a:tblPr firstRow="1" firstCol="1" bandRow="1">
                <a:noFill/>
                <a:tableStyleId>{4D9EB66F-1FA9-4FDE-9DB3-DB622A6A229C}</a:tableStyleId>
              </a:tblPr>
              <a:tblGrid>
                <a:gridCol w="136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/>
                        <a:t>K2&lt;0.75</a:t>
                      </a:r>
                      <a:endParaRPr sz="14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/>
                        <a:t>상대적 부실기업 + 유보기업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/>
                        <a:t>K2&gt;0.75</a:t>
                      </a:r>
                      <a:endParaRPr sz="14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/>
                        <a:t>건전기업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42" name="Google Shape;242;p15"/>
          <p:cNvGrpSpPr/>
          <p:nvPr/>
        </p:nvGrpSpPr>
        <p:grpSpPr>
          <a:xfrm>
            <a:off x="7502903" y="0"/>
            <a:ext cx="1641097" cy="700995"/>
            <a:chOff x="545843" y="3551853"/>
            <a:chExt cx="5896291" cy="2486439"/>
          </a:xfrm>
        </p:grpSpPr>
        <p:sp>
          <p:nvSpPr>
            <p:cNvPr id="243" name="Google Shape;243;p15"/>
            <p:cNvSpPr/>
            <p:nvPr/>
          </p:nvSpPr>
          <p:spPr>
            <a:xfrm>
              <a:off x="545843" y="3551853"/>
              <a:ext cx="1472689" cy="2486439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15"/>
            <p:cNvSpPr/>
            <p:nvPr/>
          </p:nvSpPr>
          <p:spPr>
            <a:xfrm>
              <a:off x="1997207" y="3551853"/>
              <a:ext cx="1472690" cy="1593060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5"/>
            <p:cNvSpPr/>
            <p:nvPr/>
          </p:nvSpPr>
          <p:spPr>
            <a:xfrm>
              <a:off x="3469896" y="3551853"/>
              <a:ext cx="1472690" cy="1593060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15"/>
            <p:cNvSpPr/>
            <p:nvPr/>
          </p:nvSpPr>
          <p:spPr>
            <a:xfrm>
              <a:off x="4969444" y="3551853"/>
              <a:ext cx="1472690" cy="1593060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7" name="Google Shape;247;p15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6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253" name="Google Shape;253;p16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200" b="1">
                <a:highlight>
                  <a:srgbClr val="FFCD00"/>
                </a:highlight>
              </a:rPr>
              <a:t>변수설명</a:t>
            </a:r>
            <a:endParaRPr sz="800"/>
          </a:p>
        </p:txBody>
      </p:sp>
      <p:sp>
        <p:nvSpPr>
          <p:cNvPr id="254" name="Google Shape;254;p16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255" name="Google Shape;255;p16"/>
          <p:cNvSpPr txBox="1"/>
          <p:nvPr/>
        </p:nvSpPr>
        <p:spPr>
          <a:xfrm>
            <a:off x="2409950" y="795117"/>
            <a:ext cx="412039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Data Preprocessing / EDA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aphicFrame>
        <p:nvGraphicFramePr>
          <p:cNvPr id="256" name="Google Shape;256;p16"/>
          <p:cNvGraphicFramePr/>
          <p:nvPr>
            <p:extLst>
              <p:ext uri="{D42A27DB-BD31-4B8C-83A1-F6EECF244321}">
                <p14:modId xmlns:p14="http://schemas.microsoft.com/office/powerpoint/2010/main" val="220929103"/>
              </p:ext>
            </p:extLst>
          </p:nvPr>
        </p:nvGraphicFramePr>
        <p:xfrm>
          <a:off x="1524000" y="1763613"/>
          <a:ext cx="6666950" cy="3113250"/>
        </p:xfrm>
        <a:graphic>
          <a:graphicData uri="http://schemas.openxmlformats.org/drawingml/2006/table">
            <a:tbl>
              <a:tblPr firstRow="1" firstCol="1" bandRow="1">
                <a:noFill/>
                <a:tableStyleId>{4D9EB66F-1FA9-4FDE-9DB3-DB622A6A229C}</a:tableStyleId>
              </a:tblPr>
              <a:tblGrid>
                <a:gridCol w="1021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9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5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4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7550">
                <a:tc row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highlight>
                            <a:srgbClr val="FFCD00"/>
                          </a:highlight>
                        </a:rPr>
                        <a:t>K2-Score</a:t>
                      </a:r>
                      <a:endParaRPr sz="900" b="1" u="none" strike="noStrike" cap="none">
                        <a:highlight>
                          <a:srgbClr val="FFCD00"/>
                        </a:highlight>
                      </a:endParaRPr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highlight>
                            <a:srgbClr val="FFCD00"/>
                          </a:highlight>
                        </a:rPr>
                        <a:t>(알트만)</a:t>
                      </a:r>
                      <a:endParaRPr sz="900" b="1" u="none" strike="noStrike" cap="none">
                        <a:solidFill>
                          <a:srgbClr val="000000"/>
                        </a:solidFill>
                        <a:highlight>
                          <a:srgbClr val="FFCD00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>
                    <a:solidFill>
                      <a:srgbClr val="FFCD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</a:rPr>
                        <a:t>총자산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>
                    <a:solidFill>
                      <a:srgbClr val="FFF5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총자산의 로그값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5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</a:rPr>
                        <a:t>매출액/총자산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>
                    <a:solidFill>
                      <a:srgbClr val="FFF5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총자산 회전율의 로그값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5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</a:rPr>
                        <a:t>이익잉여금/총자산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>
                    <a:solidFill>
                      <a:srgbClr val="FFF5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누적수익성 비율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5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</a:rPr>
                        <a:t>자기자본시장가치/총부채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>
                    <a:solidFill>
                      <a:srgbClr val="FFF5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자본부채비율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7550">
                <a:tc rowSpan="9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 dirty="0">
                          <a:highlight>
                            <a:srgbClr val="FFCD00"/>
                          </a:highlight>
                        </a:rPr>
                        <a:t>F-Score</a:t>
                      </a:r>
                      <a:endParaRPr sz="900" b="1" u="none" strike="noStrike" cap="none" dirty="0">
                        <a:highlight>
                          <a:srgbClr val="FFCD00"/>
                        </a:highlight>
                      </a:endParaRPr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 dirty="0">
                          <a:highlight>
                            <a:srgbClr val="FFCD00"/>
                          </a:highlight>
                        </a:rPr>
                        <a:t>(</a:t>
                      </a:r>
                      <a:r>
                        <a:rPr lang="en-US" altLang="ko-KR" sz="1000" b="1" u="none" strike="noStrike" cap="none" dirty="0">
                          <a:highlight>
                            <a:srgbClr val="FFCD00"/>
                          </a:highlight>
                        </a:rPr>
                        <a:t>피</a:t>
                      </a:r>
                      <a:r>
                        <a:rPr lang="ko-KR" altLang="en-US" sz="1000" b="1" u="none" strike="noStrike" cap="none" dirty="0" err="1">
                          <a:highlight>
                            <a:srgbClr val="FFCD00"/>
                          </a:highlight>
                        </a:rPr>
                        <a:t>오트로</a:t>
                      </a:r>
                      <a:r>
                        <a:rPr lang="en-US" altLang="ko-KR" sz="1000" b="1" u="none" strike="noStrike" cap="none">
                          <a:highlight>
                            <a:srgbClr val="FFCD00"/>
                          </a:highlight>
                        </a:rPr>
                        <a:t>스키</a:t>
                      </a:r>
                      <a:r>
                        <a:rPr lang="en-US" sz="1000" b="1" u="none" strike="noStrike" cap="none">
                          <a:highlight>
                            <a:srgbClr val="FFCD00"/>
                          </a:highlight>
                        </a:rPr>
                        <a:t>)</a:t>
                      </a:r>
                      <a:endParaRPr sz="900" b="1" u="none" strike="noStrike" cap="none">
                        <a:solidFill>
                          <a:srgbClr val="000000"/>
                        </a:solidFill>
                        <a:highlight>
                          <a:srgbClr val="FFCD00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>
                    <a:solidFill>
                      <a:srgbClr val="FFCD00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</a:rPr>
                        <a:t>수익성비율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</a:rPr>
                        <a:t>당기순이익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회계상 전년 당기순이익 0이상유무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highlight>
                            <a:srgbClr val="FFCD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+1/ +0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highlight>
                          <a:srgbClr val="FFCD00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75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</a:rPr>
                        <a:t>영업현금흐름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전년도 영업현금흐름 0 이상 유무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highlight>
                            <a:srgbClr val="FFCD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+1/ +0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highlight>
                          <a:srgbClr val="FFCD00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75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</a:rPr>
                        <a:t>ROA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전년도 대비 증가 유무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highlight>
                            <a:srgbClr val="FFCD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+1/ +0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highlight>
                          <a:srgbClr val="FFCD00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75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</a:rPr>
                        <a:t>순이익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영업현금흐름이 상대적 높아야 함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highlight>
                            <a:srgbClr val="FFCD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+1/ +0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highlight>
                          <a:srgbClr val="FFCD00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75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</a:rPr>
                        <a:t>성장성비율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</a:rPr>
                        <a:t>매출 총이익률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전년대비 증가 유무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highlight>
                            <a:srgbClr val="FFCD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+1/ +0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highlight>
                          <a:srgbClr val="FFCD00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75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</a:rPr>
                        <a:t>안정성비율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</a:rPr>
                        <a:t>부채비율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전년대비 감소 유무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highlight>
                            <a:srgbClr val="FFCD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+1/ +0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highlight>
                          <a:srgbClr val="FFCD00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75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</a:rPr>
                        <a:t>유동비율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전년대비 증가유무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highlight>
                            <a:srgbClr val="FFCD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+1/ +0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highlight>
                          <a:srgbClr val="FFCD00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75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</a:rPr>
                        <a:t>신주발행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당해 결산 신주 발행 유무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highlight>
                            <a:srgbClr val="FFCD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+1/ +0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highlight>
                          <a:srgbClr val="FFCD00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75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</a:rPr>
                        <a:t>활동성비율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</a:rPr>
                        <a:t>자산회전율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전년대비 증가 유무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highlight>
                            <a:srgbClr val="FFCD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+1/ +0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highlight>
                          <a:srgbClr val="FFCD00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755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highlight>
                            <a:srgbClr val="FFCD00"/>
                          </a:highlight>
                        </a:rPr>
                        <a:t>시가총액</a:t>
                      </a:r>
                      <a:endParaRPr sz="900" b="1" u="none" strike="noStrike" cap="none">
                        <a:solidFill>
                          <a:srgbClr val="000000"/>
                        </a:solidFill>
                        <a:highlight>
                          <a:srgbClr val="FFCD00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>
                    <a:solidFill>
                      <a:srgbClr val="FFCD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</a:rPr>
                        <a:t>발행주식수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>
                    <a:solidFill>
                      <a:srgbClr val="FFF5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당해 결산 총 발행 주식 수 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75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</a:rPr>
                        <a:t>연말결산종가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>
                    <a:solidFill>
                      <a:srgbClr val="FFF5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 dirty="0" err="1"/>
                        <a:t>당해</a:t>
                      </a:r>
                      <a:r>
                        <a:rPr lang="en-US" sz="1000" b="1" u="none" strike="noStrike" cap="none" dirty="0"/>
                        <a:t> </a:t>
                      </a:r>
                      <a:r>
                        <a:rPr lang="en-US" sz="1000" b="1" u="none" strike="noStrike" cap="none" dirty="0" err="1"/>
                        <a:t>연말</a:t>
                      </a:r>
                      <a:r>
                        <a:rPr lang="en-US" sz="1000" b="1" u="none" strike="noStrike" cap="none" dirty="0"/>
                        <a:t> </a:t>
                      </a:r>
                      <a:r>
                        <a:rPr lang="en-US" sz="1000" b="1" u="none" strike="noStrike" cap="none" dirty="0" err="1"/>
                        <a:t>결산에</a:t>
                      </a:r>
                      <a:r>
                        <a:rPr lang="en-US" sz="1000" b="1" u="none" strike="noStrike" cap="none" dirty="0"/>
                        <a:t> </a:t>
                      </a:r>
                      <a:r>
                        <a:rPr lang="en-US" sz="1000" b="1" u="none" strike="noStrike" cap="none" dirty="0" err="1"/>
                        <a:t>대한</a:t>
                      </a:r>
                      <a:r>
                        <a:rPr lang="en-US" sz="1000" b="1" u="none" strike="noStrike" cap="none" dirty="0"/>
                        <a:t> </a:t>
                      </a:r>
                      <a:r>
                        <a:rPr lang="en-US" sz="1000" b="1" u="none" strike="noStrike" cap="none" dirty="0" err="1"/>
                        <a:t>종가</a:t>
                      </a:r>
                      <a:endParaRPr sz="1000" b="1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257" name="Google Shape;257;p16"/>
          <p:cNvGrpSpPr/>
          <p:nvPr/>
        </p:nvGrpSpPr>
        <p:grpSpPr>
          <a:xfrm>
            <a:off x="7502903" y="0"/>
            <a:ext cx="1641097" cy="700995"/>
            <a:chOff x="545843" y="3551853"/>
            <a:chExt cx="5896291" cy="2486439"/>
          </a:xfrm>
        </p:grpSpPr>
        <p:sp>
          <p:nvSpPr>
            <p:cNvPr id="258" name="Google Shape;258;p16"/>
            <p:cNvSpPr/>
            <p:nvPr/>
          </p:nvSpPr>
          <p:spPr>
            <a:xfrm>
              <a:off x="545843" y="3551853"/>
              <a:ext cx="1472689" cy="2486439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6"/>
            <p:cNvSpPr/>
            <p:nvPr/>
          </p:nvSpPr>
          <p:spPr>
            <a:xfrm>
              <a:off x="1997207" y="3551853"/>
              <a:ext cx="1472690" cy="1593060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6"/>
            <p:cNvSpPr/>
            <p:nvPr/>
          </p:nvSpPr>
          <p:spPr>
            <a:xfrm>
              <a:off x="3469896" y="3551853"/>
              <a:ext cx="1472690" cy="1593060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16"/>
            <p:cNvSpPr/>
            <p:nvPr/>
          </p:nvSpPr>
          <p:spPr>
            <a:xfrm>
              <a:off x="4969444" y="3551853"/>
              <a:ext cx="1472690" cy="1593060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2" name="Google Shape;262;p16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7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268" name="Google Shape;268;p17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200" b="1">
                <a:highlight>
                  <a:srgbClr val="FFCD00"/>
                </a:highlight>
              </a:rPr>
              <a:t>변수설명</a:t>
            </a:r>
            <a:endParaRPr sz="800"/>
          </a:p>
        </p:txBody>
      </p:sp>
      <p:sp>
        <p:nvSpPr>
          <p:cNvPr id="269" name="Google Shape;269;p17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270" name="Google Shape;270;p17"/>
          <p:cNvSpPr txBox="1"/>
          <p:nvPr/>
        </p:nvSpPr>
        <p:spPr>
          <a:xfrm>
            <a:off x="2409950" y="795117"/>
            <a:ext cx="412039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Data Preprocessing / EDA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aphicFrame>
        <p:nvGraphicFramePr>
          <p:cNvPr id="271" name="Google Shape;271;p17"/>
          <p:cNvGraphicFramePr/>
          <p:nvPr>
            <p:extLst>
              <p:ext uri="{D42A27DB-BD31-4B8C-83A1-F6EECF244321}">
                <p14:modId xmlns:p14="http://schemas.microsoft.com/office/powerpoint/2010/main" val="2128576464"/>
              </p:ext>
            </p:extLst>
          </p:nvPr>
        </p:nvGraphicFramePr>
        <p:xfrm>
          <a:off x="1524000" y="1764498"/>
          <a:ext cx="6666950" cy="3112200"/>
        </p:xfrm>
        <a:graphic>
          <a:graphicData uri="http://schemas.openxmlformats.org/drawingml/2006/table">
            <a:tbl>
              <a:tblPr firstRow="1" firstCol="1" bandRow="1">
                <a:noFill/>
                <a:tableStyleId>{4D9EB66F-1FA9-4FDE-9DB3-DB622A6A229C}</a:tableStyleId>
              </a:tblPr>
              <a:tblGrid>
                <a:gridCol w="1021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5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9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highlight>
                            <a:srgbClr val="FFCD00"/>
                          </a:highlight>
                        </a:rPr>
                        <a:t>K2-Score</a:t>
                      </a:r>
                      <a:endParaRPr sz="900" b="1" u="none" strike="noStrike" cap="none">
                        <a:highlight>
                          <a:srgbClr val="FFCD00"/>
                        </a:highlight>
                      </a:endParaRPr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highlight>
                            <a:srgbClr val="FFCD00"/>
                          </a:highlight>
                        </a:rPr>
                        <a:t>(알트만)</a:t>
                      </a:r>
                      <a:endParaRPr sz="900" b="1" u="none" strike="noStrike" cap="none">
                        <a:solidFill>
                          <a:srgbClr val="000000"/>
                        </a:solidFill>
                        <a:highlight>
                          <a:srgbClr val="FFCD00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>
                    <a:solidFill>
                      <a:srgbClr val="FFCD00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358775" marR="0" lvl="0" indent="0" algn="l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※현재 2021년 12월이지만 아직 연말 결산에 대한 자료가 나오지 않음</a:t>
                      </a:r>
                      <a:endParaRPr/>
                    </a:p>
                    <a:p>
                      <a:pPr marL="358775" marR="0" lvl="0" indent="0" algn="l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358775" marR="0" lvl="0" indent="0" algn="l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※2020년 12월 결산자료는 코로나 특수상황으로 인한 이상치로 봄</a:t>
                      </a:r>
                      <a:endParaRPr/>
                    </a:p>
                    <a:p>
                      <a:pPr marL="358775" marR="0" lvl="0" indent="0" algn="l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358775" marR="0" lvl="0" indent="0" algn="l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※Z-Score는 2019년 12월 결산 회계기준으로 계산</a:t>
                      </a:r>
                      <a:endParaRPr/>
                    </a:p>
                    <a:p>
                      <a:pPr marL="358775" marR="0" lvl="0" indent="0" algn="l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358775" marR="0" lvl="0" indent="0" algn="l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※F-Score는 2018년, 2019년 12월 결산 회계기준으로 계산</a:t>
                      </a:r>
                      <a:endParaRPr/>
                    </a:p>
                    <a:p>
                      <a:pPr marL="358775" marR="0" lvl="0" indent="0" algn="l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358775" marR="0" lvl="0" indent="0" algn="l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※시가총액은 2019년 12월 결산 회계기준 발행 총 주식수와 종가로 계산(KRX기준)</a:t>
                      </a:r>
                      <a:endParaRPr/>
                    </a:p>
                    <a:p>
                      <a:pPr marL="358775" marR="0" lvl="0" indent="0" algn="l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358775" marR="0" lvl="0" indent="0" algn="l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※변수선정과정은 이미 검증된 모델의 변수들을 사용하므로 생략</a:t>
                      </a:r>
                      <a:endParaRPr/>
                    </a:p>
                    <a:p>
                      <a:pPr marL="358775" marR="0" lvl="0" indent="0" algn="l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358775" marR="0" lvl="0" indent="0" algn="l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※백테스트 후 만족 할 만한 결과가 나오지 않을 시 PER, PBR, 유보율, 지급이자율, </a:t>
                      </a:r>
                      <a:endParaRPr/>
                    </a:p>
                    <a:p>
                      <a:pPr marL="358775" marR="0" lvl="0" indent="0" algn="l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자본잉여금 및 파생변수를 추가하여 기업 재선정 피드백</a:t>
                      </a:r>
                      <a:endParaRPr/>
                    </a:p>
                    <a:p>
                      <a:pPr marL="358775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7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 dirty="0">
                          <a:highlight>
                            <a:srgbClr val="FFCD00"/>
                          </a:highlight>
                        </a:rPr>
                        <a:t>F-Score</a:t>
                      </a:r>
                      <a:endParaRPr sz="900" b="1" u="none" strike="noStrike" cap="none" dirty="0">
                        <a:highlight>
                          <a:srgbClr val="FFCD00"/>
                        </a:highlight>
                      </a:endParaRPr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 dirty="0">
                          <a:highlight>
                            <a:srgbClr val="FFCD00"/>
                          </a:highlight>
                        </a:rPr>
                        <a:t>(</a:t>
                      </a:r>
                      <a:r>
                        <a:rPr lang="en-US" sz="1000" b="1" u="none" strike="noStrike" cap="none" dirty="0"/>
                        <a:t>피</a:t>
                      </a:r>
                      <a:r>
                        <a:rPr lang="ko-KR" altLang="en-US" sz="1000" b="1" u="none" strike="noStrike" cap="none" dirty="0" err="1"/>
                        <a:t>오트로</a:t>
                      </a:r>
                      <a:r>
                        <a:rPr lang="en-US" sz="1000" b="1" u="none" strike="noStrike" cap="none" dirty="0" err="1"/>
                        <a:t>스키</a:t>
                      </a:r>
                      <a:r>
                        <a:rPr lang="en-US" sz="1000" b="1" u="none" strike="noStrike" cap="none" dirty="0">
                          <a:highlight>
                            <a:srgbClr val="FFCD00"/>
                          </a:highlight>
                        </a:rPr>
                        <a:t>)</a:t>
                      </a:r>
                      <a:endParaRPr sz="900" b="1" u="none" strike="noStrike" cap="none" dirty="0">
                        <a:solidFill>
                          <a:srgbClr val="000000"/>
                        </a:solidFill>
                        <a:highlight>
                          <a:srgbClr val="FFCD00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>
                    <a:solidFill>
                      <a:srgbClr val="FFCD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 dirty="0" err="1">
                          <a:highlight>
                            <a:srgbClr val="FFCD00"/>
                          </a:highlight>
                        </a:rPr>
                        <a:t>시가총액</a:t>
                      </a:r>
                      <a:endParaRPr sz="900" b="1" u="none" strike="noStrike" cap="none" dirty="0">
                        <a:solidFill>
                          <a:srgbClr val="000000"/>
                        </a:solidFill>
                        <a:highlight>
                          <a:srgbClr val="FFCD00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375" marR="57375" marT="15750" marB="15750" anchor="ctr">
                    <a:solidFill>
                      <a:srgbClr val="FFCD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72" name="Google Shape;272;p17"/>
          <p:cNvGrpSpPr/>
          <p:nvPr/>
        </p:nvGrpSpPr>
        <p:grpSpPr>
          <a:xfrm>
            <a:off x="7502903" y="0"/>
            <a:ext cx="1641097" cy="700995"/>
            <a:chOff x="545843" y="3551853"/>
            <a:chExt cx="5896291" cy="2486439"/>
          </a:xfrm>
        </p:grpSpPr>
        <p:sp>
          <p:nvSpPr>
            <p:cNvPr id="273" name="Google Shape;273;p17"/>
            <p:cNvSpPr/>
            <p:nvPr/>
          </p:nvSpPr>
          <p:spPr>
            <a:xfrm>
              <a:off x="545843" y="3551853"/>
              <a:ext cx="1472689" cy="2486439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17"/>
            <p:cNvSpPr/>
            <p:nvPr/>
          </p:nvSpPr>
          <p:spPr>
            <a:xfrm>
              <a:off x="1997207" y="3551853"/>
              <a:ext cx="1472690" cy="1593060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17"/>
            <p:cNvSpPr/>
            <p:nvPr/>
          </p:nvSpPr>
          <p:spPr>
            <a:xfrm>
              <a:off x="3469896" y="3551853"/>
              <a:ext cx="1472690" cy="1593060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17"/>
            <p:cNvSpPr/>
            <p:nvPr/>
          </p:nvSpPr>
          <p:spPr>
            <a:xfrm>
              <a:off x="4969444" y="3551853"/>
              <a:ext cx="1472690" cy="1593060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7" name="Google Shape;277;p17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8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283" name="Google Shape;283;p18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200" b="1">
                <a:highlight>
                  <a:srgbClr val="FFCD00"/>
                </a:highlight>
              </a:rPr>
              <a:t>Altman 한국형 K2모델</a:t>
            </a:r>
            <a:r>
              <a:rPr lang="en-US" sz="1200" b="1"/>
              <a:t>에 따른 기업 분류 판단기준</a:t>
            </a:r>
            <a:endParaRPr sz="12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2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2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2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2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2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2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200" b="1"/>
          </a:p>
          <a:p>
            <a:pPr marL="76200" lvl="0" indent="0" algn="just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n-US" sz="1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※</a:t>
            </a: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706개 기업 Z 전체평균 6.6438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" lvl="0" indent="0" algn="just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n-US" sz="1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※</a:t>
            </a: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Z 전체평균 정상 부실간의 평균차 24.6047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" lvl="0" indent="0" algn="just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200" b="1"/>
          </a:p>
        </p:txBody>
      </p:sp>
      <p:sp>
        <p:nvSpPr>
          <p:cNvPr id="284" name="Google Shape;284;p18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285" name="Google Shape;285;p18"/>
          <p:cNvSpPr txBox="1"/>
          <p:nvPr/>
        </p:nvSpPr>
        <p:spPr>
          <a:xfrm>
            <a:off x="2409950" y="795117"/>
            <a:ext cx="412039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Data Preprocessing / EDA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aphicFrame>
        <p:nvGraphicFramePr>
          <p:cNvPr id="286" name="Google Shape;286;p18"/>
          <p:cNvGraphicFramePr/>
          <p:nvPr/>
        </p:nvGraphicFramePr>
        <p:xfrm>
          <a:off x="1541145" y="1865492"/>
          <a:ext cx="5918850" cy="1502500"/>
        </p:xfrm>
        <a:graphic>
          <a:graphicData uri="http://schemas.openxmlformats.org/drawingml/2006/table">
            <a:tbl>
              <a:tblPr firstRow="1" firstCol="1" bandRow="1">
                <a:noFill/>
                <a:tableStyleId>{4D9EB66F-1FA9-4FDE-9DB3-DB622A6A229C}</a:tableStyleId>
              </a:tblPr>
              <a:tblGrid>
                <a:gridCol w="15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9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9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9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5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K2(Z) 범위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상태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기업 수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K2(Z)평균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K2&lt;-2.30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상대적 부실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163개 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-8.7648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-2.30≤K2≤0.75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유보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96개 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-0.7005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K2&gt;0.75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건전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447개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15.8399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87" name="Google Shape;287;p18"/>
          <p:cNvGrpSpPr/>
          <p:nvPr/>
        </p:nvGrpSpPr>
        <p:grpSpPr>
          <a:xfrm>
            <a:off x="7502903" y="0"/>
            <a:ext cx="1641097" cy="700995"/>
            <a:chOff x="545843" y="3551853"/>
            <a:chExt cx="5896291" cy="2486439"/>
          </a:xfrm>
        </p:grpSpPr>
        <p:sp>
          <p:nvSpPr>
            <p:cNvPr id="288" name="Google Shape;288;p18"/>
            <p:cNvSpPr/>
            <p:nvPr/>
          </p:nvSpPr>
          <p:spPr>
            <a:xfrm>
              <a:off x="545843" y="3551853"/>
              <a:ext cx="1472689" cy="2486439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18"/>
            <p:cNvSpPr/>
            <p:nvPr/>
          </p:nvSpPr>
          <p:spPr>
            <a:xfrm>
              <a:off x="1997207" y="3551853"/>
              <a:ext cx="1472690" cy="1593060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18"/>
            <p:cNvSpPr/>
            <p:nvPr/>
          </p:nvSpPr>
          <p:spPr>
            <a:xfrm>
              <a:off x="3469896" y="3551853"/>
              <a:ext cx="1472690" cy="1593060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18"/>
            <p:cNvSpPr/>
            <p:nvPr/>
          </p:nvSpPr>
          <p:spPr>
            <a:xfrm>
              <a:off x="4969444" y="3551853"/>
              <a:ext cx="1472690" cy="1593060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2" name="Google Shape;292;p18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9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298" name="Google Shape;298;p19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200" b="1">
                <a:highlight>
                  <a:srgbClr val="FFCD00"/>
                </a:highlight>
              </a:rPr>
              <a:t>T-검정</a:t>
            </a:r>
            <a:endParaRPr sz="1200" b="1">
              <a:highlight>
                <a:srgbClr val="FFCD00"/>
              </a:highlight>
            </a:endParaRPr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/>
              <a:t>데이터의 통계적 유의미성에 대한 검증</a:t>
            </a:r>
            <a:endParaRPr sz="100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/>
              <a:t>이분산(시총기준)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2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2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2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2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2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2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2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2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2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800"/>
              <a:t>※ 유의수준 P값이 0.05보다 작으므로 귀무가설이 기각되고 대립가설이 채택되어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800"/>
              <a:t> 통계적 유의미성이 있다고 볼 수 있음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200" b="1"/>
          </a:p>
        </p:txBody>
      </p:sp>
      <p:sp>
        <p:nvSpPr>
          <p:cNvPr id="299" name="Google Shape;299;p19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300" name="Google Shape;300;p19"/>
          <p:cNvSpPr txBox="1"/>
          <p:nvPr/>
        </p:nvSpPr>
        <p:spPr>
          <a:xfrm>
            <a:off x="2409950" y="795117"/>
            <a:ext cx="412039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Data Preprocessing / EDA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aphicFrame>
        <p:nvGraphicFramePr>
          <p:cNvPr id="301" name="Google Shape;301;p19"/>
          <p:cNvGraphicFramePr/>
          <p:nvPr/>
        </p:nvGraphicFramePr>
        <p:xfrm>
          <a:off x="1569720" y="2211483"/>
          <a:ext cx="5867375" cy="2301200"/>
        </p:xfrm>
        <a:graphic>
          <a:graphicData uri="http://schemas.openxmlformats.org/drawingml/2006/table">
            <a:tbl>
              <a:tblPr firstRow="1" firstCol="1" bandRow="1">
                <a:noFill/>
                <a:tableStyleId>{4D9EB66F-1FA9-4FDE-9DB3-DB622A6A229C}</a:tableStyleId>
              </a:tblPr>
              <a:tblGrid>
                <a:gridCol w="198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0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0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9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　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변수 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변수 2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/>
                        <a:t>평균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2.63304E+11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1.18242E+12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/>
                        <a:t>분산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1.77065E+23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8.39455E+24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/>
                        <a:t>관측수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163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163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/>
                        <a:t>가설 평균차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12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　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/>
                        <a:t>자유도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169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　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/>
                        <a:t>t 통계량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-4.008067089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　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/>
                        <a:t>P(T&lt;=t) 단측  검정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4.58276E-05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　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9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/>
                        <a:t>t 기각치 단측 검정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1.653919942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　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9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/>
                        <a:t>P(T&lt;=t) 양측  검정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9.16552E-05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　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9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/>
                        <a:t>t 기각치 양측 검정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1.974100447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　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2" name="Google Shape;302;p19"/>
          <p:cNvGrpSpPr/>
          <p:nvPr/>
        </p:nvGrpSpPr>
        <p:grpSpPr>
          <a:xfrm>
            <a:off x="7502903" y="0"/>
            <a:ext cx="1641097" cy="700995"/>
            <a:chOff x="545843" y="3551853"/>
            <a:chExt cx="5896291" cy="2486439"/>
          </a:xfrm>
        </p:grpSpPr>
        <p:sp>
          <p:nvSpPr>
            <p:cNvPr id="303" name="Google Shape;303;p19"/>
            <p:cNvSpPr/>
            <p:nvPr/>
          </p:nvSpPr>
          <p:spPr>
            <a:xfrm>
              <a:off x="545843" y="3551853"/>
              <a:ext cx="1472689" cy="2486439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19"/>
            <p:cNvSpPr/>
            <p:nvPr/>
          </p:nvSpPr>
          <p:spPr>
            <a:xfrm>
              <a:off x="1997207" y="3551853"/>
              <a:ext cx="1472690" cy="1593060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19"/>
            <p:cNvSpPr/>
            <p:nvPr/>
          </p:nvSpPr>
          <p:spPr>
            <a:xfrm>
              <a:off x="3469896" y="3551853"/>
              <a:ext cx="1472690" cy="1593060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19"/>
            <p:cNvSpPr/>
            <p:nvPr/>
          </p:nvSpPr>
          <p:spPr>
            <a:xfrm>
              <a:off x="4969444" y="3551853"/>
              <a:ext cx="1472690" cy="1593060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7" name="Google Shape;307;p19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0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313" name="Google Shape;313;p20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200" b="1">
                <a:highlight>
                  <a:srgbClr val="FFCD00"/>
                </a:highlight>
              </a:rPr>
              <a:t>통계적 유의성 확인 후 기업에 대한 F_Score 비교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200"/>
              <a:t>전체 706개 기업 (F-Score)</a:t>
            </a:r>
            <a:endParaRPr/>
          </a:p>
        </p:txBody>
      </p:sp>
      <p:sp>
        <p:nvSpPr>
          <p:cNvPr id="314" name="Google Shape;314;p20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315" name="Google Shape;315;p20"/>
          <p:cNvSpPr txBox="1"/>
          <p:nvPr/>
        </p:nvSpPr>
        <p:spPr>
          <a:xfrm>
            <a:off x="2409950" y="795117"/>
            <a:ext cx="412039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Data Preprocessing / EDA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aphicFrame>
        <p:nvGraphicFramePr>
          <p:cNvPr id="316" name="Google Shape;316;p20"/>
          <p:cNvGraphicFramePr/>
          <p:nvPr/>
        </p:nvGraphicFramePr>
        <p:xfrm>
          <a:off x="1562100" y="2002949"/>
          <a:ext cx="5882700" cy="647700"/>
        </p:xfrm>
        <a:graphic>
          <a:graphicData uri="http://schemas.openxmlformats.org/drawingml/2006/table">
            <a:tbl>
              <a:tblPr firstRow="1" firstCol="1" bandRow="1">
                <a:noFill/>
                <a:tableStyleId>{4D9EB66F-1FA9-4FDE-9DB3-DB622A6A229C}</a:tableStyleId>
              </a:tblPr>
              <a:tblGrid>
                <a:gridCol w="882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F_Score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9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8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7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5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4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3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2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기업수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8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26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92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146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188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152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78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15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누적기업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8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34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126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272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460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612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690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705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706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17" name="Google Shape;317;p20" descr="그림입니다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85210" y="2880360"/>
            <a:ext cx="3945130" cy="19963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8" name="Google Shape;318;p20"/>
          <p:cNvGrpSpPr/>
          <p:nvPr/>
        </p:nvGrpSpPr>
        <p:grpSpPr>
          <a:xfrm>
            <a:off x="7502903" y="0"/>
            <a:ext cx="1641097" cy="700995"/>
            <a:chOff x="545843" y="3551853"/>
            <a:chExt cx="5896291" cy="2486439"/>
          </a:xfrm>
        </p:grpSpPr>
        <p:sp>
          <p:nvSpPr>
            <p:cNvPr id="319" name="Google Shape;319;p20"/>
            <p:cNvSpPr/>
            <p:nvPr/>
          </p:nvSpPr>
          <p:spPr>
            <a:xfrm>
              <a:off x="545843" y="3551853"/>
              <a:ext cx="1472689" cy="2486439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20"/>
            <p:cNvSpPr/>
            <p:nvPr/>
          </p:nvSpPr>
          <p:spPr>
            <a:xfrm>
              <a:off x="1997207" y="3551853"/>
              <a:ext cx="1472690" cy="1593060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20"/>
            <p:cNvSpPr/>
            <p:nvPr/>
          </p:nvSpPr>
          <p:spPr>
            <a:xfrm>
              <a:off x="3469896" y="3551853"/>
              <a:ext cx="1472690" cy="1593060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20"/>
            <p:cNvSpPr/>
            <p:nvPr/>
          </p:nvSpPr>
          <p:spPr>
            <a:xfrm>
              <a:off x="4969444" y="3551853"/>
              <a:ext cx="1472690" cy="1593060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3" name="Google Shape;323;p20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1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329" name="Google Shape;329;p21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200" b="1">
                <a:highlight>
                  <a:srgbClr val="FFCD00"/>
                </a:highlight>
              </a:rPr>
              <a:t>통계적 유의성 확인 후 기업에 대한 F_Score 비교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200"/>
              <a:t>상대적 부실 기업 163개 (K2&lt;-2.30)</a:t>
            </a:r>
            <a:endParaRPr/>
          </a:p>
        </p:txBody>
      </p:sp>
      <p:sp>
        <p:nvSpPr>
          <p:cNvPr id="330" name="Google Shape;330;p21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331" name="Google Shape;331;p21"/>
          <p:cNvSpPr txBox="1"/>
          <p:nvPr/>
        </p:nvSpPr>
        <p:spPr>
          <a:xfrm>
            <a:off x="2409950" y="795117"/>
            <a:ext cx="412039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Data Preprocessing / EDA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aphicFrame>
        <p:nvGraphicFramePr>
          <p:cNvPr id="332" name="Google Shape;332;p21"/>
          <p:cNvGraphicFramePr/>
          <p:nvPr/>
        </p:nvGraphicFramePr>
        <p:xfrm>
          <a:off x="1562100" y="2002949"/>
          <a:ext cx="5882700" cy="647700"/>
        </p:xfrm>
        <a:graphic>
          <a:graphicData uri="http://schemas.openxmlformats.org/drawingml/2006/table">
            <a:tbl>
              <a:tblPr firstRow="1" firstCol="1" bandRow="1">
                <a:noFill/>
                <a:tableStyleId>{4D9EB66F-1FA9-4FDE-9DB3-DB622A6A229C}</a:tableStyleId>
              </a:tblPr>
              <a:tblGrid>
                <a:gridCol w="882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F_Score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기업수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22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24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17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14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누적기업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19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65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82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33" name="Google Shape;333;p21" descr="그림입니다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85209" y="2880361"/>
            <a:ext cx="3945132" cy="19963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4" name="Google Shape;334;p21"/>
          <p:cNvGrpSpPr/>
          <p:nvPr/>
        </p:nvGrpSpPr>
        <p:grpSpPr>
          <a:xfrm>
            <a:off x="7502903" y="0"/>
            <a:ext cx="1641097" cy="700995"/>
            <a:chOff x="545843" y="3551853"/>
            <a:chExt cx="5896291" cy="2486439"/>
          </a:xfrm>
        </p:grpSpPr>
        <p:sp>
          <p:nvSpPr>
            <p:cNvPr id="335" name="Google Shape;335;p21"/>
            <p:cNvSpPr/>
            <p:nvPr/>
          </p:nvSpPr>
          <p:spPr>
            <a:xfrm>
              <a:off x="545843" y="3551853"/>
              <a:ext cx="1472689" cy="2486439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21"/>
            <p:cNvSpPr/>
            <p:nvPr/>
          </p:nvSpPr>
          <p:spPr>
            <a:xfrm>
              <a:off x="1997207" y="3551853"/>
              <a:ext cx="1472690" cy="1593060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21"/>
            <p:cNvSpPr/>
            <p:nvPr/>
          </p:nvSpPr>
          <p:spPr>
            <a:xfrm>
              <a:off x="3469896" y="3551853"/>
              <a:ext cx="1472690" cy="1593060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21"/>
            <p:cNvSpPr/>
            <p:nvPr/>
          </p:nvSpPr>
          <p:spPr>
            <a:xfrm>
              <a:off x="4969444" y="3551853"/>
              <a:ext cx="1472690" cy="1593060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9" name="Google Shape;339;p21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2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345" name="Google Shape;345;p22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200" b="1">
                <a:highlight>
                  <a:srgbClr val="FFCD00"/>
                </a:highlight>
              </a:rPr>
              <a:t>통계적 유의성 확인 후 기업에 대한 F_Score 비교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200"/>
              <a:t>유보 기업 96개 (-2.30≤K2≤0.75) </a:t>
            </a:r>
            <a:endParaRPr/>
          </a:p>
        </p:txBody>
      </p:sp>
      <p:sp>
        <p:nvSpPr>
          <p:cNvPr id="346" name="Google Shape;346;p22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347" name="Google Shape;347;p22"/>
          <p:cNvSpPr txBox="1"/>
          <p:nvPr/>
        </p:nvSpPr>
        <p:spPr>
          <a:xfrm>
            <a:off x="2409950" y="795117"/>
            <a:ext cx="412039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Data Preprocessing / EDA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aphicFrame>
        <p:nvGraphicFramePr>
          <p:cNvPr id="348" name="Google Shape;348;p22"/>
          <p:cNvGraphicFramePr/>
          <p:nvPr/>
        </p:nvGraphicFramePr>
        <p:xfrm>
          <a:off x="1562100" y="2002949"/>
          <a:ext cx="5882700" cy="647700"/>
        </p:xfrm>
        <a:graphic>
          <a:graphicData uri="http://schemas.openxmlformats.org/drawingml/2006/table">
            <a:tbl>
              <a:tblPr firstRow="1" firstCol="1" bandRow="1">
                <a:noFill/>
                <a:tableStyleId>{4D9EB66F-1FA9-4FDE-9DB3-DB622A6A229C}</a:tableStyleId>
              </a:tblPr>
              <a:tblGrid>
                <a:gridCol w="882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F_Score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기업수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22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24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17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14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누적기업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19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65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82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49" name="Google Shape;349;p22" descr="그림입니다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3659" y="2880361"/>
            <a:ext cx="3916682" cy="19963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0" name="Google Shape;350;p22"/>
          <p:cNvGrpSpPr/>
          <p:nvPr/>
        </p:nvGrpSpPr>
        <p:grpSpPr>
          <a:xfrm>
            <a:off x="7502903" y="0"/>
            <a:ext cx="1641097" cy="700995"/>
            <a:chOff x="545843" y="3551853"/>
            <a:chExt cx="5896291" cy="2486439"/>
          </a:xfrm>
        </p:grpSpPr>
        <p:sp>
          <p:nvSpPr>
            <p:cNvPr id="351" name="Google Shape;351;p22"/>
            <p:cNvSpPr/>
            <p:nvPr/>
          </p:nvSpPr>
          <p:spPr>
            <a:xfrm>
              <a:off x="545843" y="3551853"/>
              <a:ext cx="1472689" cy="2486439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22"/>
            <p:cNvSpPr/>
            <p:nvPr/>
          </p:nvSpPr>
          <p:spPr>
            <a:xfrm>
              <a:off x="1997207" y="3551853"/>
              <a:ext cx="1472690" cy="1593060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22"/>
            <p:cNvSpPr/>
            <p:nvPr/>
          </p:nvSpPr>
          <p:spPr>
            <a:xfrm>
              <a:off x="3469896" y="3551853"/>
              <a:ext cx="1472690" cy="1593060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22"/>
            <p:cNvSpPr/>
            <p:nvPr/>
          </p:nvSpPr>
          <p:spPr>
            <a:xfrm>
              <a:off x="4969444" y="3551853"/>
              <a:ext cx="1472690" cy="1593060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5" name="Google Shape;355;p22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3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361" name="Google Shape;361;p23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200" b="1">
                <a:highlight>
                  <a:srgbClr val="FFCD00"/>
                </a:highlight>
              </a:rPr>
              <a:t>통계적 유의성 확인 후 기업에 대한 F_Score 비교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200"/>
              <a:t>건전 기업 447개 (K2&gt;0.75)</a:t>
            </a:r>
            <a:endParaRPr/>
          </a:p>
        </p:txBody>
      </p:sp>
      <p:sp>
        <p:nvSpPr>
          <p:cNvPr id="362" name="Google Shape;362;p23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363" name="Google Shape;363;p23"/>
          <p:cNvSpPr txBox="1"/>
          <p:nvPr/>
        </p:nvSpPr>
        <p:spPr>
          <a:xfrm>
            <a:off x="2409950" y="795117"/>
            <a:ext cx="412039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Data Preprocessing / EDA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aphicFrame>
        <p:nvGraphicFramePr>
          <p:cNvPr id="364" name="Google Shape;364;p23"/>
          <p:cNvGraphicFramePr/>
          <p:nvPr/>
        </p:nvGraphicFramePr>
        <p:xfrm>
          <a:off x="1562100" y="2002949"/>
          <a:ext cx="5882700" cy="647700"/>
        </p:xfrm>
        <a:graphic>
          <a:graphicData uri="http://schemas.openxmlformats.org/drawingml/2006/table">
            <a:tbl>
              <a:tblPr firstRow="1" firstCol="1" bandRow="1">
                <a:noFill/>
                <a:tableStyleId>{4D9EB66F-1FA9-4FDE-9DB3-DB622A6A229C}</a:tableStyleId>
              </a:tblPr>
              <a:tblGrid>
                <a:gridCol w="882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F_Score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기업수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22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24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17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14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누적기업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19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65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82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65" name="Google Shape;365;p23" descr="그림입니다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3659" y="2880361"/>
            <a:ext cx="3916682" cy="19963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6" name="Google Shape;366;p23"/>
          <p:cNvGrpSpPr/>
          <p:nvPr/>
        </p:nvGrpSpPr>
        <p:grpSpPr>
          <a:xfrm>
            <a:off x="7502903" y="0"/>
            <a:ext cx="1641097" cy="700995"/>
            <a:chOff x="545843" y="3551853"/>
            <a:chExt cx="5896291" cy="2486439"/>
          </a:xfrm>
        </p:grpSpPr>
        <p:sp>
          <p:nvSpPr>
            <p:cNvPr id="367" name="Google Shape;367;p23"/>
            <p:cNvSpPr/>
            <p:nvPr/>
          </p:nvSpPr>
          <p:spPr>
            <a:xfrm>
              <a:off x="545843" y="3551853"/>
              <a:ext cx="1472689" cy="2486439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23"/>
            <p:cNvSpPr/>
            <p:nvPr/>
          </p:nvSpPr>
          <p:spPr>
            <a:xfrm>
              <a:off x="1997207" y="3551853"/>
              <a:ext cx="1472690" cy="1593060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23"/>
            <p:cNvSpPr/>
            <p:nvPr/>
          </p:nvSpPr>
          <p:spPr>
            <a:xfrm>
              <a:off x="3469896" y="3551853"/>
              <a:ext cx="1472690" cy="1593060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23"/>
            <p:cNvSpPr/>
            <p:nvPr/>
          </p:nvSpPr>
          <p:spPr>
            <a:xfrm>
              <a:off x="4969444" y="3551853"/>
              <a:ext cx="1472690" cy="1593060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1" name="Google Shape;371;p23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4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377" name="Google Shape;377;p24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292405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 dirty="0">
                <a:highlight>
                  <a:srgbClr val="FFCD00"/>
                </a:highlight>
              </a:rPr>
              <a:t>Quant </a:t>
            </a:r>
            <a:endParaRPr dirty="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400" b="1" dirty="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200" b="1" dirty="0">
                <a:highlight>
                  <a:srgbClr val="FFCD00"/>
                </a:highlight>
              </a:rPr>
              <a:t>Quantitative(</a:t>
            </a:r>
            <a:r>
              <a:rPr lang="en-US" sz="1200" b="1" dirty="0" err="1">
                <a:highlight>
                  <a:srgbClr val="FFCD00"/>
                </a:highlight>
              </a:rPr>
              <a:t>계량적인</a:t>
            </a:r>
            <a:r>
              <a:rPr lang="en-US" sz="1200" b="1" dirty="0">
                <a:highlight>
                  <a:srgbClr val="FFCD00"/>
                </a:highlight>
              </a:rPr>
              <a:t>) + Analyst(</a:t>
            </a:r>
            <a:r>
              <a:rPr lang="en-US" sz="1200" b="1" dirty="0" err="1">
                <a:highlight>
                  <a:srgbClr val="FFCD00"/>
                </a:highlight>
              </a:rPr>
              <a:t>분석가</a:t>
            </a:r>
            <a:r>
              <a:rPr lang="en-US" sz="1200" b="1" dirty="0">
                <a:highlight>
                  <a:srgbClr val="FFCD00"/>
                </a:highlight>
              </a:rPr>
              <a:t>) </a:t>
            </a:r>
            <a:r>
              <a:rPr lang="en-US" sz="1200" dirty="0"/>
              <a:t>의 </a:t>
            </a:r>
            <a:r>
              <a:rPr lang="en-US" sz="1200" dirty="0" err="1"/>
              <a:t>합성어</a:t>
            </a:r>
            <a:endParaRPr dirty="0"/>
          </a:p>
          <a:p>
            <a:pPr marL="266700" lvl="0" indent="-1143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endParaRPr sz="1200" dirty="0"/>
          </a:p>
          <a:p>
            <a:pPr marL="182563" lvl="0" indent="-1825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en-US" sz="1200" dirty="0" err="1"/>
              <a:t>수학</a:t>
            </a:r>
            <a:r>
              <a:rPr lang="en-US" sz="1200" dirty="0"/>
              <a:t> </a:t>
            </a:r>
            <a:r>
              <a:rPr lang="en-US" sz="1200" dirty="0" err="1"/>
              <a:t>통계적</a:t>
            </a:r>
            <a:r>
              <a:rPr lang="en-US" sz="1200" dirty="0"/>
              <a:t> </a:t>
            </a:r>
            <a:r>
              <a:rPr lang="en-US" sz="1200" dirty="0" err="1"/>
              <a:t>지식을</a:t>
            </a:r>
            <a:r>
              <a:rPr lang="en-US" sz="1200" dirty="0"/>
              <a:t> </a:t>
            </a:r>
            <a:r>
              <a:rPr lang="en-US" sz="1200" dirty="0" err="1"/>
              <a:t>이용해</a:t>
            </a:r>
            <a:r>
              <a:rPr lang="en-US" sz="1200" dirty="0"/>
              <a:t> </a:t>
            </a:r>
            <a:r>
              <a:rPr lang="en-US" sz="1200" dirty="0" err="1"/>
              <a:t>투자법칙을</a:t>
            </a:r>
            <a:r>
              <a:rPr lang="en-US" sz="1200" dirty="0"/>
              <a:t> </a:t>
            </a:r>
            <a:r>
              <a:rPr lang="en-US" sz="1200" dirty="0" err="1"/>
              <a:t>발굴</a:t>
            </a:r>
            <a:endParaRPr dirty="0"/>
          </a:p>
          <a:p>
            <a:pPr marL="182563" lvl="0" indent="-1825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en-US" sz="1200" dirty="0" err="1"/>
              <a:t>인간의</a:t>
            </a:r>
            <a:r>
              <a:rPr lang="en-US" sz="1200" dirty="0"/>
              <a:t> </a:t>
            </a:r>
            <a:r>
              <a:rPr lang="en-US" sz="1200" dirty="0" err="1"/>
              <a:t>느낌</a:t>
            </a:r>
            <a:r>
              <a:rPr lang="en-US" sz="1200" dirty="0"/>
              <a:t> </a:t>
            </a:r>
            <a:r>
              <a:rPr lang="en-US" sz="1200" dirty="0" err="1"/>
              <a:t>감정</a:t>
            </a:r>
            <a:r>
              <a:rPr lang="en-US" sz="1200" dirty="0"/>
              <a:t> </a:t>
            </a:r>
            <a:r>
              <a:rPr lang="en-US" sz="1200" dirty="0" err="1"/>
              <a:t>배제</a:t>
            </a:r>
            <a:endParaRPr dirty="0"/>
          </a:p>
          <a:p>
            <a:pPr marL="182563" lvl="0" indent="-1825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en-US" sz="1200" dirty="0" err="1"/>
              <a:t>투자모델</a:t>
            </a:r>
            <a:r>
              <a:rPr lang="en-US" sz="1200" dirty="0"/>
              <a:t> </a:t>
            </a:r>
            <a:r>
              <a:rPr lang="en-US" sz="1200" dirty="0" err="1"/>
              <a:t>발굴</a:t>
            </a:r>
            <a:r>
              <a:rPr lang="en-US" sz="1200" dirty="0"/>
              <a:t>, </a:t>
            </a:r>
            <a:r>
              <a:rPr lang="en-US" sz="1200" dirty="0" err="1"/>
              <a:t>금융시장</a:t>
            </a:r>
            <a:r>
              <a:rPr lang="en-US" sz="1200" dirty="0"/>
              <a:t> </a:t>
            </a:r>
            <a:r>
              <a:rPr lang="en-US" sz="1200" dirty="0" err="1"/>
              <a:t>예측</a:t>
            </a:r>
            <a:r>
              <a:rPr lang="en-US" sz="1200" dirty="0"/>
              <a:t> </a:t>
            </a:r>
            <a:r>
              <a:rPr lang="en-US" sz="1200" dirty="0" err="1"/>
              <a:t>하는</a:t>
            </a:r>
            <a:r>
              <a:rPr lang="en-US" sz="1200" dirty="0"/>
              <a:t> </a:t>
            </a:r>
            <a:r>
              <a:rPr lang="en-US" sz="1200" dirty="0" err="1"/>
              <a:t>사람들</a:t>
            </a:r>
            <a:r>
              <a:rPr lang="en-US" sz="1200" dirty="0"/>
              <a:t> </a:t>
            </a:r>
            <a:r>
              <a:rPr lang="en-US" sz="1200" dirty="0" err="1"/>
              <a:t>혹은</a:t>
            </a:r>
            <a:r>
              <a:rPr lang="en-US" sz="1200" dirty="0"/>
              <a:t> </a:t>
            </a:r>
            <a:r>
              <a:rPr lang="en-US" sz="1200" dirty="0" err="1"/>
              <a:t>기법</a:t>
            </a:r>
            <a:endParaRPr sz="1200" dirty="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200" dirty="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200" dirty="0"/>
          </a:p>
        </p:txBody>
      </p:sp>
      <p:sp>
        <p:nvSpPr>
          <p:cNvPr id="378" name="Google Shape;378;p24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379" name="Google Shape;379;p24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Security Selection &amp; Backtesting Quant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380" name="Google Shape;380;p24"/>
          <p:cNvGrpSpPr/>
          <p:nvPr/>
        </p:nvGrpSpPr>
        <p:grpSpPr>
          <a:xfrm>
            <a:off x="7502903" y="0"/>
            <a:ext cx="1641097" cy="700995"/>
            <a:chOff x="545843" y="3551853"/>
            <a:chExt cx="5896291" cy="2486439"/>
          </a:xfrm>
        </p:grpSpPr>
        <p:sp>
          <p:nvSpPr>
            <p:cNvPr id="381" name="Google Shape;381;p24"/>
            <p:cNvSpPr/>
            <p:nvPr/>
          </p:nvSpPr>
          <p:spPr>
            <a:xfrm>
              <a:off x="545843" y="3551853"/>
              <a:ext cx="1472689" cy="1593060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24"/>
            <p:cNvSpPr/>
            <p:nvPr/>
          </p:nvSpPr>
          <p:spPr>
            <a:xfrm>
              <a:off x="1997208" y="3551853"/>
              <a:ext cx="1472689" cy="2486439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24"/>
            <p:cNvSpPr/>
            <p:nvPr/>
          </p:nvSpPr>
          <p:spPr>
            <a:xfrm>
              <a:off x="3469896" y="3551853"/>
              <a:ext cx="1472690" cy="1593060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24"/>
            <p:cNvSpPr/>
            <p:nvPr/>
          </p:nvSpPr>
          <p:spPr>
            <a:xfrm>
              <a:off x="4969444" y="3551853"/>
              <a:ext cx="1472690" cy="1593060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5" name="Google Shape;385;p24"/>
          <p:cNvSpPr txBox="1"/>
          <p:nvPr/>
        </p:nvSpPr>
        <p:spPr>
          <a:xfrm>
            <a:off x="4970270" y="1330305"/>
            <a:ext cx="326695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1200" b="1" i="0" u="none" strike="noStrike" cap="none" dirty="0" err="1">
                <a:solidFill>
                  <a:schemeClr val="dk1"/>
                </a:solidFill>
                <a:highlight>
                  <a:srgbClr val="FFCD00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사용할</a:t>
            </a:r>
            <a:r>
              <a:rPr lang="en-US" sz="1200" b="1" i="0" u="none" strike="noStrike" cap="none" dirty="0">
                <a:solidFill>
                  <a:schemeClr val="dk1"/>
                </a:solidFill>
                <a:highlight>
                  <a:srgbClr val="FFCD00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highlight>
                  <a:srgbClr val="FFCD00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전략</a:t>
            </a:r>
            <a:endParaRPr sz="1200" b="1" i="0" u="none" strike="noStrike" cap="none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Quattrocento Sans"/>
              <a:buNone/>
            </a:pPr>
            <a:endParaRPr sz="1200" b="0" i="0" u="none" strike="noStrike" cap="none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attrocento Sans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highlight>
                  <a:srgbClr val="FFCD00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Buy &amp; Hold 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r>
              <a:rPr lang="en-US" sz="1400" b="0" i="0" u="none" strike="noStrike" cap="none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바이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앤 </a:t>
            </a:r>
            <a:r>
              <a:rPr lang="en-US" sz="1400" b="0" i="0" u="none" strike="noStrike" cap="none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홀드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</a:t>
            </a:r>
            <a:endParaRPr dirty="0"/>
          </a:p>
          <a:p>
            <a:pPr marL="457200" marR="0" lvl="0" indent="-292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attrocento Sans"/>
              <a:buNone/>
            </a:pPr>
            <a:endParaRPr sz="1400" b="0" i="0" u="none" strike="noStrike" cap="none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attrocento Sans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highlight>
                  <a:srgbClr val="FFCD00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Bollinger Bands 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r>
              <a:rPr lang="en-US" sz="1400" b="0" i="0" u="none" strike="noStrike" cap="none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볼린저밴드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</a:t>
            </a:r>
            <a:endParaRPr dirty="0"/>
          </a:p>
          <a:p>
            <a:pPr marL="457200" marR="0" lvl="0" indent="-292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attrocento Sans"/>
              <a:buNone/>
            </a:pPr>
            <a:endParaRPr sz="1400" b="0" i="0" u="none" strike="noStrike" cap="none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attrocento Sans"/>
              <a:buNone/>
            </a:pPr>
            <a:r>
              <a:rPr lang="en-US" sz="1400" b="1" i="0" u="none" strike="noStrike" cap="none" dirty="0" err="1">
                <a:solidFill>
                  <a:schemeClr val="dk1"/>
                </a:solidFill>
                <a:highlight>
                  <a:srgbClr val="FFCD00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Quantstats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r>
              <a:rPr lang="en-US" sz="1400" b="0" i="0" u="none" strike="noStrike" cap="none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퀀트스탯</a:t>
            </a:r>
            <a:r>
              <a:rPr lang="ko-KR" altLang="en-US" sz="1400" b="0" i="0" u="none" strike="noStrike" cap="none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츠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</a:t>
            </a:r>
            <a:endParaRPr dirty="0"/>
          </a:p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attrocento Sans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endParaRPr dirty="0"/>
          </a:p>
        </p:txBody>
      </p:sp>
      <p:sp>
        <p:nvSpPr>
          <p:cNvPr id="386" name="Google Shape;386;p24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5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392" name="Google Shape;392;p25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393" name="Google Shape;393;p25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Security Selection &amp; Backtesting Quant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394" name="Google Shape;394;p25"/>
          <p:cNvGrpSpPr/>
          <p:nvPr/>
        </p:nvGrpSpPr>
        <p:grpSpPr>
          <a:xfrm>
            <a:off x="7502903" y="0"/>
            <a:ext cx="1641097" cy="700995"/>
            <a:chOff x="545843" y="3551853"/>
            <a:chExt cx="5896291" cy="2486439"/>
          </a:xfrm>
        </p:grpSpPr>
        <p:sp>
          <p:nvSpPr>
            <p:cNvPr id="395" name="Google Shape;395;p25"/>
            <p:cNvSpPr/>
            <p:nvPr/>
          </p:nvSpPr>
          <p:spPr>
            <a:xfrm>
              <a:off x="545843" y="3551853"/>
              <a:ext cx="1472689" cy="1593060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25"/>
            <p:cNvSpPr/>
            <p:nvPr/>
          </p:nvSpPr>
          <p:spPr>
            <a:xfrm>
              <a:off x="1997208" y="3551853"/>
              <a:ext cx="1472689" cy="2486439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25"/>
            <p:cNvSpPr/>
            <p:nvPr/>
          </p:nvSpPr>
          <p:spPr>
            <a:xfrm>
              <a:off x="3469896" y="3551853"/>
              <a:ext cx="1472690" cy="1593060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25"/>
            <p:cNvSpPr/>
            <p:nvPr/>
          </p:nvSpPr>
          <p:spPr>
            <a:xfrm>
              <a:off x="4969444" y="3551853"/>
              <a:ext cx="1472690" cy="1593060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9" name="Google Shape;399;p25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200" b="1">
                <a:highlight>
                  <a:srgbClr val="FFCD00"/>
                </a:highlight>
              </a:rPr>
              <a:t>통계적 유의성 확인 후 기업에 대한 F-Score 비교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200" b="1">
                <a:highlight>
                  <a:srgbClr val="FFCD00"/>
                </a:highlight>
              </a:rPr>
              <a:t>투자 유니버스 범위 내 </a:t>
            </a:r>
            <a:r>
              <a:rPr lang="en-US" sz="1200"/>
              <a:t>259개 중 </a:t>
            </a:r>
            <a:r>
              <a:rPr lang="en-US" sz="1200" b="1">
                <a:highlight>
                  <a:srgbClr val="FFCD00"/>
                </a:highlight>
              </a:rPr>
              <a:t>F-Score이 6점 이상인 기업 </a:t>
            </a:r>
            <a:r>
              <a:rPr lang="en-US" sz="1200"/>
              <a:t>86개(K2&lt;0.75 &amp; F-Score &gt;= 6 ) </a:t>
            </a:r>
            <a:endParaRPr/>
          </a:p>
        </p:txBody>
      </p:sp>
      <p:graphicFrame>
        <p:nvGraphicFramePr>
          <p:cNvPr id="400" name="Google Shape;400;p25"/>
          <p:cNvGraphicFramePr/>
          <p:nvPr/>
        </p:nvGraphicFramePr>
        <p:xfrm>
          <a:off x="1562100" y="2002949"/>
          <a:ext cx="5882700" cy="647700"/>
        </p:xfrm>
        <a:graphic>
          <a:graphicData uri="http://schemas.openxmlformats.org/drawingml/2006/table">
            <a:tbl>
              <a:tblPr firstRow="1" firstCol="1" bandRow="1">
                <a:noFill/>
                <a:tableStyleId>{4D9EB66F-1FA9-4FDE-9DB3-DB622A6A229C}</a:tableStyleId>
              </a:tblPr>
              <a:tblGrid>
                <a:gridCol w="882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F-Score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rgbClr val="C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</a:t>
                      </a:r>
                      <a:endParaRPr sz="1100" u="none" strike="noStrike" cap="none">
                        <a:solidFill>
                          <a:srgbClr val="C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rgbClr val="C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</a:t>
                      </a:r>
                      <a:endParaRPr sz="1100" u="none" strike="noStrike" cap="none">
                        <a:solidFill>
                          <a:srgbClr val="C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rgbClr val="C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1100" u="none" strike="noStrike" cap="none">
                        <a:solidFill>
                          <a:srgbClr val="C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rgbClr val="C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1100" u="none" strike="noStrike" cap="none">
                        <a:solidFill>
                          <a:srgbClr val="C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rgbClr val="C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1100" b="1" u="none" strike="noStrike" cap="none">
                        <a:solidFill>
                          <a:srgbClr val="C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기업수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rgbClr val="C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100" u="none" strike="noStrike" cap="none">
                        <a:solidFill>
                          <a:srgbClr val="C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rgbClr val="C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1100" u="none" strike="noStrike" cap="none">
                        <a:solidFill>
                          <a:srgbClr val="C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rgbClr val="C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30</a:t>
                      </a:r>
                      <a:endParaRPr sz="1100" u="none" strike="noStrike" cap="none">
                        <a:solidFill>
                          <a:srgbClr val="C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rgbClr val="C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49</a:t>
                      </a:r>
                      <a:endParaRPr sz="1100" u="none" strike="noStrike" cap="none">
                        <a:solidFill>
                          <a:srgbClr val="C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rgbClr val="C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64</a:t>
                      </a:r>
                      <a:endParaRPr sz="1100" b="1" u="none" strike="noStrike" cap="none">
                        <a:solidFill>
                          <a:srgbClr val="C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47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누적기업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rgbClr val="C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100" u="none" strike="noStrike" cap="none">
                        <a:solidFill>
                          <a:srgbClr val="C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rgbClr val="C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1100" u="none" strike="noStrike" cap="none">
                        <a:solidFill>
                          <a:srgbClr val="C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rgbClr val="C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37</a:t>
                      </a:r>
                      <a:endParaRPr sz="1100" u="none" strike="noStrike" cap="none">
                        <a:solidFill>
                          <a:srgbClr val="C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rgbClr val="C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86</a:t>
                      </a:r>
                      <a:endParaRPr sz="1100" u="none" strike="noStrike" cap="none">
                        <a:solidFill>
                          <a:srgbClr val="C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rgbClr val="C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150</a:t>
                      </a:r>
                      <a:endParaRPr sz="1100" b="1" u="none" strike="noStrike" cap="none">
                        <a:solidFill>
                          <a:srgbClr val="C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253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258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259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01" name="Google Shape;401;p25" descr="그림입니다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59380" y="2880361"/>
            <a:ext cx="3825240" cy="1996337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5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6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408" name="Google Shape;408;p26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409" name="Google Shape;409;p26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Security Selection &amp; Backtesting Quant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410" name="Google Shape;410;p26"/>
          <p:cNvGrpSpPr/>
          <p:nvPr/>
        </p:nvGrpSpPr>
        <p:grpSpPr>
          <a:xfrm>
            <a:off x="7502903" y="0"/>
            <a:ext cx="1641097" cy="700995"/>
            <a:chOff x="545843" y="3551853"/>
            <a:chExt cx="5896291" cy="2486439"/>
          </a:xfrm>
        </p:grpSpPr>
        <p:sp>
          <p:nvSpPr>
            <p:cNvPr id="411" name="Google Shape;411;p26"/>
            <p:cNvSpPr/>
            <p:nvPr/>
          </p:nvSpPr>
          <p:spPr>
            <a:xfrm>
              <a:off x="545843" y="3551853"/>
              <a:ext cx="1472689" cy="1593060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26"/>
            <p:cNvSpPr/>
            <p:nvPr/>
          </p:nvSpPr>
          <p:spPr>
            <a:xfrm>
              <a:off x="1997208" y="3551853"/>
              <a:ext cx="1472689" cy="2486439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26"/>
            <p:cNvSpPr/>
            <p:nvPr/>
          </p:nvSpPr>
          <p:spPr>
            <a:xfrm>
              <a:off x="3469896" y="3551853"/>
              <a:ext cx="1472690" cy="1593060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26"/>
            <p:cNvSpPr/>
            <p:nvPr/>
          </p:nvSpPr>
          <p:spPr>
            <a:xfrm>
              <a:off x="4969444" y="3551853"/>
              <a:ext cx="1472690" cy="1593060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5" name="Google Shape;415;p26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>
                <a:highlight>
                  <a:srgbClr val="FFCD00"/>
                </a:highlight>
              </a:rPr>
              <a:t>Buy &amp; Hold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주식을 일정 기간  장기보유한 후 투자 전략</a:t>
            </a: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벤치마크 : 코스피 지수</a:t>
            </a: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투자전략 : 100% 일시 매수 후 일정기간 경과 후 전량 매도</a:t>
            </a: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투자기간 설정 : 2009.1.1.~2019.12.31.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800" b="1"/>
              <a:t>(10년, 코로나 이상치를 제외 기간 설정)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200" b="1">
              <a:highlight>
                <a:srgbClr val="FFCD00"/>
              </a:highlight>
            </a:endParaRPr>
          </a:p>
        </p:txBody>
      </p:sp>
      <p:pic>
        <p:nvPicPr>
          <p:cNvPr id="416" name="Google Shape;416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6102" y="1597195"/>
            <a:ext cx="4091678" cy="257701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7" name="Google Shape;417;p26"/>
          <p:cNvGraphicFramePr/>
          <p:nvPr/>
        </p:nvGraphicFramePr>
        <p:xfrm>
          <a:off x="1529080" y="2211482"/>
          <a:ext cx="2951500" cy="1343975"/>
        </p:xfrm>
        <a:graphic>
          <a:graphicData uri="http://schemas.openxmlformats.org/drawingml/2006/table">
            <a:tbl>
              <a:tblPr firstRow="1" firstCol="1" bandRow="1">
                <a:noFill/>
                <a:tableStyleId>{4D9EB66F-1FA9-4FDE-9DB3-DB622A6A229C}</a:tableStyleId>
              </a:tblPr>
              <a:tblGrid>
                <a:gridCol w="64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CAGR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/>
                        <a:t>연 복리수익률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MDD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/>
                        <a:t>최대손실가능수익률=(최고가-최저가)/최고가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Sharp Ratio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/>
                        <a:t>(펀드수익률-벤치마크수익률)/(해당펀드수익률표준편차)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18" name="Google Shape;418;p26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7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424" name="Google Shape;424;p27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425" name="Google Shape;425;p27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Security Selection &amp; Backtesting Quant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426" name="Google Shape;426;p27"/>
          <p:cNvGrpSpPr/>
          <p:nvPr/>
        </p:nvGrpSpPr>
        <p:grpSpPr>
          <a:xfrm>
            <a:off x="7502903" y="0"/>
            <a:ext cx="1641097" cy="700995"/>
            <a:chOff x="545843" y="3551853"/>
            <a:chExt cx="5896291" cy="2486439"/>
          </a:xfrm>
        </p:grpSpPr>
        <p:sp>
          <p:nvSpPr>
            <p:cNvPr id="427" name="Google Shape;427;p27"/>
            <p:cNvSpPr/>
            <p:nvPr/>
          </p:nvSpPr>
          <p:spPr>
            <a:xfrm>
              <a:off x="545843" y="3551853"/>
              <a:ext cx="1472689" cy="1593060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27"/>
            <p:cNvSpPr/>
            <p:nvPr/>
          </p:nvSpPr>
          <p:spPr>
            <a:xfrm>
              <a:off x="1997208" y="3551853"/>
              <a:ext cx="1472689" cy="2486439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27"/>
            <p:cNvSpPr/>
            <p:nvPr/>
          </p:nvSpPr>
          <p:spPr>
            <a:xfrm>
              <a:off x="3469896" y="3551853"/>
              <a:ext cx="1472690" cy="1593060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27"/>
            <p:cNvSpPr/>
            <p:nvPr/>
          </p:nvSpPr>
          <p:spPr>
            <a:xfrm>
              <a:off x="4969444" y="3551853"/>
              <a:ext cx="1472690" cy="1593060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1" name="Google Shape;431;p27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>
                <a:highlight>
                  <a:srgbClr val="FFCD00"/>
                </a:highlight>
              </a:rPr>
              <a:t>Buy &amp; Hold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1. F_Score 6점 이상 86기업 추출 후 기간별 벤치마크 이상 기업 추출</a:t>
            </a: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800" b="1"/>
              <a:t>※ 벤치마크 : 코스피지수</a:t>
            </a:r>
            <a:endParaRPr sz="8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기간별 벤치마크수익률</a:t>
            </a: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200" b="1">
              <a:highlight>
                <a:srgbClr val="FFCD00"/>
              </a:highlight>
            </a:endParaRPr>
          </a:p>
        </p:txBody>
      </p:sp>
      <p:graphicFrame>
        <p:nvGraphicFramePr>
          <p:cNvPr id="432" name="Google Shape;432;p27"/>
          <p:cNvGraphicFramePr/>
          <p:nvPr/>
        </p:nvGraphicFramePr>
        <p:xfrm>
          <a:off x="1563052" y="2456021"/>
          <a:ext cx="3008900" cy="2293825"/>
        </p:xfrm>
        <a:graphic>
          <a:graphicData uri="http://schemas.openxmlformats.org/drawingml/2006/table">
            <a:tbl>
              <a:tblPr firstRow="1" firstCol="1" bandRow="1">
                <a:noFill/>
                <a:tableStyleId>{4D9EB66F-1FA9-4FDE-9DB3-DB622A6A229C}</a:tableStyleId>
              </a:tblPr>
              <a:tblGrid>
                <a:gridCol w="752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2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2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2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1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/>
                        <a:t> 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CAGR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Sharpe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MDD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1년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9.58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0.8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15.17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3년 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2.83%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0.29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26.50%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5년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2.74%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0.28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26.50%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10년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6.12%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0.45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26.50%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33" name="Google Shape;433;p27"/>
          <p:cNvGraphicFramePr/>
          <p:nvPr/>
        </p:nvGraphicFramePr>
        <p:xfrm>
          <a:off x="4883902" y="2456020"/>
          <a:ext cx="3307075" cy="2293825"/>
        </p:xfrm>
        <a:graphic>
          <a:graphicData uri="http://schemas.openxmlformats.org/drawingml/2006/table">
            <a:tbl>
              <a:tblPr firstRow="1" firstCol="1" bandRow="1">
                <a:noFill/>
                <a:tableStyleId>{4D9EB66F-1FA9-4FDE-9DB3-DB622A6A229C}</a:tableStyleId>
              </a:tblPr>
              <a:tblGrid>
                <a:gridCol w="78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8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1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 F-Score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9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8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7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6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1년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3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13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7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3년 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0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11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14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5년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0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2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12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18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10년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0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7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15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34" name="Google Shape;434;p27"/>
          <p:cNvSpPr txBox="1"/>
          <p:nvPr/>
        </p:nvSpPr>
        <p:spPr>
          <a:xfrm>
            <a:off x="4702099" y="2064624"/>
            <a:ext cx="2878849" cy="428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1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기간별 벤치마크 수익률 이상 F-Score 기업 수</a:t>
            </a:r>
            <a:endParaRPr sz="1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1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endParaRPr/>
          </a:p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endParaRPr sz="1200" b="1" i="0" u="none" strike="noStrike" cap="none">
              <a:solidFill>
                <a:schemeClr val="dk1"/>
              </a:solidFill>
              <a:highlight>
                <a:srgbClr val="FFCD00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35" name="Google Shape;435;p27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8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441" name="Google Shape;441;p28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442" name="Google Shape;442;p28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Security Selection &amp; Backtesting Quant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443" name="Google Shape;443;p28"/>
          <p:cNvGrpSpPr/>
          <p:nvPr/>
        </p:nvGrpSpPr>
        <p:grpSpPr>
          <a:xfrm>
            <a:off x="7502903" y="0"/>
            <a:ext cx="1641097" cy="700995"/>
            <a:chOff x="545843" y="3551853"/>
            <a:chExt cx="5896291" cy="2486439"/>
          </a:xfrm>
        </p:grpSpPr>
        <p:sp>
          <p:nvSpPr>
            <p:cNvPr id="444" name="Google Shape;444;p28"/>
            <p:cNvSpPr/>
            <p:nvPr/>
          </p:nvSpPr>
          <p:spPr>
            <a:xfrm>
              <a:off x="545843" y="3551853"/>
              <a:ext cx="1472689" cy="1593060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28"/>
            <p:cNvSpPr/>
            <p:nvPr/>
          </p:nvSpPr>
          <p:spPr>
            <a:xfrm>
              <a:off x="1997208" y="3551853"/>
              <a:ext cx="1472689" cy="2486439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28"/>
            <p:cNvSpPr/>
            <p:nvPr/>
          </p:nvSpPr>
          <p:spPr>
            <a:xfrm>
              <a:off x="3469896" y="3551853"/>
              <a:ext cx="1472690" cy="1593060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28"/>
            <p:cNvSpPr/>
            <p:nvPr/>
          </p:nvSpPr>
          <p:spPr>
            <a:xfrm>
              <a:off x="4969444" y="3551853"/>
              <a:ext cx="1472690" cy="1593060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8" name="Google Shape;448;p28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>
                <a:highlight>
                  <a:srgbClr val="FFCD00"/>
                </a:highlight>
              </a:rPr>
              <a:t>Buy &amp; Hold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2. 벤치마크 이상 기업 재 추출 후 상위 6종목 선정</a:t>
            </a: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800" b="1"/>
              <a:t>※ 벤치마크 : 코스피지수</a:t>
            </a:r>
            <a:endParaRPr sz="8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기간(1년) : 2019.1.1. ~ 2019.12.31.(1년)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200" b="1">
              <a:highlight>
                <a:srgbClr val="FFCD00"/>
              </a:highlight>
            </a:endParaRPr>
          </a:p>
        </p:txBody>
      </p:sp>
      <p:sp>
        <p:nvSpPr>
          <p:cNvPr id="449" name="Google Shape;449;p28"/>
          <p:cNvSpPr txBox="1"/>
          <p:nvPr/>
        </p:nvSpPr>
        <p:spPr>
          <a:xfrm>
            <a:off x="1381250" y="3479757"/>
            <a:ext cx="2809534" cy="428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1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기간(3년) : 2017.1.1. ~ 2019.12.31.(3년)</a:t>
            </a:r>
            <a:endParaRPr sz="1200" b="1" i="0" u="none" strike="noStrike" cap="none">
              <a:solidFill>
                <a:schemeClr val="dk1"/>
              </a:solidFill>
              <a:highlight>
                <a:srgbClr val="FFCD00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aphicFrame>
        <p:nvGraphicFramePr>
          <p:cNvPr id="450" name="Google Shape;450;p28"/>
          <p:cNvGraphicFramePr/>
          <p:nvPr/>
        </p:nvGraphicFramePr>
        <p:xfrm>
          <a:off x="1568132" y="2407170"/>
          <a:ext cx="6622825" cy="1120395"/>
        </p:xfrm>
        <a:graphic>
          <a:graphicData uri="http://schemas.openxmlformats.org/drawingml/2006/table">
            <a:tbl>
              <a:tblPr firstRow="1" firstCol="1" bandRow="1">
                <a:noFill/>
                <a:tableStyleId>{4D9EB66F-1FA9-4FDE-9DB3-DB622A6A229C}</a:tableStyleId>
              </a:tblPr>
              <a:tblGrid>
                <a:gridCol w="1445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4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3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9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0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34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9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75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회사명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Z(K2) Score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F Score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시총(10억)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CAGR(%)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Sharpe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MDD(%)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벤치마크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(주)이월드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0.743639046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7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757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117.59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1.38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28.48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9.58%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(주)큐로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-6.239858988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7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161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116.7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1.71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35.58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9.58%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범양건영(주)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-3.628582422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7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81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115.56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1.69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32.26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9.58%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하이트진로홀딩스(주)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-3.970667495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7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313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96.23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1.62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18.22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9.58%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8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세하(주)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-10.28327086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7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74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85.81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1.52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24.84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9.58%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8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하이트진로(주)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-2.078810044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2067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85.19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2.41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11.89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9.58%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51" name="Google Shape;451;p28"/>
          <p:cNvGraphicFramePr/>
          <p:nvPr/>
        </p:nvGraphicFramePr>
        <p:xfrm>
          <a:off x="1568132" y="3844291"/>
          <a:ext cx="6622875" cy="1102290"/>
        </p:xfrm>
        <a:graphic>
          <a:graphicData uri="http://schemas.openxmlformats.org/drawingml/2006/table">
            <a:tbl>
              <a:tblPr firstRow="1" firstCol="1" bandRow="1">
                <a:noFill/>
                <a:tableStyleId>{4D9EB66F-1FA9-4FDE-9DB3-DB622A6A229C}</a:tableStyleId>
              </a:tblPr>
              <a:tblGrid>
                <a:gridCol w="150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9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3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6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30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회사명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Z(K2) Score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F Score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시총(10억)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CAGR(%)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Sharpe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MDD(%)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벤치마크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삼일제약(주)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-1.70150653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137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40.98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0.81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68.85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2.83%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삼화전기(주)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-0.50298177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7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102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37.73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0.79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73.73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2.83%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(주)이월드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0.74363905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7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757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29.9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0.72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36.8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2.83%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삼성엔지니어링(주)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-2.06584643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9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3,763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23.33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0.75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28.22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2.83%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(주)넥스트사이언스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-12.0384449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230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23.03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0.65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81.25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2.83%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코스모화학(주)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-9.09307016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160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21.45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0.63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85.63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2.83%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52" name="Google Shape;452;p28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9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458" name="Google Shape;458;p29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459" name="Google Shape;459;p29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Security Selection &amp; Backtesting Quant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460" name="Google Shape;460;p29"/>
          <p:cNvGrpSpPr/>
          <p:nvPr/>
        </p:nvGrpSpPr>
        <p:grpSpPr>
          <a:xfrm>
            <a:off x="7502903" y="0"/>
            <a:ext cx="1641097" cy="700995"/>
            <a:chOff x="545843" y="3551853"/>
            <a:chExt cx="5896291" cy="2486439"/>
          </a:xfrm>
        </p:grpSpPr>
        <p:sp>
          <p:nvSpPr>
            <p:cNvPr id="461" name="Google Shape;461;p29"/>
            <p:cNvSpPr/>
            <p:nvPr/>
          </p:nvSpPr>
          <p:spPr>
            <a:xfrm>
              <a:off x="545843" y="3551853"/>
              <a:ext cx="1472689" cy="1593060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29"/>
            <p:cNvSpPr/>
            <p:nvPr/>
          </p:nvSpPr>
          <p:spPr>
            <a:xfrm>
              <a:off x="1997208" y="3551853"/>
              <a:ext cx="1472689" cy="2486439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29"/>
            <p:cNvSpPr/>
            <p:nvPr/>
          </p:nvSpPr>
          <p:spPr>
            <a:xfrm>
              <a:off x="3469896" y="3551853"/>
              <a:ext cx="1472690" cy="1593060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29"/>
            <p:cNvSpPr/>
            <p:nvPr/>
          </p:nvSpPr>
          <p:spPr>
            <a:xfrm>
              <a:off x="4969444" y="3551853"/>
              <a:ext cx="1472690" cy="1593060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5" name="Google Shape;465;p29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>
                <a:highlight>
                  <a:srgbClr val="FFCD00"/>
                </a:highlight>
              </a:rPr>
              <a:t>Buy &amp; Hold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2. 벤치마크 이상 기업 재 추출 후 상위 6종목 선정</a:t>
            </a: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800" b="1"/>
              <a:t>※ 벤치마크 : 코스피지수</a:t>
            </a:r>
            <a:endParaRPr sz="8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기간(5년) : 2015.1.1. ~ 2019.12.31.(5년)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200" b="1">
              <a:highlight>
                <a:srgbClr val="FFCD00"/>
              </a:highlight>
            </a:endParaRPr>
          </a:p>
        </p:txBody>
      </p:sp>
      <p:sp>
        <p:nvSpPr>
          <p:cNvPr id="466" name="Google Shape;466;p29"/>
          <p:cNvSpPr txBox="1"/>
          <p:nvPr/>
        </p:nvSpPr>
        <p:spPr>
          <a:xfrm>
            <a:off x="1381250" y="3479757"/>
            <a:ext cx="2809534" cy="428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1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기간(10년) : 2009.1.1. ~ 2019.12.31.(10년)</a:t>
            </a:r>
            <a:endParaRPr sz="1200" b="1" i="0" u="none" strike="noStrike" cap="none">
              <a:solidFill>
                <a:schemeClr val="dk1"/>
              </a:solidFill>
              <a:highlight>
                <a:srgbClr val="FFCD00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aphicFrame>
        <p:nvGraphicFramePr>
          <p:cNvPr id="467" name="Google Shape;467;p29"/>
          <p:cNvGraphicFramePr/>
          <p:nvPr/>
        </p:nvGraphicFramePr>
        <p:xfrm>
          <a:off x="1568132" y="2409188"/>
          <a:ext cx="6622825" cy="1120395"/>
        </p:xfrm>
        <a:graphic>
          <a:graphicData uri="http://schemas.openxmlformats.org/drawingml/2006/table">
            <a:tbl>
              <a:tblPr firstRow="1" firstCol="1" bandRow="1">
                <a:noFill/>
                <a:tableStyleId>{4D9EB66F-1FA9-4FDE-9DB3-DB622A6A229C}</a:tableStyleId>
              </a:tblPr>
              <a:tblGrid>
                <a:gridCol w="1445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4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3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9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0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34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9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75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회사명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Z(K2) Score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 Score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시총(10억)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CAGR(%)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Sharpe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MDD(%)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벤치마크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(주)이월드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-12.0384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230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35.62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0.78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81.25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2.74%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(주)큐로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-1.70151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137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34.76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0.77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68.85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2.74%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범양건영(주)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-1.5051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177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32.78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0.87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44.59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2.74%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하이트진로홀딩스(주)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0.743639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757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27.87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0.68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59.49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2.74%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8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세하(주)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-0.50298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102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26.65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0.68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73.73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2.74%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8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하이트진로(주)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-1.51397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57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16.68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0.57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43.98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2.74%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68" name="Google Shape;468;p29"/>
          <p:cNvGraphicFramePr/>
          <p:nvPr/>
        </p:nvGraphicFramePr>
        <p:xfrm>
          <a:off x="1568132" y="3844291"/>
          <a:ext cx="6622875" cy="1102290"/>
        </p:xfrm>
        <a:graphic>
          <a:graphicData uri="http://schemas.openxmlformats.org/drawingml/2006/table">
            <a:tbl>
              <a:tblPr firstRow="1" firstCol="1" bandRow="1">
                <a:noFill/>
                <a:tableStyleId>{4D9EB66F-1FA9-4FDE-9DB3-DB622A6A229C}</a:tableStyleId>
              </a:tblPr>
              <a:tblGrid>
                <a:gridCol w="150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9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3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6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30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회사명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Z(K2)  Score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FScore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시총(10억)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CAGR(%)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Sharpe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MDD(%)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벤치마크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삼일제약(주)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0.743639046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757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33.33%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0.75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84.33%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6.12%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삼화전기(주)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-2.078810044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2,067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28.12%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0.31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51.64%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6.12%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(주)이월드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-0.221016259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53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20.60%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0.62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73.32%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6.12%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삼성엔지니어링(주)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-1.829412987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247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17.83%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0.58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64.09%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6.12%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(주)넥스트사이언스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-0.838248560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74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17.83%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0.58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64.09%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6.12%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코스모화학(주)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-1.701506528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137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15.75%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0.53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80.51%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6.12%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69" name="Google Shape;469;p29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0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475" name="Google Shape;475;p30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476" name="Google Shape;476;p30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Security Selection &amp; Backtesting Quant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477" name="Google Shape;477;p30"/>
          <p:cNvGrpSpPr/>
          <p:nvPr/>
        </p:nvGrpSpPr>
        <p:grpSpPr>
          <a:xfrm>
            <a:off x="7502903" y="0"/>
            <a:ext cx="1641097" cy="700995"/>
            <a:chOff x="545843" y="3551853"/>
            <a:chExt cx="5896291" cy="2486439"/>
          </a:xfrm>
        </p:grpSpPr>
        <p:sp>
          <p:nvSpPr>
            <p:cNvPr id="478" name="Google Shape;478;p30"/>
            <p:cNvSpPr/>
            <p:nvPr/>
          </p:nvSpPr>
          <p:spPr>
            <a:xfrm>
              <a:off x="545843" y="3551853"/>
              <a:ext cx="1472689" cy="1593060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30"/>
            <p:cNvSpPr/>
            <p:nvPr/>
          </p:nvSpPr>
          <p:spPr>
            <a:xfrm>
              <a:off x="1997208" y="3551853"/>
              <a:ext cx="1472689" cy="2486439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30"/>
            <p:cNvSpPr/>
            <p:nvPr/>
          </p:nvSpPr>
          <p:spPr>
            <a:xfrm>
              <a:off x="3469896" y="3551853"/>
              <a:ext cx="1472690" cy="1593060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30"/>
            <p:cNvSpPr/>
            <p:nvPr/>
          </p:nvSpPr>
          <p:spPr>
            <a:xfrm>
              <a:off x="4969444" y="3551853"/>
              <a:ext cx="1472690" cy="1593060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2" name="Google Shape;482;p30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>
                <a:highlight>
                  <a:srgbClr val="FFCD00"/>
                </a:highlight>
              </a:rPr>
              <a:t>Buy &amp; Hold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3. 비교 분석후 최종 6종목 선정</a:t>
            </a: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800" b="1"/>
              <a:t>※ 벤치마크 : 코스피지수</a:t>
            </a:r>
            <a:endParaRPr sz="8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기간(5년) : 2015.1.1. ~ 2019.12.31.(5년)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200" b="1">
              <a:highlight>
                <a:srgbClr val="FFCD00"/>
              </a:highlight>
            </a:endParaRPr>
          </a:p>
        </p:txBody>
      </p:sp>
      <p:graphicFrame>
        <p:nvGraphicFramePr>
          <p:cNvPr id="483" name="Google Shape;483;p30"/>
          <p:cNvGraphicFramePr/>
          <p:nvPr/>
        </p:nvGraphicFramePr>
        <p:xfrm>
          <a:off x="1568132" y="2409187"/>
          <a:ext cx="6622825" cy="2033250"/>
        </p:xfrm>
        <a:graphic>
          <a:graphicData uri="http://schemas.openxmlformats.org/drawingml/2006/table">
            <a:tbl>
              <a:tblPr firstRow="1" firstCol="1" bandRow="1">
                <a:noFill/>
                <a:tableStyleId>{4D9EB66F-1FA9-4FDE-9DB3-DB622A6A229C}</a:tableStyleId>
              </a:tblPr>
              <a:tblGrid>
                <a:gridCol w="1445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4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3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9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0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34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9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18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회사명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Z(K2)  Score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FScore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시총(10억)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CAGR(%)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Sharpe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MDD(%)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벤치마크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(주)이월드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0.743639046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757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33.33%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0.75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84.33%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6.12%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하이트진로(주)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-2.078810044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2,067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28.12%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0.31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51.64%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6.12%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(주)한익스프레스</a:t>
                      </a:r>
                      <a:endParaRPr/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-0.221016259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53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20.60%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0.62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73.32%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6.12%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코오롱글로벌(주)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-1.829412987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247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17.83%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0.58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64.09%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6.12%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영화금속(주)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-0.838248560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74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17.83%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0.58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64.09%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6.12%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삼일제약(주)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-1.701506528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137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15.75%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0.53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80.51%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6.12%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84" name="Google Shape;484;p30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1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490" name="Google Shape;490;p31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491" name="Google Shape;491;p31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Security Selection &amp; Backtesting Quant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492" name="Google Shape;492;p31"/>
          <p:cNvGrpSpPr/>
          <p:nvPr/>
        </p:nvGrpSpPr>
        <p:grpSpPr>
          <a:xfrm>
            <a:off x="7502903" y="0"/>
            <a:ext cx="1641097" cy="700995"/>
            <a:chOff x="545843" y="3551853"/>
            <a:chExt cx="5896291" cy="2486439"/>
          </a:xfrm>
        </p:grpSpPr>
        <p:sp>
          <p:nvSpPr>
            <p:cNvPr id="493" name="Google Shape;493;p31"/>
            <p:cNvSpPr/>
            <p:nvPr/>
          </p:nvSpPr>
          <p:spPr>
            <a:xfrm>
              <a:off x="545843" y="3551853"/>
              <a:ext cx="1472689" cy="1593060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31"/>
            <p:cNvSpPr/>
            <p:nvPr/>
          </p:nvSpPr>
          <p:spPr>
            <a:xfrm>
              <a:off x="1997208" y="3551853"/>
              <a:ext cx="1472689" cy="2486439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31"/>
            <p:cNvSpPr/>
            <p:nvPr/>
          </p:nvSpPr>
          <p:spPr>
            <a:xfrm>
              <a:off x="3469896" y="3551853"/>
              <a:ext cx="1472690" cy="1593060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31"/>
            <p:cNvSpPr/>
            <p:nvPr/>
          </p:nvSpPr>
          <p:spPr>
            <a:xfrm>
              <a:off x="4969444" y="3551853"/>
              <a:ext cx="1472690" cy="1593060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7" name="Google Shape;497;p31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>
                <a:highlight>
                  <a:srgbClr val="FFCD00"/>
                </a:highlight>
              </a:rPr>
              <a:t>Bollinger Bands</a:t>
            </a: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주가가 이동평균선 중심으로 표준편차 범위 안에서 </a:t>
            </a: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움직인다는 전제로 개발</a:t>
            </a: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투자전략 : 3가지 선으로 묶여 있음</a:t>
            </a: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(중심선: 21평선. 상한선, 하한선)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빨간선&gt;SELL, 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파란선&gt;BUY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추세 : Prophet으로 추세 예측 및 VIX지수로 시황 판단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실적 : 한국상장협의회 자료 전년대비 실적 조회 후 기간 선정 및 적용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수급 : 외국인 수급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/>
          </a:p>
        </p:txBody>
      </p:sp>
      <p:pic>
        <p:nvPicPr>
          <p:cNvPr id="498" name="Google Shape;498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46420" y="1582173"/>
            <a:ext cx="3322320" cy="2860331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31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2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505" name="Google Shape;505;p32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506" name="Google Shape;506;p32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Security Selection &amp; Backtesting Quant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507" name="Google Shape;507;p32"/>
          <p:cNvGrpSpPr/>
          <p:nvPr/>
        </p:nvGrpSpPr>
        <p:grpSpPr>
          <a:xfrm>
            <a:off x="7502903" y="0"/>
            <a:ext cx="1641097" cy="700995"/>
            <a:chOff x="545843" y="3551853"/>
            <a:chExt cx="5896291" cy="2486439"/>
          </a:xfrm>
        </p:grpSpPr>
        <p:sp>
          <p:nvSpPr>
            <p:cNvPr id="508" name="Google Shape;508;p32"/>
            <p:cNvSpPr/>
            <p:nvPr/>
          </p:nvSpPr>
          <p:spPr>
            <a:xfrm>
              <a:off x="545843" y="3551853"/>
              <a:ext cx="1472689" cy="1593060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32"/>
            <p:cNvSpPr/>
            <p:nvPr/>
          </p:nvSpPr>
          <p:spPr>
            <a:xfrm>
              <a:off x="1997208" y="3551853"/>
              <a:ext cx="1472689" cy="2486439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32"/>
            <p:cNvSpPr/>
            <p:nvPr/>
          </p:nvSpPr>
          <p:spPr>
            <a:xfrm>
              <a:off x="3469896" y="3551853"/>
              <a:ext cx="1472690" cy="1593060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32"/>
            <p:cNvSpPr/>
            <p:nvPr/>
          </p:nvSpPr>
          <p:spPr>
            <a:xfrm>
              <a:off x="4969444" y="3551853"/>
              <a:ext cx="1472690" cy="1593060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2" name="Google Shape;512;p32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 dirty="0">
                <a:highlight>
                  <a:srgbClr val="FFCD00"/>
                </a:highlight>
              </a:rPr>
              <a:t>Bollinger Bands</a:t>
            </a:r>
            <a:endParaRPr sz="1000" b="1" dirty="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 dirty="0"/>
              <a:t>1. </a:t>
            </a:r>
            <a:r>
              <a:rPr lang="en-US" sz="1000" b="1" dirty="0" err="1"/>
              <a:t>F_Score</a:t>
            </a:r>
            <a:r>
              <a:rPr lang="en-US" sz="1000" b="1" dirty="0"/>
              <a:t> 6점 </a:t>
            </a:r>
            <a:r>
              <a:rPr lang="en-US" sz="1000" b="1" dirty="0" err="1"/>
              <a:t>이상</a:t>
            </a:r>
            <a:r>
              <a:rPr lang="en-US" sz="1000" b="1" dirty="0"/>
              <a:t> 86기업 </a:t>
            </a:r>
            <a:r>
              <a:rPr lang="en-US" sz="1000" b="1" dirty="0" err="1"/>
              <a:t>추출</a:t>
            </a:r>
            <a:r>
              <a:rPr lang="en-US" sz="1000" b="1" dirty="0"/>
              <a:t>  </a:t>
            </a:r>
            <a:endParaRPr sz="1000" b="1" dirty="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 dirty="0" err="1"/>
              <a:t>기간별</a:t>
            </a:r>
            <a:r>
              <a:rPr lang="en-US" sz="1000" b="1" dirty="0"/>
              <a:t> </a:t>
            </a:r>
            <a:r>
              <a:rPr lang="en-US" sz="1000" b="1" dirty="0" err="1"/>
              <a:t>누적수익률</a:t>
            </a:r>
            <a:r>
              <a:rPr lang="en-US" sz="1000" b="1" dirty="0"/>
              <a:t>(Accumulated return) </a:t>
            </a:r>
            <a:r>
              <a:rPr lang="en-US" sz="1000" b="1" dirty="0" err="1"/>
              <a:t>벤치마크</a:t>
            </a:r>
            <a:r>
              <a:rPr lang="en-US" sz="1000" b="1" dirty="0"/>
              <a:t> </a:t>
            </a:r>
            <a:r>
              <a:rPr lang="en-US" sz="1000" b="1" dirty="0" err="1"/>
              <a:t>이상</a:t>
            </a:r>
            <a:r>
              <a:rPr lang="en-US" sz="1000" b="1" dirty="0"/>
              <a:t> </a:t>
            </a:r>
            <a:r>
              <a:rPr lang="en-US" sz="1000" b="1" dirty="0" err="1"/>
              <a:t>기업</a:t>
            </a:r>
            <a:r>
              <a:rPr lang="en-US" sz="1000" b="1" dirty="0"/>
              <a:t> </a:t>
            </a:r>
            <a:r>
              <a:rPr lang="en-US" sz="1000" b="1" dirty="0" err="1"/>
              <a:t>추출</a:t>
            </a:r>
            <a:endParaRPr dirty="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800" b="1" dirty="0"/>
              <a:t>※ </a:t>
            </a:r>
            <a:r>
              <a:rPr lang="en-US" sz="800" b="1" dirty="0" err="1"/>
              <a:t>벤치마크</a:t>
            </a:r>
            <a:r>
              <a:rPr lang="en-US" sz="800" b="1" dirty="0"/>
              <a:t> : </a:t>
            </a:r>
            <a:r>
              <a:rPr lang="en-US" sz="800" b="1" dirty="0" err="1"/>
              <a:t>코스피지수</a:t>
            </a:r>
            <a:endParaRPr sz="800" b="1" dirty="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 dirty="0" err="1"/>
              <a:t>기간별</a:t>
            </a:r>
            <a:r>
              <a:rPr lang="en-US" sz="1000" b="1" dirty="0"/>
              <a:t> </a:t>
            </a:r>
            <a:r>
              <a:rPr lang="en-US" sz="1000" b="1" dirty="0" err="1"/>
              <a:t>벤치마크수익률</a:t>
            </a:r>
            <a:endParaRPr sz="1000" b="1" dirty="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 dirty="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 dirty="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 dirty="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 dirty="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 dirty="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200" b="1" dirty="0">
              <a:highlight>
                <a:srgbClr val="FFCD00"/>
              </a:highlight>
            </a:endParaRPr>
          </a:p>
        </p:txBody>
      </p:sp>
      <p:graphicFrame>
        <p:nvGraphicFramePr>
          <p:cNvPr id="513" name="Google Shape;513;p32"/>
          <p:cNvGraphicFramePr/>
          <p:nvPr/>
        </p:nvGraphicFramePr>
        <p:xfrm>
          <a:off x="1563052" y="2659380"/>
          <a:ext cx="2292650" cy="2090500"/>
        </p:xfrm>
        <a:graphic>
          <a:graphicData uri="http://schemas.openxmlformats.org/drawingml/2006/table">
            <a:tbl>
              <a:tblPr firstRow="1" firstCol="1" bandRow="1">
                <a:noFill/>
                <a:tableStyleId>{4D9EB66F-1FA9-4FDE-9DB3-DB622A6A229C}</a:tableStyleId>
              </a:tblPr>
              <a:tblGrid>
                <a:gridCol w="114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9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/>
                        <a:t> 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Accunulated return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1년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9.58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3년 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2.83%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5년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2.74%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10년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6.12%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14" name="Google Shape;514;p32"/>
          <p:cNvGraphicFramePr/>
          <p:nvPr/>
        </p:nvGraphicFramePr>
        <p:xfrm>
          <a:off x="4883902" y="2659380"/>
          <a:ext cx="3307075" cy="2090500"/>
        </p:xfrm>
        <a:graphic>
          <a:graphicData uri="http://schemas.openxmlformats.org/drawingml/2006/table">
            <a:tbl>
              <a:tblPr firstRow="1" firstCol="1" bandRow="1">
                <a:noFill/>
                <a:tableStyleId>{4D9EB66F-1FA9-4FDE-9DB3-DB622A6A229C}</a:tableStyleId>
              </a:tblPr>
              <a:tblGrid>
                <a:gridCol w="78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8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9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 F-Score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1년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3년 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11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22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5년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17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21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10년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12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15" name="Google Shape;515;p32"/>
          <p:cNvSpPr txBox="1"/>
          <p:nvPr/>
        </p:nvSpPr>
        <p:spPr>
          <a:xfrm>
            <a:off x="4731500" y="2269865"/>
            <a:ext cx="3109480" cy="428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1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기간별 벤치마크 누적수익률 이상 F_Score 기업 수</a:t>
            </a:r>
            <a:endParaRPr sz="1200" b="1" i="0" u="none" strike="noStrike" cap="none">
              <a:solidFill>
                <a:schemeClr val="dk1"/>
              </a:solidFill>
              <a:highlight>
                <a:srgbClr val="FFCD00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16" name="Google Shape;516;p32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3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522" name="Google Shape;522;p33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523" name="Google Shape;523;p33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Security Selection &amp; Backtesting Quant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524" name="Google Shape;524;p33"/>
          <p:cNvGrpSpPr/>
          <p:nvPr/>
        </p:nvGrpSpPr>
        <p:grpSpPr>
          <a:xfrm>
            <a:off x="7502903" y="0"/>
            <a:ext cx="1641097" cy="700995"/>
            <a:chOff x="545843" y="3551853"/>
            <a:chExt cx="5896291" cy="2486439"/>
          </a:xfrm>
        </p:grpSpPr>
        <p:sp>
          <p:nvSpPr>
            <p:cNvPr id="525" name="Google Shape;525;p33"/>
            <p:cNvSpPr/>
            <p:nvPr/>
          </p:nvSpPr>
          <p:spPr>
            <a:xfrm>
              <a:off x="545843" y="3551853"/>
              <a:ext cx="1472689" cy="1593060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33"/>
            <p:cNvSpPr/>
            <p:nvPr/>
          </p:nvSpPr>
          <p:spPr>
            <a:xfrm>
              <a:off x="1997208" y="3551853"/>
              <a:ext cx="1472689" cy="2486439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33"/>
            <p:cNvSpPr/>
            <p:nvPr/>
          </p:nvSpPr>
          <p:spPr>
            <a:xfrm>
              <a:off x="3469896" y="3551853"/>
              <a:ext cx="1472690" cy="1593060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33"/>
            <p:cNvSpPr/>
            <p:nvPr/>
          </p:nvSpPr>
          <p:spPr>
            <a:xfrm>
              <a:off x="4969444" y="3551853"/>
              <a:ext cx="1472690" cy="1593060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9" name="Google Shape;529;p33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>
                <a:highlight>
                  <a:srgbClr val="FFCD00"/>
                </a:highlight>
              </a:rPr>
              <a:t>Bollinger Bands</a:t>
            </a: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2. 벤치마크 이상 기업 재 추출 후 상위 6종목 선정</a:t>
            </a: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800" b="1"/>
              <a:t>※ 벤치마크 : 코스피지수</a:t>
            </a:r>
            <a:endParaRPr sz="8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기간(1년) : 2019.1.1. ~ 2019.12.31.(1년)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200" b="1">
              <a:highlight>
                <a:srgbClr val="FFCD00"/>
              </a:highlight>
            </a:endParaRPr>
          </a:p>
        </p:txBody>
      </p:sp>
      <p:sp>
        <p:nvSpPr>
          <p:cNvPr id="530" name="Google Shape;530;p33"/>
          <p:cNvSpPr txBox="1"/>
          <p:nvPr/>
        </p:nvSpPr>
        <p:spPr>
          <a:xfrm>
            <a:off x="1381250" y="3446405"/>
            <a:ext cx="2809534" cy="428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1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기간(3년) : 2017.1.1. ~ 2019.12.31.(3년)</a:t>
            </a:r>
            <a:endParaRPr sz="1200" b="1" i="0" u="none" strike="noStrike" cap="none">
              <a:solidFill>
                <a:schemeClr val="dk1"/>
              </a:solidFill>
              <a:highlight>
                <a:srgbClr val="FFCD00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aphicFrame>
        <p:nvGraphicFramePr>
          <p:cNvPr id="531" name="Google Shape;531;p33"/>
          <p:cNvGraphicFramePr/>
          <p:nvPr/>
        </p:nvGraphicFramePr>
        <p:xfrm>
          <a:off x="1568132" y="2407170"/>
          <a:ext cx="5209775" cy="1102290"/>
        </p:xfrm>
        <a:graphic>
          <a:graphicData uri="http://schemas.openxmlformats.org/drawingml/2006/table">
            <a:tbl>
              <a:tblPr firstRow="1" firstCol="1" bandRow="1">
                <a:noFill/>
                <a:tableStyleId>{4D9EB66F-1FA9-4FDE-9DB3-DB622A6A229C}</a:tableStyleId>
              </a:tblPr>
              <a:tblGrid>
                <a:gridCol w="1445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4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3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9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0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회사명</a:t>
                      </a:r>
                      <a:endParaRPr sz="8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Z(K2) Score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F Score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시총(10억)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누적수익률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벤치마크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진흥기업(주)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-2.5333 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6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339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1.8346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1.309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금호산업(주)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-1.1339 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7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418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1.6376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1.309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(주)이월드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0.7436 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7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757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1.6363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1.309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(주)우진</a:t>
                      </a:r>
                      <a:endParaRPr/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-3.3273 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6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85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1.5054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1.309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하이트진로(주)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-2.0788 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6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2,067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1.4944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1.309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(주)티비에이치글로벌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-3.0254 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6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57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1.4911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1.309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32" name="Google Shape;532;p33"/>
          <p:cNvGraphicFramePr/>
          <p:nvPr/>
        </p:nvGraphicFramePr>
        <p:xfrm>
          <a:off x="1568132" y="3811789"/>
          <a:ext cx="5209775" cy="1102290"/>
        </p:xfrm>
        <a:graphic>
          <a:graphicData uri="http://schemas.openxmlformats.org/drawingml/2006/table">
            <a:tbl>
              <a:tblPr firstRow="1" firstCol="1" bandRow="1">
                <a:noFill/>
                <a:tableStyleId>{4D9EB66F-1FA9-4FDE-9DB3-DB622A6A229C}</a:tableStyleId>
              </a:tblPr>
              <a:tblGrid>
                <a:gridCol w="1445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4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3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9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0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회사명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Z(K2)Score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FScore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시총(10억)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누적수익률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벤치마크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금호산업(주)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-1.1339 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7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418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3.1884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1.0911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(주)이월드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0.7436 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7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757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2.0338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1.0911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하이트진로(주)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-2.0788 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6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2,067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1.9585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1.0911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진흥기업(주)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-2.5333 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6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339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1.9271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1.0911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팬오션(주)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-2.2387 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6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2,430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1.9049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1.0911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(주)지에스글로벌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-3.0329 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6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183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1.6674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1.0911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33" name="Google Shape;533;p33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4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539" name="Google Shape;539;p34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540" name="Google Shape;540;p34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Security Selection &amp; Backtesting Quant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541" name="Google Shape;541;p34"/>
          <p:cNvGrpSpPr/>
          <p:nvPr/>
        </p:nvGrpSpPr>
        <p:grpSpPr>
          <a:xfrm>
            <a:off x="7502903" y="0"/>
            <a:ext cx="1641097" cy="700995"/>
            <a:chOff x="545843" y="3551853"/>
            <a:chExt cx="5896291" cy="2486439"/>
          </a:xfrm>
        </p:grpSpPr>
        <p:sp>
          <p:nvSpPr>
            <p:cNvPr id="542" name="Google Shape;542;p34"/>
            <p:cNvSpPr/>
            <p:nvPr/>
          </p:nvSpPr>
          <p:spPr>
            <a:xfrm>
              <a:off x="545843" y="3551853"/>
              <a:ext cx="1472689" cy="1593060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34"/>
            <p:cNvSpPr/>
            <p:nvPr/>
          </p:nvSpPr>
          <p:spPr>
            <a:xfrm>
              <a:off x="1997208" y="3551853"/>
              <a:ext cx="1472689" cy="2486439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34"/>
            <p:cNvSpPr/>
            <p:nvPr/>
          </p:nvSpPr>
          <p:spPr>
            <a:xfrm>
              <a:off x="3469896" y="3551853"/>
              <a:ext cx="1472690" cy="1593060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34"/>
            <p:cNvSpPr/>
            <p:nvPr/>
          </p:nvSpPr>
          <p:spPr>
            <a:xfrm>
              <a:off x="4969444" y="3551853"/>
              <a:ext cx="1472690" cy="1593060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6" name="Google Shape;546;p34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>
                <a:highlight>
                  <a:srgbClr val="FFCD00"/>
                </a:highlight>
              </a:rPr>
              <a:t>Bollinger Bands</a:t>
            </a: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2. 벤치마크 이상 기업 재 추출 후 상위 6종목 선정</a:t>
            </a: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800" b="1"/>
              <a:t>※ 벤치마크 : 코스피지수</a:t>
            </a:r>
            <a:endParaRPr sz="8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기간(5년) : 2015.1.1. ~ 2019.12.31.(5년)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200" b="1">
              <a:highlight>
                <a:srgbClr val="FFCD00"/>
              </a:highlight>
            </a:endParaRPr>
          </a:p>
        </p:txBody>
      </p:sp>
      <p:sp>
        <p:nvSpPr>
          <p:cNvPr id="547" name="Google Shape;547;p34"/>
          <p:cNvSpPr txBox="1"/>
          <p:nvPr/>
        </p:nvSpPr>
        <p:spPr>
          <a:xfrm>
            <a:off x="1381250" y="3446405"/>
            <a:ext cx="2809534" cy="428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1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기간(10년) : 2009.1.1. ~ 2019.12.31.(10년)</a:t>
            </a:r>
            <a:endParaRPr sz="1200" b="1" i="0" u="none" strike="noStrike" cap="none">
              <a:solidFill>
                <a:schemeClr val="dk1"/>
              </a:solidFill>
              <a:highlight>
                <a:srgbClr val="FFCD00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aphicFrame>
        <p:nvGraphicFramePr>
          <p:cNvPr id="548" name="Google Shape;548;p34"/>
          <p:cNvGraphicFramePr/>
          <p:nvPr/>
        </p:nvGraphicFramePr>
        <p:xfrm>
          <a:off x="1568132" y="2407170"/>
          <a:ext cx="5209775" cy="1102290"/>
        </p:xfrm>
        <a:graphic>
          <a:graphicData uri="http://schemas.openxmlformats.org/drawingml/2006/table">
            <a:tbl>
              <a:tblPr firstRow="1" firstCol="1" bandRow="1">
                <a:noFill/>
                <a:tableStyleId>{4D9EB66F-1FA9-4FDE-9DB3-DB622A6A229C}</a:tableStyleId>
              </a:tblPr>
              <a:tblGrid>
                <a:gridCol w="1445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4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3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9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0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회사명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Z(K2)Score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FScore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시총(10억)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누적수익률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벤치마크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동아에스티(주)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0.6382 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7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1,005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2.7016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1.1675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동원수산(주)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-2.5473 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7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47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2.5202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1.1675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금호산업(주)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-1.1339 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7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418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2.4185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1.1675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(주)코아스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-5.0357 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8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40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2.3023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1.1675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팬오션(주)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-2.2387 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6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2,430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2.2602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1.1675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하이트진로(주)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-2.0788 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6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2,067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2.2187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1.1675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49" name="Google Shape;549;p34"/>
          <p:cNvGraphicFramePr/>
          <p:nvPr/>
        </p:nvGraphicFramePr>
        <p:xfrm>
          <a:off x="1568132" y="3811789"/>
          <a:ext cx="5209775" cy="1102290"/>
        </p:xfrm>
        <a:graphic>
          <a:graphicData uri="http://schemas.openxmlformats.org/drawingml/2006/table">
            <a:tbl>
              <a:tblPr firstRow="1" firstCol="1" bandRow="1">
                <a:noFill/>
                <a:tableStyleId>{4D9EB66F-1FA9-4FDE-9DB3-DB622A6A229C}</a:tableStyleId>
              </a:tblPr>
              <a:tblGrid>
                <a:gridCol w="1445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4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3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9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0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회사명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Z(K2)Score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FScore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시총(10억)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누적수익률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벤치마크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동원수산(주)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-2.5473 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7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47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7.3645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1.5781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(주)에스지글로벌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0.4665 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6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78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5.0483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1.5781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(주)대창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-1.5188 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6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130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4.6643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1.5781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(주)동방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-4.7755 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7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52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3.1140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1.5781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동아에스티(주)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0.6382 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7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1,005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2.8453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1.5781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(주)코아스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-5.0357 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8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40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2.7141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1.5781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50" name="Google Shape;550;p34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5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556" name="Google Shape;556;p35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557" name="Google Shape;557;p35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Security Selection &amp; Backtesting Quant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558" name="Google Shape;558;p35"/>
          <p:cNvGrpSpPr/>
          <p:nvPr/>
        </p:nvGrpSpPr>
        <p:grpSpPr>
          <a:xfrm>
            <a:off x="7502903" y="0"/>
            <a:ext cx="1641097" cy="700995"/>
            <a:chOff x="545843" y="3551853"/>
            <a:chExt cx="5896291" cy="2486439"/>
          </a:xfrm>
        </p:grpSpPr>
        <p:sp>
          <p:nvSpPr>
            <p:cNvPr id="559" name="Google Shape;559;p35"/>
            <p:cNvSpPr/>
            <p:nvPr/>
          </p:nvSpPr>
          <p:spPr>
            <a:xfrm>
              <a:off x="545843" y="3551853"/>
              <a:ext cx="1472689" cy="1593060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35"/>
            <p:cNvSpPr/>
            <p:nvPr/>
          </p:nvSpPr>
          <p:spPr>
            <a:xfrm>
              <a:off x="1997208" y="3551853"/>
              <a:ext cx="1472689" cy="2486439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35"/>
            <p:cNvSpPr/>
            <p:nvPr/>
          </p:nvSpPr>
          <p:spPr>
            <a:xfrm>
              <a:off x="3469896" y="3551853"/>
              <a:ext cx="1472690" cy="1593060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35"/>
            <p:cNvSpPr/>
            <p:nvPr/>
          </p:nvSpPr>
          <p:spPr>
            <a:xfrm>
              <a:off x="4969444" y="3551853"/>
              <a:ext cx="1472690" cy="1593060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3" name="Google Shape;563;p35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>
                <a:highlight>
                  <a:srgbClr val="FFCD00"/>
                </a:highlight>
              </a:rPr>
              <a:t>Buy &amp; Hold </a:t>
            </a:r>
            <a:r>
              <a:rPr lang="en-US" sz="1400" b="1"/>
              <a:t> &amp; </a:t>
            </a:r>
            <a:r>
              <a:rPr lang="en-US" sz="1400" b="1">
                <a:highlight>
                  <a:srgbClr val="FFCD00"/>
                </a:highlight>
              </a:rPr>
              <a:t>Bollinger Bands</a:t>
            </a: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Buy &amp; Hold , Bollinger Bands 공통 고수익 기업 :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2000" b="1"/>
              <a:t> </a:t>
            </a:r>
            <a:endParaRPr sz="2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2000" b="1"/>
          </a:p>
          <a:p>
            <a:pPr marL="7620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2000" b="1">
                <a:highlight>
                  <a:srgbClr val="FFCD00"/>
                </a:highlight>
              </a:rPr>
              <a:t>이월드, 하이트진로</a:t>
            </a:r>
            <a:endParaRPr sz="2000" b="1">
              <a:highlight>
                <a:srgbClr val="FFCD00"/>
              </a:highlight>
            </a:endParaRPr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5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200" b="1">
              <a:highlight>
                <a:srgbClr val="FFCD00"/>
              </a:highlight>
            </a:endParaRPr>
          </a:p>
        </p:txBody>
      </p:sp>
      <p:sp>
        <p:nvSpPr>
          <p:cNvPr id="564" name="Google Shape;564;p35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6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570" name="Google Shape;570;p36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sp>
        <p:nvSpPr>
          <p:cNvPr id="571" name="Google Shape;571;p36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Security Selection &amp; Backtesting Quant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572" name="Google Shape;572;p36"/>
          <p:cNvGrpSpPr/>
          <p:nvPr/>
        </p:nvGrpSpPr>
        <p:grpSpPr>
          <a:xfrm>
            <a:off x="7502903" y="0"/>
            <a:ext cx="1641097" cy="700995"/>
            <a:chOff x="545843" y="3551853"/>
            <a:chExt cx="5896291" cy="2486439"/>
          </a:xfrm>
        </p:grpSpPr>
        <p:sp>
          <p:nvSpPr>
            <p:cNvPr id="573" name="Google Shape;573;p36"/>
            <p:cNvSpPr/>
            <p:nvPr/>
          </p:nvSpPr>
          <p:spPr>
            <a:xfrm>
              <a:off x="545843" y="3551853"/>
              <a:ext cx="1472689" cy="1593060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36"/>
            <p:cNvSpPr/>
            <p:nvPr/>
          </p:nvSpPr>
          <p:spPr>
            <a:xfrm>
              <a:off x="1997208" y="3551853"/>
              <a:ext cx="1472689" cy="2486439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36"/>
            <p:cNvSpPr/>
            <p:nvPr/>
          </p:nvSpPr>
          <p:spPr>
            <a:xfrm>
              <a:off x="3469896" y="3551853"/>
              <a:ext cx="1472690" cy="1593060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36"/>
            <p:cNvSpPr/>
            <p:nvPr/>
          </p:nvSpPr>
          <p:spPr>
            <a:xfrm>
              <a:off x="4969444" y="3551853"/>
              <a:ext cx="1472690" cy="1593060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7" name="Google Shape;577;p36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 dirty="0" err="1">
                <a:highlight>
                  <a:srgbClr val="FFCD00"/>
                </a:highlight>
              </a:rPr>
              <a:t>평가지표</a:t>
            </a:r>
            <a:r>
              <a:rPr lang="en-US" sz="1400" b="1" dirty="0">
                <a:highlight>
                  <a:srgbClr val="FFCD00"/>
                </a:highlight>
              </a:rPr>
              <a:t> : Accumulated return(</a:t>
            </a:r>
            <a:r>
              <a:rPr lang="en-US" sz="1400" b="1" dirty="0" err="1">
                <a:highlight>
                  <a:srgbClr val="FFCD00"/>
                </a:highlight>
              </a:rPr>
              <a:t>누적수익률</a:t>
            </a:r>
            <a:r>
              <a:rPr lang="en-US" sz="1400" b="1" dirty="0">
                <a:highlight>
                  <a:srgbClr val="FFCD00"/>
                </a:highlight>
              </a:rPr>
              <a:t>)</a:t>
            </a:r>
            <a:endParaRPr dirty="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400" b="1" dirty="0">
              <a:highlight>
                <a:srgbClr val="FFCD00"/>
              </a:highlight>
            </a:endParaRPr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 dirty="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 dirty="0"/>
          </a:p>
        </p:txBody>
      </p:sp>
      <p:sp>
        <p:nvSpPr>
          <p:cNvPr id="578" name="Google Shape;578;p36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7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584" name="Google Shape;584;p37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sp>
        <p:nvSpPr>
          <p:cNvPr id="585" name="Google Shape;585;p37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Security Selection &amp; Backtesting Quant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586" name="Google Shape;586;p37"/>
          <p:cNvGrpSpPr/>
          <p:nvPr/>
        </p:nvGrpSpPr>
        <p:grpSpPr>
          <a:xfrm>
            <a:off x="7502903" y="0"/>
            <a:ext cx="1641097" cy="700995"/>
            <a:chOff x="545843" y="3551853"/>
            <a:chExt cx="5896291" cy="2486439"/>
          </a:xfrm>
        </p:grpSpPr>
        <p:sp>
          <p:nvSpPr>
            <p:cNvPr id="587" name="Google Shape;587;p37"/>
            <p:cNvSpPr/>
            <p:nvPr/>
          </p:nvSpPr>
          <p:spPr>
            <a:xfrm>
              <a:off x="545843" y="3551853"/>
              <a:ext cx="1472689" cy="1593060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37"/>
            <p:cNvSpPr/>
            <p:nvPr/>
          </p:nvSpPr>
          <p:spPr>
            <a:xfrm>
              <a:off x="1997208" y="3551853"/>
              <a:ext cx="1472689" cy="2486439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37"/>
            <p:cNvSpPr/>
            <p:nvPr/>
          </p:nvSpPr>
          <p:spPr>
            <a:xfrm>
              <a:off x="3469896" y="3551853"/>
              <a:ext cx="1472690" cy="1593060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37"/>
            <p:cNvSpPr/>
            <p:nvPr/>
          </p:nvSpPr>
          <p:spPr>
            <a:xfrm>
              <a:off x="4969444" y="3551853"/>
              <a:ext cx="1472690" cy="1593060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1" name="Google Shape;591;p37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>
                <a:highlight>
                  <a:srgbClr val="FFCD00"/>
                </a:highlight>
              </a:rPr>
              <a:t>Quantstarts </a:t>
            </a:r>
            <a:r>
              <a:rPr lang="en-US" sz="1400" b="1"/>
              <a:t> 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 u="sng">
                <a:solidFill>
                  <a:schemeClr val="hlink"/>
                </a:solidFill>
                <a:hlinkClick r:id="rId3"/>
              </a:rPr>
              <a:t>https://github.com/ranaroussi/quantstats</a:t>
            </a: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/>
          </a:p>
        </p:txBody>
      </p:sp>
      <p:graphicFrame>
        <p:nvGraphicFramePr>
          <p:cNvPr id="592" name="Google Shape;592;p37"/>
          <p:cNvGraphicFramePr/>
          <p:nvPr/>
        </p:nvGraphicFramePr>
        <p:xfrm>
          <a:off x="1549400" y="2072641"/>
          <a:ext cx="5179075" cy="2262250"/>
        </p:xfrm>
        <a:graphic>
          <a:graphicData uri="http://schemas.openxmlformats.org/drawingml/2006/table">
            <a:tbl>
              <a:tblPr firstRow="1" firstCol="1" bandRow="1">
                <a:noFill/>
                <a:tableStyleId>{4D9EB66F-1FA9-4FDE-9DB3-DB622A6A229C}</a:tableStyleId>
              </a:tblPr>
              <a:tblGrid>
                <a:gridCol w="2144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9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회사명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CAGR(%)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Sharpe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MDD(%)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00000"/>
                          </a:solidFill>
                        </a:rPr>
                        <a:t>효성티앤씨(주)          </a:t>
                      </a:r>
                      <a:endParaRPr sz="1100" u="none" strike="noStrike" cap="none">
                        <a:solidFill>
                          <a:srgbClr val="C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0.27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0.74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-0.68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(주)한진중공업홀딩스    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0.18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0.41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-0.99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코스맥스비티아이    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0.17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0.56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-0.91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백광산업            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0.16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0.54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-0.7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(주)세아제강     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0.15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0.55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-0.61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일동제약            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0.15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0.53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-0.64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93" name="Google Shape;593;p37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38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599" name="Google Shape;599;p38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600" name="Google Shape;600;p38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Security Selection &amp; Backtesting Quant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601" name="Google Shape;601;p38"/>
          <p:cNvGrpSpPr/>
          <p:nvPr/>
        </p:nvGrpSpPr>
        <p:grpSpPr>
          <a:xfrm>
            <a:off x="7502903" y="0"/>
            <a:ext cx="1641097" cy="700995"/>
            <a:chOff x="545843" y="3551853"/>
            <a:chExt cx="5896291" cy="2486439"/>
          </a:xfrm>
        </p:grpSpPr>
        <p:sp>
          <p:nvSpPr>
            <p:cNvPr id="602" name="Google Shape;602;p38"/>
            <p:cNvSpPr/>
            <p:nvPr/>
          </p:nvSpPr>
          <p:spPr>
            <a:xfrm>
              <a:off x="545843" y="3551853"/>
              <a:ext cx="1472689" cy="1593060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38"/>
            <p:cNvSpPr/>
            <p:nvPr/>
          </p:nvSpPr>
          <p:spPr>
            <a:xfrm>
              <a:off x="1997208" y="3551853"/>
              <a:ext cx="1472689" cy="2486439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38"/>
            <p:cNvSpPr/>
            <p:nvPr/>
          </p:nvSpPr>
          <p:spPr>
            <a:xfrm>
              <a:off x="3469896" y="3551853"/>
              <a:ext cx="1472690" cy="1593060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38"/>
            <p:cNvSpPr/>
            <p:nvPr/>
          </p:nvSpPr>
          <p:spPr>
            <a:xfrm>
              <a:off x="4969444" y="3551853"/>
              <a:ext cx="1472690" cy="1593060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6" name="Google Shape;606;p38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>
                <a:highlight>
                  <a:srgbClr val="FFCD00"/>
                </a:highlight>
              </a:rPr>
              <a:t>Quantstarts </a:t>
            </a:r>
            <a:r>
              <a:rPr lang="en-US" sz="1400" b="1"/>
              <a:t> 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시각화</a:t>
            </a:r>
            <a:endParaRPr sz="1000" b="1"/>
          </a:p>
        </p:txBody>
      </p:sp>
      <p:pic>
        <p:nvPicPr>
          <p:cNvPr id="607" name="Google Shape;607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5172" y="1997711"/>
            <a:ext cx="3190750" cy="2878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27600" y="2285047"/>
            <a:ext cx="3934460" cy="2157458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38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39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615" name="Google Shape;615;p39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616" name="Google Shape;616;p39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Security Selection &amp; Backtesting Quant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617" name="Google Shape;617;p39"/>
          <p:cNvGrpSpPr/>
          <p:nvPr/>
        </p:nvGrpSpPr>
        <p:grpSpPr>
          <a:xfrm>
            <a:off x="7502903" y="0"/>
            <a:ext cx="1641097" cy="700995"/>
            <a:chOff x="545843" y="3551853"/>
            <a:chExt cx="5896291" cy="2486439"/>
          </a:xfrm>
        </p:grpSpPr>
        <p:sp>
          <p:nvSpPr>
            <p:cNvPr id="618" name="Google Shape;618;p39"/>
            <p:cNvSpPr/>
            <p:nvPr/>
          </p:nvSpPr>
          <p:spPr>
            <a:xfrm>
              <a:off x="545843" y="3551853"/>
              <a:ext cx="1472689" cy="1593060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39"/>
            <p:cNvSpPr/>
            <p:nvPr/>
          </p:nvSpPr>
          <p:spPr>
            <a:xfrm>
              <a:off x="1997208" y="3551853"/>
              <a:ext cx="1472689" cy="2486439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39"/>
            <p:cNvSpPr/>
            <p:nvPr/>
          </p:nvSpPr>
          <p:spPr>
            <a:xfrm>
              <a:off x="3469896" y="3551853"/>
              <a:ext cx="1472690" cy="1593060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39"/>
            <p:cNvSpPr/>
            <p:nvPr/>
          </p:nvSpPr>
          <p:spPr>
            <a:xfrm>
              <a:off x="4969444" y="3551853"/>
              <a:ext cx="1472690" cy="1593060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2" name="Google Shape;622;p39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>
                <a:highlight>
                  <a:srgbClr val="FFCD00"/>
                </a:highlight>
              </a:rPr>
              <a:t>Quantstarts </a:t>
            </a:r>
            <a:r>
              <a:rPr lang="en-US" sz="1400" b="1"/>
              <a:t> 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주요지표</a:t>
            </a:r>
            <a:endParaRPr/>
          </a:p>
        </p:txBody>
      </p:sp>
      <p:graphicFrame>
        <p:nvGraphicFramePr>
          <p:cNvPr id="623" name="Google Shape;623;p39"/>
          <p:cNvGraphicFramePr/>
          <p:nvPr/>
        </p:nvGraphicFramePr>
        <p:xfrm>
          <a:off x="1475485" y="1959615"/>
          <a:ext cx="6621225" cy="3029425"/>
        </p:xfrm>
        <a:graphic>
          <a:graphicData uri="http://schemas.openxmlformats.org/drawingml/2006/table">
            <a:tbl>
              <a:tblPr firstRow="1" firstCol="1" bandRow="1">
                <a:noFill/>
                <a:tableStyleId>{4D9EB66F-1FA9-4FDE-9DB3-DB622A6A229C}</a:tableStyleId>
              </a:tblPr>
              <a:tblGrid>
                <a:gridCol w="3269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294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 </a:t>
                      </a:r>
                      <a:r>
                        <a:rPr lang="en-US" sz="1200" u="none" strike="noStrike" cap="none"/>
                        <a:t>Strategy</a:t>
                      </a:r>
                      <a:endParaRPr sz="1200" u="none" strike="noStrike" cap="none"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------------------  ----------</a:t>
                      </a:r>
                      <a:endParaRPr sz="900" u="none" strike="noStrike" cap="none"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Start Period        2018-07-13</a:t>
                      </a:r>
                      <a:endParaRPr sz="900" u="none" strike="noStrike" cap="none"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End Period          2021-12-20</a:t>
                      </a:r>
                      <a:endParaRPr sz="900" u="none" strike="noStrike" cap="none"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Risk-Free Rate      0.0%</a:t>
                      </a:r>
                      <a:endParaRPr sz="900" u="none" strike="noStrike" cap="none"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Time in Market      92.0%</a:t>
                      </a:r>
                      <a:endParaRPr sz="900" u="none" strike="noStrike" cap="none"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 </a:t>
                      </a:r>
                      <a:endParaRPr sz="900" u="none" strike="noStrike" cap="none"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Cumulative Return   127.14%</a:t>
                      </a:r>
                      <a:endParaRPr sz="900" u="none" strike="noStrike" cap="none"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sng" strike="noStrike" cap="none"/>
                        <a:t>CAGR﹪              26.92%</a:t>
                      </a:r>
                      <a:endParaRPr sz="900" u="none" strike="noStrike" cap="none"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 </a:t>
                      </a:r>
                      <a:endParaRPr sz="900" u="none" strike="noStrike" cap="none"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sng" strike="noStrike" cap="none"/>
                        <a:t>Sharpe              0.73</a:t>
                      </a:r>
                      <a:endParaRPr sz="900" u="none" strike="noStrike" cap="none"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Sortino             1.19</a:t>
                      </a:r>
                      <a:endParaRPr sz="900" u="none" strike="noStrike" cap="none"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Sortino/√2          0.84</a:t>
                      </a:r>
                      <a:endParaRPr sz="900" u="none" strike="noStrike" cap="none"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Omega               1.15</a:t>
                      </a:r>
                      <a:endParaRPr sz="900" u="none" strike="noStrike" cap="none"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 </a:t>
                      </a:r>
                      <a:endParaRPr sz="900" u="none" strike="noStrike" cap="none"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sng" strike="noStrike" cap="none"/>
                        <a:t>Max Drawdown        -67.82%</a:t>
                      </a:r>
                      <a:endParaRPr sz="900" u="none" strike="noStrike" cap="none"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Longest DD Days     914</a:t>
                      </a:r>
                      <a:endParaRPr sz="900" u="none" strike="noStrike" cap="none"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 </a:t>
                      </a:r>
                      <a:endParaRPr sz="900" u="none" strike="noStrike" cap="none"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Gain/Pain Ratio     0.15</a:t>
                      </a:r>
                      <a:endParaRPr sz="900" u="none" strike="noStrike" cap="none"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Gain/Pain (1M)      0.67</a:t>
                      </a:r>
                      <a:endParaRPr sz="900" u="none" strike="noStrike" cap="none"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 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625" marR="39625" marT="10875" marB="108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 Payoff Ratio        1.16</a:t>
                      </a:r>
                      <a:endParaRPr sz="800" u="none" strike="noStrike" cap="none"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Profit Factor       1.15</a:t>
                      </a:r>
                      <a:endParaRPr sz="800" u="none" strike="noStrike" cap="none"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Common Sense Ratio  1.5</a:t>
                      </a:r>
                      <a:endParaRPr sz="800" u="none" strike="noStrike" cap="none"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CPC Index           0.67</a:t>
                      </a:r>
                      <a:endParaRPr sz="800" u="none" strike="noStrike" cap="none"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Tail Ratio          1.3</a:t>
                      </a:r>
                      <a:endParaRPr sz="800" u="none" strike="noStrike" cap="none"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Outlier Win Ratio   4.71</a:t>
                      </a:r>
                      <a:endParaRPr sz="800" u="none" strike="noStrike" cap="none"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Outlier Loss Ratio  3.15</a:t>
                      </a:r>
                      <a:endParaRPr sz="800" u="none" strike="noStrike" cap="none"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 </a:t>
                      </a:r>
                      <a:endParaRPr sz="800" u="none" strike="noStrike" cap="none"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MTD                 7.17%</a:t>
                      </a:r>
                      <a:endParaRPr sz="800" u="none" strike="noStrike" cap="none"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3M                  -26.6%</a:t>
                      </a:r>
                      <a:endParaRPr sz="800" u="none" strike="noStrike" cap="none"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6M                  -35.49%</a:t>
                      </a:r>
                      <a:endParaRPr sz="800" u="none" strike="noStrike" cap="none"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YTD                 154.98%</a:t>
                      </a:r>
                      <a:endParaRPr sz="800" u="none" strike="noStrike" cap="none"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1Y                  151.45%</a:t>
                      </a:r>
                      <a:endParaRPr sz="800" u="none" strike="noStrike" cap="none"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3Y (ann.)           44.07%</a:t>
                      </a:r>
                      <a:endParaRPr sz="800" u="none" strike="noStrike" cap="none"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5Y (ann.)           26.92%</a:t>
                      </a:r>
                      <a:endParaRPr sz="800" u="none" strike="noStrike" cap="none"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10Y (ann.)          26.92%</a:t>
                      </a:r>
                      <a:endParaRPr sz="800" u="none" strike="noStrike" cap="none"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All-time (ann.)     26.92%</a:t>
                      </a:r>
                      <a:endParaRPr sz="800" u="none" strike="noStrike" cap="none"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 </a:t>
                      </a:r>
                      <a:endParaRPr sz="800" u="none" strike="noStrike" cap="none"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Avg. Drawdown       -11.03%</a:t>
                      </a:r>
                      <a:endParaRPr sz="800" u="none" strike="noStrike" cap="none"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Avg. Drawdown Days  75</a:t>
                      </a:r>
                      <a:endParaRPr sz="800" u="none" strike="noStrike" cap="none"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Recovery Factor     1.87</a:t>
                      </a:r>
                      <a:endParaRPr sz="800" u="none" strike="noStrike" cap="none"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Ulcer Index         0.34</a:t>
                      </a:r>
                      <a:endParaRPr sz="800" u="none" strike="noStrike" cap="none"/>
                    </a:p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Serenity Index      0.21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625" marR="39625" marT="10875" marB="1087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4" name="Google Shape;624;p39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40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630" name="Google Shape;630;p40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sp>
        <p:nvSpPr>
          <p:cNvPr id="631" name="Google Shape;631;p40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Security Selection &amp; Backtesting Quant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632" name="Google Shape;632;p40"/>
          <p:cNvGrpSpPr/>
          <p:nvPr/>
        </p:nvGrpSpPr>
        <p:grpSpPr>
          <a:xfrm>
            <a:off x="7502903" y="0"/>
            <a:ext cx="1641097" cy="700995"/>
            <a:chOff x="545843" y="3551853"/>
            <a:chExt cx="5896291" cy="2486439"/>
          </a:xfrm>
        </p:grpSpPr>
        <p:sp>
          <p:nvSpPr>
            <p:cNvPr id="633" name="Google Shape;633;p40"/>
            <p:cNvSpPr/>
            <p:nvPr/>
          </p:nvSpPr>
          <p:spPr>
            <a:xfrm>
              <a:off x="545843" y="3551853"/>
              <a:ext cx="1472689" cy="1593060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40"/>
            <p:cNvSpPr/>
            <p:nvPr/>
          </p:nvSpPr>
          <p:spPr>
            <a:xfrm>
              <a:off x="1997208" y="3551853"/>
              <a:ext cx="1472689" cy="2486439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40"/>
            <p:cNvSpPr/>
            <p:nvPr/>
          </p:nvSpPr>
          <p:spPr>
            <a:xfrm>
              <a:off x="3469896" y="3551853"/>
              <a:ext cx="1472690" cy="1593060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40"/>
            <p:cNvSpPr/>
            <p:nvPr/>
          </p:nvSpPr>
          <p:spPr>
            <a:xfrm>
              <a:off x="4969444" y="3551853"/>
              <a:ext cx="1472690" cy="1593060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7" name="Google Shape;637;p40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>
                <a:highlight>
                  <a:srgbClr val="FFCD00"/>
                </a:highlight>
              </a:rPr>
              <a:t>시사점</a:t>
            </a:r>
            <a:endParaRPr sz="1400" b="1">
              <a:highlight>
                <a:srgbClr val="FFCD00"/>
              </a:highlight>
            </a:endParaRPr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400" b="1">
              <a:highlight>
                <a:srgbClr val="FFCD00"/>
              </a:highlight>
            </a:endParaRPr>
          </a:p>
          <a:p>
            <a:pPr marL="266700" lvl="0" indent="-1746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lang="en-US" sz="1400" b="1"/>
              <a:t>가능한 모든 지표와 시각화를 WEB에서 구현해주는 도구</a:t>
            </a:r>
            <a:endParaRPr/>
          </a:p>
          <a:p>
            <a:pPr marL="266700" lvl="0" indent="-1746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lang="en-US" sz="1400" b="1"/>
              <a:t>코드 분석에 시간이 많이 걸림</a:t>
            </a:r>
            <a:endParaRPr/>
          </a:p>
          <a:p>
            <a:pPr marL="266700" lvl="0" indent="-1746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lang="en-US" sz="1400" b="1"/>
              <a:t>이전 도구들로 기업 선별이 가능하므로, 본 도구의 상용화 연구는 과제로 남김</a:t>
            </a:r>
            <a:endParaRPr/>
          </a:p>
          <a:p>
            <a:pPr marL="266700" lvl="0" indent="-1746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400" b="1">
              <a:highlight>
                <a:srgbClr val="FFCD00"/>
              </a:highlight>
            </a:endParaRPr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/>
          </a:p>
        </p:txBody>
      </p:sp>
      <p:sp>
        <p:nvSpPr>
          <p:cNvPr id="638" name="Google Shape;638;p40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41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644" name="Google Shape;644;p41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sp>
        <p:nvSpPr>
          <p:cNvPr id="645" name="Google Shape;645;p41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Prediction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646" name="Google Shape;646;p41"/>
          <p:cNvGrpSpPr/>
          <p:nvPr/>
        </p:nvGrpSpPr>
        <p:grpSpPr>
          <a:xfrm>
            <a:off x="7502903" y="0"/>
            <a:ext cx="1641097" cy="670560"/>
            <a:chOff x="545843" y="3551853"/>
            <a:chExt cx="5896291" cy="2378486"/>
          </a:xfrm>
        </p:grpSpPr>
        <p:sp>
          <p:nvSpPr>
            <p:cNvPr id="647" name="Google Shape;647;p41"/>
            <p:cNvSpPr/>
            <p:nvPr/>
          </p:nvSpPr>
          <p:spPr>
            <a:xfrm>
              <a:off x="545843" y="3551853"/>
              <a:ext cx="1472689" cy="1593060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41"/>
            <p:cNvSpPr/>
            <p:nvPr/>
          </p:nvSpPr>
          <p:spPr>
            <a:xfrm>
              <a:off x="1997208" y="3551853"/>
              <a:ext cx="1472689" cy="1593060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41"/>
            <p:cNvSpPr/>
            <p:nvPr/>
          </p:nvSpPr>
          <p:spPr>
            <a:xfrm>
              <a:off x="3469896" y="3551853"/>
              <a:ext cx="1472689" cy="2378486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41"/>
            <p:cNvSpPr/>
            <p:nvPr/>
          </p:nvSpPr>
          <p:spPr>
            <a:xfrm>
              <a:off x="4969444" y="3551853"/>
              <a:ext cx="1472690" cy="1593060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1" name="Google Shape;651;p41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>
                <a:highlight>
                  <a:srgbClr val="FFCD00"/>
                </a:highlight>
              </a:rPr>
              <a:t>전략 </a:t>
            </a:r>
            <a:r>
              <a:rPr lang="en-US" sz="1400" b="1"/>
              <a:t> 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/>
          </a:p>
          <a:p>
            <a:pPr marL="266700" lvl="0" indent="-190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lang="en-US" sz="1400" b="1"/>
              <a:t>LSTM (Long / Short Term Memory)</a:t>
            </a:r>
            <a:endParaRPr/>
          </a:p>
          <a:p>
            <a:pPr marL="266700" lvl="0" indent="-190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lang="en-US" sz="1400" b="1"/>
              <a:t>Prophet</a:t>
            </a:r>
            <a:endParaRPr/>
          </a:p>
          <a:p>
            <a:pPr marL="266700" lvl="0" indent="-190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lang="en-US" sz="1400" b="1"/>
              <a:t>강화학습 (Reinforcement Learning)</a:t>
            </a:r>
            <a:endParaRPr/>
          </a:p>
          <a:p>
            <a:pPr marL="266700" lvl="0" indent="-190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lang="en-US" sz="1400" b="1"/>
              <a:t>볼린저밴드 (Bollinger Bands)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/>
          </a:p>
        </p:txBody>
      </p:sp>
      <p:sp>
        <p:nvSpPr>
          <p:cNvPr id="652" name="Google Shape;652;p41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42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658" name="Google Shape;658;p42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sp>
        <p:nvSpPr>
          <p:cNvPr id="659" name="Google Shape;659;p42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Prediction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660" name="Google Shape;660;p42"/>
          <p:cNvGrpSpPr/>
          <p:nvPr/>
        </p:nvGrpSpPr>
        <p:grpSpPr>
          <a:xfrm>
            <a:off x="7502903" y="0"/>
            <a:ext cx="1641097" cy="670560"/>
            <a:chOff x="545843" y="3551853"/>
            <a:chExt cx="5896291" cy="2378486"/>
          </a:xfrm>
        </p:grpSpPr>
        <p:sp>
          <p:nvSpPr>
            <p:cNvPr id="661" name="Google Shape;661;p42"/>
            <p:cNvSpPr/>
            <p:nvPr/>
          </p:nvSpPr>
          <p:spPr>
            <a:xfrm>
              <a:off x="545843" y="3551853"/>
              <a:ext cx="1472689" cy="1593060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42"/>
            <p:cNvSpPr/>
            <p:nvPr/>
          </p:nvSpPr>
          <p:spPr>
            <a:xfrm>
              <a:off x="1997208" y="3551853"/>
              <a:ext cx="1472689" cy="1593060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42"/>
            <p:cNvSpPr/>
            <p:nvPr/>
          </p:nvSpPr>
          <p:spPr>
            <a:xfrm>
              <a:off x="3469896" y="3551853"/>
              <a:ext cx="1472689" cy="2378486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42"/>
            <p:cNvSpPr/>
            <p:nvPr/>
          </p:nvSpPr>
          <p:spPr>
            <a:xfrm>
              <a:off x="4969444" y="3551853"/>
              <a:ext cx="1472690" cy="1593060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5" name="Google Shape;665;p42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>
                <a:highlight>
                  <a:srgbClr val="FFCD00"/>
                </a:highlight>
              </a:rPr>
              <a:t>전략 </a:t>
            </a:r>
            <a:r>
              <a:rPr lang="en-US" sz="1400" b="1"/>
              <a:t> 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기간  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백테스트 기간과 동일 기간 내 모델 검증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800" b="1"/>
              <a:t>※ 벤치마크 : 코스피지수</a:t>
            </a:r>
            <a:endParaRPr sz="8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8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2009.1.1. ~ 2019.12.31. 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800" b="1"/>
          </a:p>
        </p:txBody>
      </p:sp>
      <p:graphicFrame>
        <p:nvGraphicFramePr>
          <p:cNvPr id="666" name="Google Shape;666;p42"/>
          <p:cNvGraphicFramePr/>
          <p:nvPr/>
        </p:nvGraphicFramePr>
        <p:xfrm>
          <a:off x="1552257" y="2876926"/>
          <a:ext cx="6991000" cy="1466850"/>
        </p:xfrm>
        <a:graphic>
          <a:graphicData uri="http://schemas.openxmlformats.org/drawingml/2006/table">
            <a:tbl>
              <a:tblPr firstRow="1" firstCol="1" bandRow="1">
                <a:noFill/>
                <a:tableStyleId>{4D9EB66F-1FA9-4FDE-9DB3-DB622A6A229C}</a:tableStyleId>
              </a:tblPr>
              <a:tblGrid>
                <a:gridCol w="165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0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5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2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6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회사명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Z(K2)  Score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FScore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시총(10억)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CAGR(%)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Sharpe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MDD(%)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벤치마크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C00000"/>
                          </a:solidFill>
                        </a:rPr>
                        <a:t>(주)이월드</a:t>
                      </a:r>
                      <a:endParaRPr sz="1000" u="none" strike="noStrike" cap="none">
                        <a:solidFill>
                          <a:srgbClr val="C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0.743639046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7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757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33.33%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0.75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84.33%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6.12%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C00000"/>
                          </a:solidFill>
                        </a:rPr>
                        <a:t>하이트진로(주)</a:t>
                      </a:r>
                      <a:endParaRPr sz="1000" u="none" strike="noStrike" cap="none">
                        <a:solidFill>
                          <a:srgbClr val="C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-2.078810044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6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2,067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28.12%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0.31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51.64%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6.12%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(주)한익스프레스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-0.221016259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6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53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20.60%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0.62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73.32%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6.12%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코오롱글로벌(주)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-1.829412987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8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247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17.83%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0.58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64.09%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6.12%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영화금속(주)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-0.838248560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8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74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17.83%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0.58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64.09%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6.12%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C00000"/>
                          </a:solidFill>
                        </a:rPr>
                        <a:t>삼일제약(주)</a:t>
                      </a:r>
                      <a:endParaRPr sz="1000" u="none" strike="noStrike" cap="none">
                        <a:solidFill>
                          <a:srgbClr val="C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-1.701506528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6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137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15.75%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0.53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80.51%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6.12%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67" name="Google Shape;667;p42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43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673" name="Google Shape;673;p43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  <p:sp>
        <p:nvSpPr>
          <p:cNvPr id="674" name="Google Shape;674;p43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Prediction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675" name="Google Shape;675;p43"/>
          <p:cNvGrpSpPr/>
          <p:nvPr/>
        </p:nvGrpSpPr>
        <p:grpSpPr>
          <a:xfrm>
            <a:off x="7502903" y="0"/>
            <a:ext cx="1641097" cy="670560"/>
            <a:chOff x="545843" y="3551853"/>
            <a:chExt cx="5896291" cy="2378486"/>
          </a:xfrm>
        </p:grpSpPr>
        <p:sp>
          <p:nvSpPr>
            <p:cNvPr id="676" name="Google Shape;676;p43"/>
            <p:cNvSpPr/>
            <p:nvPr/>
          </p:nvSpPr>
          <p:spPr>
            <a:xfrm>
              <a:off x="545843" y="3551853"/>
              <a:ext cx="1472689" cy="1593060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43"/>
            <p:cNvSpPr/>
            <p:nvPr/>
          </p:nvSpPr>
          <p:spPr>
            <a:xfrm>
              <a:off x="1997208" y="3551853"/>
              <a:ext cx="1472689" cy="1593060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43"/>
            <p:cNvSpPr/>
            <p:nvPr/>
          </p:nvSpPr>
          <p:spPr>
            <a:xfrm>
              <a:off x="3469896" y="3551853"/>
              <a:ext cx="1472689" cy="2378486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43"/>
            <p:cNvSpPr/>
            <p:nvPr/>
          </p:nvSpPr>
          <p:spPr>
            <a:xfrm>
              <a:off x="4969444" y="3551853"/>
              <a:ext cx="1472690" cy="1593060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0" name="Google Shape;680;p43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>
                <a:highlight>
                  <a:srgbClr val="FFCD00"/>
                </a:highlight>
              </a:rPr>
              <a:t>LSTM :</a:t>
            </a:r>
            <a:r>
              <a:rPr lang="en-US" sz="1400" b="1"/>
              <a:t>  T+1 예측  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Data : 증권사 API 분단위 데이터 (Intra Data)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기간 : 2019.12.10.이후 t-20부터 t+1예측을 위한 기간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800" b="1"/>
          </a:p>
        </p:txBody>
      </p:sp>
      <p:grpSp>
        <p:nvGrpSpPr>
          <p:cNvPr id="681" name="Google Shape;681;p43"/>
          <p:cNvGrpSpPr/>
          <p:nvPr/>
        </p:nvGrpSpPr>
        <p:grpSpPr>
          <a:xfrm>
            <a:off x="818198" y="2211483"/>
            <a:ext cx="3622612" cy="2911436"/>
            <a:chOff x="818198" y="2211483"/>
            <a:chExt cx="3622612" cy="2911436"/>
          </a:xfrm>
        </p:grpSpPr>
        <p:pic>
          <p:nvPicPr>
            <p:cNvPr id="682" name="Google Shape;682;p4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18198" y="2457704"/>
              <a:ext cx="3622612" cy="26652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3" name="Google Shape;683;p43"/>
            <p:cNvSpPr txBox="1"/>
            <p:nvPr/>
          </p:nvSpPr>
          <p:spPr>
            <a:xfrm>
              <a:off x="2139919" y="2211483"/>
              <a:ext cx="979170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한익스프레스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4" name="Google Shape;684;p43"/>
          <p:cNvGrpSpPr/>
          <p:nvPr/>
        </p:nvGrpSpPr>
        <p:grpSpPr>
          <a:xfrm>
            <a:off x="4920616" y="2211483"/>
            <a:ext cx="3622612" cy="2911435"/>
            <a:chOff x="4920616" y="2211483"/>
            <a:chExt cx="3622612" cy="2911435"/>
          </a:xfrm>
        </p:grpSpPr>
        <p:pic>
          <p:nvPicPr>
            <p:cNvPr id="685" name="Google Shape;685;p4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920616" y="2457703"/>
              <a:ext cx="3622612" cy="26652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6" name="Google Shape;686;p43"/>
            <p:cNvSpPr txBox="1"/>
            <p:nvPr/>
          </p:nvSpPr>
          <p:spPr>
            <a:xfrm>
              <a:off x="6242337" y="2211483"/>
              <a:ext cx="979170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이월드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7" name="Google Shape;687;p43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44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693" name="Google Shape;693;p44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  <p:sp>
        <p:nvSpPr>
          <p:cNvPr id="694" name="Google Shape;694;p44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Prediction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695" name="Google Shape;695;p44"/>
          <p:cNvGrpSpPr/>
          <p:nvPr/>
        </p:nvGrpSpPr>
        <p:grpSpPr>
          <a:xfrm>
            <a:off x="7502903" y="0"/>
            <a:ext cx="1641097" cy="670560"/>
            <a:chOff x="545843" y="3551853"/>
            <a:chExt cx="5896291" cy="2378486"/>
          </a:xfrm>
        </p:grpSpPr>
        <p:sp>
          <p:nvSpPr>
            <p:cNvPr id="696" name="Google Shape;696;p44"/>
            <p:cNvSpPr/>
            <p:nvPr/>
          </p:nvSpPr>
          <p:spPr>
            <a:xfrm>
              <a:off x="545843" y="3551853"/>
              <a:ext cx="1472689" cy="1593060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44"/>
            <p:cNvSpPr/>
            <p:nvPr/>
          </p:nvSpPr>
          <p:spPr>
            <a:xfrm>
              <a:off x="1997208" y="3551853"/>
              <a:ext cx="1472689" cy="1593060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44"/>
            <p:cNvSpPr/>
            <p:nvPr/>
          </p:nvSpPr>
          <p:spPr>
            <a:xfrm>
              <a:off x="3469896" y="3551853"/>
              <a:ext cx="1472689" cy="2378486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44"/>
            <p:cNvSpPr/>
            <p:nvPr/>
          </p:nvSpPr>
          <p:spPr>
            <a:xfrm>
              <a:off x="4969444" y="3551853"/>
              <a:ext cx="1472690" cy="1593060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0" name="Google Shape;700;p44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>
                <a:highlight>
                  <a:srgbClr val="FFCD00"/>
                </a:highlight>
              </a:rPr>
              <a:t>LSTM :</a:t>
            </a:r>
            <a:r>
              <a:rPr lang="en-US" sz="1400" b="1"/>
              <a:t>  T+1 예측  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Data : 증권사 API 분단위 데이터 (Intra Data)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기간 : 2019.12.10.이후 t-20부터 t+1예측을 위한 기간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800" b="1"/>
          </a:p>
        </p:txBody>
      </p:sp>
      <p:grpSp>
        <p:nvGrpSpPr>
          <p:cNvPr id="701" name="Google Shape;701;p44"/>
          <p:cNvGrpSpPr/>
          <p:nvPr/>
        </p:nvGrpSpPr>
        <p:grpSpPr>
          <a:xfrm>
            <a:off x="893498" y="2211483"/>
            <a:ext cx="3478419" cy="2850030"/>
            <a:chOff x="893498" y="2211483"/>
            <a:chExt cx="3478419" cy="2850030"/>
          </a:xfrm>
        </p:grpSpPr>
        <p:sp>
          <p:nvSpPr>
            <p:cNvPr id="702" name="Google Shape;702;p44"/>
            <p:cNvSpPr txBox="1"/>
            <p:nvPr/>
          </p:nvSpPr>
          <p:spPr>
            <a:xfrm>
              <a:off x="2139919" y="2211483"/>
              <a:ext cx="979170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하이트진로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03" name="Google Shape;703;p4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93498" y="2429886"/>
              <a:ext cx="3478419" cy="263162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04" name="Google Shape;704;p44"/>
          <p:cNvGrpSpPr/>
          <p:nvPr/>
        </p:nvGrpSpPr>
        <p:grpSpPr>
          <a:xfrm>
            <a:off x="4860864" y="2211483"/>
            <a:ext cx="3682363" cy="2850030"/>
            <a:chOff x="4860864" y="2211483"/>
            <a:chExt cx="3682363" cy="2850030"/>
          </a:xfrm>
        </p:grpSpPr>
        <p:sp>
          <p:nvSpPr>
            <p:cNvPr id="705" name="Google Shape;705;p44"/>
            <p:cNvSpPr txBox="1"/>
            <p:nvPr/>
          </p:nvSpPr>
          <p:spPr>
            <a:xfrm>
              <a:off x="6242337" y="2211483"/>
              <a:ext cx="979170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영화금속</a:t>
              </a:r>
              <a:endParaRPr/>
            </a:p>
          </p:txBody>
        </p:sp>
        <p:pic>
          <p:nvPicPr>
            <p:cNvPr id="706" name="Google Shape;706;p4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860864" y="2457704"/>
              <a:ext cx="3682363" cy="26038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7" name="Google Shape;707;p44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45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713" name="Google Shape;713;p45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  <p:sp>
        <p:nvSpPr>
          <p:cNvPr id="714" name="Google Shape;714;p45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Prediction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715" name="Google Shape;715;p45"/>
          <p:cNvGrpSpPr/>
          <p:nvPr/>
        </p:nvGrpSpPr>
        <p:grpSpPr>
          <a:xfrm>
            <a:off x="7502903" y="0"/>
            <a:ext cx="1641097" cy="670560"/>
            <a:chOff x="545843" y="3551853"/>
            <a:chExt cx="5896291" cy="2378486"/>
          </a:xfrm>
        </p:grpSpPr>
        <p:sp>
          <p:nvSpPr>
            <p:cNvPr id="716" name="Google Shape;716;p45"/>
            <p:cNvSpPr/>
            <p:nvPr/>
          </p:nvSpPr>
          <p:spPr>
            <a:xfrm>
              <a:off x="545843" y="3551853"/>
              <a:ext cx="1472689" cy="1593060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45"/>
            <p:cNvSpPr/>
            <p:nvPr/>
          </p:nvSpPr>
          <p:spPr>
            <a:xfrm>
              <a:off x="1997208" y="3551853"/>
              <a:ext cx="1472689" cy="1593060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45"/>
            <p:cNvSpPr/>
            <p:nvPr/>
          </p:nvSpPr>
          <p:spPr>
            <a:xfrm>
              <a:off x="3469896" y="3551853"/>
              <a:ext cx="1472689" cy="2378486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45"/>
            <p:cNvSpPr/>
            <p:nvPr/>
          </p:nvSpPr>
          <p:spPr>
            <a:xfrm>
              <a:off x="4969444" y="3551853"/>
              <a:ext cx="1472690" cy="1593060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0" name="Google Shape;720;p45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>
                <a:highlight>
                  <a:srgbClr val="FFCD00"/>
                </a:highlight>
              </a:rPr>
              <a:t>LSTM :</a:t>
            </a:r>
            <a:r>
              <a:rPr lang="en-US" sz="1400" b="1"/>
              <a:t>  T+1 예측  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Data : 증권사 API 분단위 데이터 (Intra Data)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기간 : 2019.12.10.이후 t-20부터 t+1예측을 위한 기간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800" b="1"/>
          </a:p>
        </p:txBody>
      </p:sp>
      <p:grpSp>
        <p:nvGrpSpPr>
          <p:cNvPr id="721" name="Google Shape;721;p45"/>
          <p:cNvGrpSpPr/>
          <p:nvPr/>
        </p:nvGrpSpPr>
        <p:grpSpPr>
          <a:xfrm>
            <a:off x="876598" y="2211483"/>
            <a:ext cx="3946862" cy="2775691"/>
            <a:chOff x="876598" y="2211483"/>
            <a:chExt cx="3946862" cy="2775691"/>
          </a:xfrm>
        </p:grpSpPr>
        <p:sp>
          <p:nvSpPr>
            <p:cNvPr id="722" name="Google Shape;722;p45"/>
            <p:cNvSpPr txBox="1"/>
            <p:nvPr/>
          </p:nvSpPr>
          <p:spPr>
            <a:xfrm>
              <a:off x="2139919" y="2211483"/>
              <a:ext cx="979170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삼일제약</a:t>
              </a:r>
              <a:endParaRPr/>
            </a:p>
          </p:txBody>
        </p:sp>
        <p:pic>
          <p:nvPicPr>
            <p:cNvPr id="723" name="Google Shape;723;p4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76598" y="2428568"/>
              <a:ext cx="3946862" cy="255860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24" name="Google Shape;724;p45"/>
          <p:cNvGrpSpPr/>
          <p:nvPr/>
        </p:nvGrpSpPr>
        <p:grpSpPr>
          <a:xfrm>
            <a:off x="4899661" y="2211483"/>
            <a:ext cx="3634712" cy="2766209"/>
            <a:chOff x="4899661" y="2211483"/>
            <a:chExt cx="3634712" cy="2766209"/>
          </a:xfrm>
        </p:grpSpPr>
        <p:pic>
          <p:nvPicPr>
            <p:cNvPr id="725" name="Google Shape;725;p4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899661" y="2419085"/>
              <a:ext cx="3634712" cy="25586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6" name="Google Shape;726;p45"/>
            <p:cNvSpPr txBox="1"/>
            <p:nvPr/>
          </p:nvSpPr>
          <p:spPr>
            <a:xfrm>
              <a:off x="6242337" y="2211483"/>
              <a:ext cx="979170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코오롱글로벌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7" name="Google Shape;727;p45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46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733" name="Google Shape;733;p46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  <p:sp>
        <p:nvSpPr>
          <p:cNvPr id="734" name="Google Shape;734;p46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Prediction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735" name="Google Shape;735;p46"/>
          <p:cNvGrpSpPr/>
          <p:nvPr/>
        </p:nvGrpSpPr>
        <p:grpSpPr>
          <a:xfrm>
            <a:off x="7502903" y="0"/>
            <a:ext cx="1641097" cy="670560"/>
            <a:chOff x="545843" y="3551853"/>
            <a:chExt cx="5896291" cy="2378486"/>
          </a:xfrm>
        </p:grpSpPr>
        <p:sp>
          <p:nvSpPr>
            <p:cNvPr id="736" name="Google Shape;736;p46"/>
            <p:cNvSpPr/>
            <p:nvPr/>
          </p:nvSpPr>
          <p:spPr>
            <a:xfrm>
              <a:off x="545843" y="3551853"/>
              <a:ext cx="1472689" cy="1593060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46"/>
            <p:cNvSpPr/>
            <p:nvPr/>
          </p:nvSpPr>
          <p:spPr>
            <a:xfrm>
              <a:off x="1997208" y="3551853"/>
              <a:ext cx="1472689" cy="1593060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46"/>
            <p:cNvSpPr/>
            <p:nvPr/>
          </p:nvSpPr>
          <p:spPr>
            <a:xfrm>
              <a:off x="3469896" y="3551853"/>
              <a:ext cx="1472689" cy="2378486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46"/>
            <p:cNvSpPr/>
            <p:nvPr/>
          </p:nvSpPr>
          <p:spPr>
            <a:xfrm>
              <a:off x="4969444" y="3551853"/>
              <a:ext cx="1472690" cy="1593060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0" name="Google Shape;740;p46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>
                <a:highlight>
                  <a:srgbClr val="FFCD00"/>
                </a:highlight>
              </a:rPr>
              <a:t>LSTM :</a:t>
            </a:r>
            <a:r>
              <a:rPr lang="en-US" sz="1400" b="1"/>
              <a:t>  T+1 예측  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4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/>
              <a:t>시사점: 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/>
              <a:t>파라미터 조정 및 추가 변수의 필요성을 과제로 남김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800" b="1"/>
          </a:p>
        </p:txBody>
      </p:sp>
      <p:sp>
        <p:nvSpPr>
          <p:cNvPr id="741" name="Google Shape;741;p46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47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747" name="Google Shape;747;p47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  <p:sp>
        <p:nvSpPr>
          <p:cNvPr id="748" name="Google Shape;748;p47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Prediction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749" name="Google Shape;749;p47"/>
          <p:cNvGrpSpPr/>
          <p:nvPr/>
        </p:nvGrpSpPr>
        <p:grpSpPr>
          <a:xfrm>
            <a:off x="7502903" y="0"/>
            <a:ext cx="1641097" cy="670560"/>
            <a:chOff x="545843" y="3551853"/>
            <a:chExt cx="5896291" cy="2378486"/>
          </a:xfrm>
        </p:grpSpPr>
        <p:sp>
          <p:nvSpPr>
            <p:cNvPr id="750" name="Google Shape;750;p47"/>
            <p:cNvSpPr/>
            <p:nvPr/>
          </p:nvSpPr>
          <p:spPr>
            <a:xfrm>
              <a:off x="545843" y="3551853"/>
              <a:ext cx="1472689" cy="1593060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47"/>
            <p:cNvSpPr/>
            <p:nvPr/>
          </p:nvSpPr>
          <p:spPr>
            <a:xfrm>
              <a:off x="1997208" y="3551853"/>
              <a:ext cx="1472689" cy="1593060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47"/>
            <p:cNvSpPr/>
            <p:nvPr/>
          </p:nvSpPr>
          <p:spPr>
            <a:xfrm>
              <a:off x="3469896" y="3551853"/>
              <a:ext cx="1472689" cy="2378486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47"/>
            <p:cNvSpPr/>
            <p:nvPr/>
          </p:nvSpPr>
          <p:spPr>
            <a:xfrm>
              <a:off x="4969444" y="3551853"/>
              <a:ext cx="1472690" cy="1593060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4" name="Google Shape;754;p47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>
                <a:highlight>
                  <a:srgbClr val="FFCD00"/>
                </a:highlight>
              </a:rPr>
              <a:t>Prophet :</a:t>
            </a:r>
            <a:r>
              <a:rPr lang="en-US" sz="1400" b="1"/>
              <a:t> 추세예측</a:t>
            </a:r>
            <a:endParaRPr sz="14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Data : 일별데이터 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기간 : 23개월(2018.1.1.~2019.11.30) + 예측치 1개월(2019.12)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800" b="1"/>
          </a:p>
        </p:txBody>
      </p:sp>
      <p:grpSp>
        <p:nvGrpSpPr>
          <p:cNvPr id="755" name="Google Shape;755;p47"/>
          <p:cNvGrpSpPr/>
          <p:nvPr/>
        </p:nvGrpSpPr>
        <p:grpSpPr>
          <a:xfrm>
            <a:off x="831788" y="2211483"/>
            <a:ext cx="3595432" cy="2848197"/>
            <a:chOff x="831788" y="2211483"/>
            <a:chExt cx="3595432" cy="2848197"/>
          </a:xfrm>
        </p:grpSpPr>
        <p:sp>
          <p:nvSpPr>
            <p:cNvPr id="756" name="Google Shape;756;p47"/>
            <p:cNvSpPr txBox="1"/>
            <p:nvPr/>
          </p:nvSpPr>
          <p:spPr>
            <a:xfrm>
              <a:off x="2139919" y="2211483"/>
              <a:ext cx="979170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이월드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57" name="Google Shape;757;p4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31788" y="2427224"/>
              <a:ext cx="3595432" cy="26324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58" name="Google Shape;758;p47"/>
          <p:cNvGrpSpPr/>
          <p:nvPr/>
        </p:nvGrpSpPr>
        <p:grpSpPr>
          <a:xfrm>
            <a:off x="4821069" y="2211483"/>
            <a:ext cx="3913042" cy="2848196"/>
            <a:chOff x="4821069" y="2211483"/>
            <a:chExt cx="3913042" cy="2848196"/>
          </a:xfrm>
        </p:grpSpPr>
        <p:sp>
          <p:nvSpPr>
            <p:cNvPr id="759" name="Google Shape;759;p47"/>
            <p:cNvSpPr txBox="1"/>
            <p:nvPr/>
          </p:nvSpPr>
          <p:spPr>
            <a:xfrm>
              <a:off x="6288005" y="2211483"/>
              <a:ext cx="979170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하이트진로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60" name="Google Shape;760;p4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821069" y="2427224"/>
              <a:ext cx="3913042" cy="26324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61" name="Google Shape;761;p47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48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767" name="Google Shape;767;p48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  <p:sp>
        <p:nvSpPr>
          <p:cNvPr id="768" name="Google Shape;768;p48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Prediction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769" name="Google Shape;769;p48"/>
          <p:cNvGrpSpPr/>
          <p:nvPr/>
        </p:nvGrpSpPr>
        <p:grpSpPr>
          <a:xfrm>
            <a:off x="7502903" y="0"/>
            <a:ext cx="1641097" cy="670560"/>
            <a:chOff x="545843" y="3551853"/>
            <a:chExt cx="5896291" cy="2378486"/>
          </a:xfrm>
        </p:grpSpPr>
        <p:sp>
          <p:nvSpPr>
            <p:cNvPr id="770" name="Google Shape;770;p48"/>
            <p:cNvSpPr/>
            <p:nvPr/>
          </p:nvSpPr>
          <p:spPr>
            <a:xfrm>
              <a:off x="545843" y="3551853"/>
              <a:ext cx="1472689" cy="1593060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48"/>
            <p:cNvSpPr/>
            <p:nvPr/>
          </p:nvSpPr>
          <p:spPr>
            <a:xfrm>
              <a:off x="1997208" y="3551853"/>
              <a:ext cx="1472689" cy="1593060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48"/>
            <p:cNvSpPr/>
            <p:nvPr/>
          </p:nvSpPr>
          <p:spPr>
            <a:xfrm>
              <a:off x="3469896" y="3551853"/>
              <a:ext cx="1472689" cy="2378486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48"/>
            <p:cNvSpPr/>
            <p:nvPr/>
          </p:nvSpPr>
          <p:spPr>
            <a:xfrm>
              <a:off x="4969444" y="3551853"/>
              <a:ext cx="1472690" cy="1593060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4" name="Google Shape;774;p48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>
                <a:highlight>
                  <a:srgbClr val="FFCD00"/>
                </a:highlight>
              </a:rPr>
              <a:t>Prophet :</a:t>
            </a:r>
            <a:r>
              <a:rPr lang="en-US" sz="1400" b="1"/>
              <a:t> 추세예측</a:t>
            </a:r>
            <a:endParaRPr sz="14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Data : 일별데이터 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기간 : 23개월(2018.1.1.~2019.11.30) + 예측치 1개월(2019.12)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800" b="1"/>
          </a:p>
        </p:txBody>
      </p:sp>
      <p:grpSp>
        <p:nvGrpSpPr>
          <p:cNvPr id="775" name="Google Shape;775;p48"/>
          <p:cNvGrpSpPr/>
          <p:nvPr/>
        </p:nvGrpSpPr>
        <p:grpSpPr>
          <a:xfrm>
            <a:off x="816547" y="2211483"/>
            <a:ext cx="3625914" cy="2886297"/>
            <a:chOff x="816547" y="2211483"/>
            <a:chExt cx="3625914" cy="2886297"/>
          </a:xfrm>
        </p:grpSpPr>
        <p:sp>
          <p:nvSpPr>
            <p:cNvPr id="776" name="Google Shape;776;p48"/>
            <p:cNvSpPr txBox="1"/>
            <p:nvPr/>
          </p:nvSpPr>
          <p:spPr>
            <a:xfrm>
              <a:off x="2073848" y="2211483"/>
              <a:ext cx="1111312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한일익스프레스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77" name="Google Shape;777;p4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16547" y="2400641"/>
              <a:ext cx="3625914" cy="269713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78" name="Google Shape;778;p48"/>
          <p:cNvGrpSpPr/>
          <p:nvPr/>
        </p:nvGrpSpPr>
        <p:grpSpPr>
          <a:xfrm>
            <a:off x="4729733" y="2211483"/>
            <a:ext cx="4004378" cy="2886298"/>
            <a:chOff x="4729733" y="2211483"/>
            <a:chExt cx="4004378" cy="2886298"/>
          </a:xfrm>
        </p:grpSpPr>
        <p:sp>
          <p:nvSpPr>
            <p:cNvPr id="779" name="Google Shape;779;p48"/>
            <p:cNvSpPr txBox="1"/>
            <p:nvPr/>
          </p:nvSpPr>
          <p:spPr>
            <a:xfrm>
              <a:off x="6242337" y="2211483"/>
              <a:ext cx="979170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삼일제약</a:t>
              </a:r>
              <a:endParaRPr/>
            </a:p>
          </p:txBody>
        </p:sp>
        <p:pic>
          <p:nvPicPr>
            <p:cNvPr id="780" name="Google Shape;780;p4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729733" y="2405859"/>
              <a:ext cx="4004378" cy="269192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81" name="Google Shape;781;p48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49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787" name="Google Shape;787;p49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  <p:sp>
        <p:nvSpPr>
          <p:cNvPr id="788" name="Google Shape;788;p49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Prediction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789" name="Google Shape;789;p49"/>
          <p:cNvGrpSpPr/>
          <p:nvPr/>
        </p:nvGrpSpPr>
        <p:grpSpPr>
          <a:xfrm>
            <a:off x="7502903" y="0"/>
            <a:ext cx="1641097" cy="670560"/>
            <a:chOff x="545843" y="3551853"/>
            <a:chExt cx="5896291" cy="2378486"/>
          </a:xfrm>
        </p:grpSpPr>
        <p:sp>
          <p:nvSpPr>
            <p:cNvPr id="790" name="Google Shape;790;p49"/>
            <p:cNvSpPr/>
            <p:nvPr/>
          </p:nvSpPr>
          <p:spPr>
            <a:xfrm>
              <a:off x="545843" y="3551853"/>
              <a:ext cx="1472689" cy="1593060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49"/>
            <p:cNvSpPr/>
            <p:nvPr/>
          </p:nvSpPr>
          <p:spPr>
            <a:xfrm>
              <a:off x="1997208" y="3551853"/>
              <a:ext cx="1472689" cy="1593060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49"/>
            <p:cNvSpPr/>
            <p:nvPr/>
          </p:nvSpPr>
          <p:spPr>
            <a:xfrm>
              <a:off x="3469896" y="3551853"/>
              <a:ext cx="1472689" cy="2378486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49"/>
            <p:cNvSpPr/>
            <p:nvPr/>
          </p:nvSpPr>
          <p:spPr>
            <a:xfrm>
              <a:off x="4969444" y="3551853"/>
              <a:ext cx="1472690" cy="1593060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4" name="Google Shape;794;p49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>
                <a:highlight>
                  <a:srgbClr val="FFCD00"/>
                </a:highlight>
              </a:rPr>
              <a:t>Prophet :</a:t>
            </a:r>
            <a:r>
              <a:rPr lang="en-US" sz="1400" b="1"/>
              <a:t> 추세예측</a:t>
            </a:r>
            <a:endParaRPr sz="14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Data : 일별데이터 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기간 : 23개월(2018.1.1.~2019.11.30) + 예측치 1개월(2019.12)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800" b="1"/>
          </a:p>
        </p:txBody>
      </p:sp>
      <p:grpSp>
        <p:nvGrpSpPr>
          <p:cNvPr id="795" name="Google Shape;795;p49"/>
          <p:cNvGrpSpPr/>
          <p:nvPr/>
        </p:nvGrpSpPr>
        <p:grpSpPr>
          <a:xfrm>
            <a:off x="816548" y="2211483"/>
            <a:ext cx="3625912" cy="2931968"/>
            <a:chOff x="816548" y="2211483"/>
            <a:chExt cx="3625912" cy="2931968"/>
          </a:xfrm>
        </p:grpSpPr>
        <p:pic>
          <p:nvPicPr>
            <p:cNvPr id="796" name="Google Shape;796;p4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16548" y="2400300"/>
              <a:ext cx="3625912" cy="27431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7" name="Google Shape;797;p49"/>
            <p:cNvSpPr txBox="1"/>
            <p:nvPr/>
          </p:nvSpPr>
          <p:spPr>
            <a:xfrm>
              <a:off x="2139919" y="2211483"/>
              <a:ext cx="979170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영화금속</a:t>
              </a:r>
              <a:endParaRPr/>
            </a:p>
          </p:txBody>
        </p:sp>
      </p:grpSp>
      <p:grpSp>
        <p:nvGrpSpPr>
          <p:cNvPr id="798" name="Google Shape;798;p49"/>
          <p:cNvGrpSpPr/>
          <p:nvPr/>
        </p:nvGrpSpPr>
        <p:grpSpPr>
          <a:xfrm>
            <a:off x="4708191" y="2211483"/>
            <a:ext cx="4047462" cy="2931969"/>
            <a:chOff x="4708191" y="2211483"/>
            <a:chExt cx="4047462" cy="2931969"/>
          </a:xfrm>
        </p:grpSpPr>
        <p:pic>
          <p:nvPicPr>
            <p:cNvPr id="799" name="Google Shape;799;p4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708191" y="2400300"/>
              <a:ext cx="4047462" cy="27431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0" name="Google Shape;800;p49"/>
            <p:cNvSpPr txBox="1"/>
            <p:nvPr/>
          </p:nvSpPr>
          <p:spPr>
            <a:xfrm>
              <a:off x="6242337" y="2211483"/>
              <a:ext cx="979170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코오롱글로벌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1" name="Google Shape;801;p49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50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807" name="Google Shape;807;p50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  <p:sp>
        <p:nvSpPr>
          <p:cNvPr id="808" name="Google Shape;808;p50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Prediction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809" name="Google Shape;809;p50"/>
          <p:cNvGrpSpPr/>
          <p:nvPr/>
        </p:nvGrpSpPr>
        <p:grpSpPr>
          <a:xfrm>
            <a:off x="7502903" y="0"/>
            <a:ext cx="1641097" cy="670560"/>
            <a:chOff x="545843" y="3551853"/>
            <a:chExt cx="5896291" cy="2378486"/>
          </a:xfrm>
        </p:grpSpPr>
        <p:sp>
          <p:nvSpPr>
            <p:cNvPr id="810" name="Google Shape;810;p50"/>
            <p:cNvSpPr/>
            <p:nvPr/>
          </p:nvSpPr>
          <p:spPr>
            <a:xfrm>
              <a:off x="545843" y="3551853"/>
              <a:ext cx="1472689" cy="1593060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50"/>
            <p:cNvSpPr/>
            <p:nvPr/>
          </p:nvSpPr>
          <p:spPr>
            <a:xfrm>
              <a:off x="1997208" y="3551853"/>
              <a:ext cx="1472689" cy="1593060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50"/>
            <p:cNvSpPr/>
            <p:nvPr/>
          </p:nvSpPr>
          <p:spPr>
            <a:xfrm>
              <a:off x="3469896" y="3551853"/>
              <a:ext cx="1472689" cy="2378486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50"/>
            <p:cNvSpPr/>
            <p:nvPr/>
          </p:nvSpPr>
          <p:spPr>
            <a:xfrm>
              <a:off x="4969444" y="3551853"/>
              <a:ext cx="1472690" cy="1593060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14" name="Google Shape;814;p50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>
                <a:highlight>
                  <a:srgbClr val="FFCD00"/>
                </a:highlight>
              </a:rPr>
              <a:t>Prophet :</a:t>
            </a:r>
            <a:r>
              <a:rPr lang="en-US" sz="1400" b="1"/>
              <a:t> 추세예측</a:t>
            </a:r>
            <a:endParaRPr sz="14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4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/>
              <a:t>서사점:</a:t>
            </a:r>
            <a:endParaRPr sz="1400" b="1"/>
          </a:p>
          <a:p>
            <a:pPr marL="266700" lvl="0" indent="-190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lang="en-US" sz="1400" b="1"/>
              <a:t>RMSE 값을 낮추기 위한 파라미터 조정 필요</a:t>
            </a:r>
            <a:endParaRPr/>
          </a:p>
          <a:p>
            <a:pPr marL="266700" lvl="0" indent="-190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lang="en-US" sz="1400" b="1"/>
              <a:t>Change-point 이용한 추세 예측은 활용 할 만 함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4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800" b="1"/>
          </a:p>
        </p:txBody>
      </p:sp>
      <p:sp>
        <p:nvSpPr>
          <p:cNvPr id="815" name="Google Shape;815;p50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51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821" name="Google Shape;821;p51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  <p:sp>
        <p:nvSpPr>
          <p:cNvPr id="822" name="Google Shape;822;p51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Prediction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823" name="Google Shape;823;p51"/>
          <p:cNvGrpSpPr/>
          <p:nvPr/>
        </p:nvGrpSpPr>
        <p:grpSpPr>
          <a:xfrm>
            <a:off x="7502903" y="0"/>
            <a:ext cx="1641097" cy="670560"/>
            <a:chOff x="545843" y="3551853"/>
            <a:chExt cx="5896291" cy="2378486"/>
          </a:xfrm>
        </p:grpSpPr>
        <p:sp>
          <p:nvSpPr>
            <p:cNvPr id="824" name="Google Shape;824;p51"/>
            <p:cNvSpPr/>
            <p:nvPr/>
          </p:nvSpPr>
          <p:spPr>
            <a:xfrm>
              <a:off x="545843" y="3551853"/>
              <a:ext cx="1472689" cy="1593060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51"/>
            <p:cNvSpPr/>
            <p:nvPr/>
          </p:nvSpPr>
          <p:spPr>
            <a:xfrm>
              <a:off x="1997208" y="3551853"/>
              <a:ext cx="1472689" cy="1593060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51"/>
            <p:cNvSpPr/>
            <p:nvPr/>
          </p:nvSpPr>
          <p:spPr>
            <a:xfrm>
              <a:off x="3469896" y="3551853"/>
              <a:ext cx="1472689" cy="2378486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51"/>
            <p:cNvSpPr/>
            <p:nvPr/>
          </p:nvSpPr>
          <p:spPr>
            <a:xfrm>
              <a:off x="4969444" y="3551853"/>
              <a:ext cx="1472690" cy="1593060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8" name="Google Shape;828;p51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>
                <a:highlight>
                  <a:srgbClr val="FFCD00"/>
                </a:highlight>
              </a:rPr>
              <a:t>강화학습(Reinforcement learning)</a:t>
            </a:r>
            <a:endParaRPr sz="14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400" b="1"/>
          </a:p>
          <a:p>
            <a:pPr marL="266700" lvl="0" indent="-190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lang="en-US" sz="1400" b="1"/>
              <a:t>기간 : 10년(2009.1.1.~2019.12.30.) / train : test = 7 : 3</a:t>
            </a:r>
            <a:endParaRPr/>
          </a:p>
          <a:p>
            <a:pPr marL="266700" lvl="0" indent="-190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lang="en-US" sz="1400" b="1"/>
              <a:t>투자금액 : 5천만원</a:t>
            </a:r>
            <a:endParaRPr/>
          </a:p>
          <a:p>
            <a:pPr marL="266700" lvl="0" indent="-190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lang="en-US" sz="1400" b="1"/>
              <a:t>기업 : 추출 6기업 두 그룹으로 나누어 진행</a:t>
            </a:r>
            <a:endParaRPr sz="1400" b="1"/>
          </a:p>
        </p:txBody>
      </p:sp>
      <p:sp>
        <p:nvSpPr>
          <p:cNvPr id="829" name="Google Shape;829;p51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52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835" name="Google Shape;835;p52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  <p:sp>
        <p:nvSpPr>
          <p:cNvPr id="836" name="Google Shape;836;p52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Prediction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837" name="Google Shape;837;p52"/>
          <p:cNvGrpSpPr/>
          <p:nvPr/>
        </p:nvGrpSpPr>
        <p:grpSpPr>
          <a:xfrm>
            <a:off x="7502903" y="0"/>
            <a:ext cx="1641097" cy="670560"/>
            <a:chOff x="545843" y="3551853"/>
            <a:chExt cx="5896291" cy="2378486"/>
          </a:xfrm>
        </p:grpSpPr>
        <p:sp>
          <p:nvSpPr>
            <p:cNvPr id="838" name="Google Shape;838;p52"/>
            <p:cNvSpPr/>
            <p:nvPr/>
          </p:nvSpPr>
          <p:spPr>
            <a:xfrm>
              <a:off x="545843" y="3551853"/>
              <a:ext cx="1472689" cy="1593060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52"/>
            <p:cNvSpPr/>
            <p:nvPr/>
          </p:nvSpPr>
          <p:spPr>
            <a:xfrm>
              <a:off x="1997208" y="3551853"/>
              <a:ext cx="1472689" cy="1593060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52"/>
            <p:cNvSpPr/>
            <p:nvPr/>
          </p:nvSpPr>
          <p:spPr>
            <a:xfrm>
              <a:off x="3469896" y="3551853"/>
              <a:ext cx="1472689" cy="2378486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52"/>
            <p:cNvSpPr/>
            <p:nvPr/>
          </p:nvSpPr>
          <p:spPr>
            <a:xfrm>
              <a:off x="4969444" y="3551853"/>
              <a:ext cx="1472690" cy="1593060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2" name="Google Shape;842;p52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>
                <a:highlight>
                  <a:srgbClr val="FFCD00"/>
                </a:highlight>
              </a:rPr>
              <a:t>강화학습(Reinforcement learning)</a:t>
            </a:r>
            <a:endParaRPr sz="14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그룹 1 : 이월드, 하이트진로, 삼일제약</a:t>
            </a:r>
            <a:endParaRPr sz="1000" b="1"/>
          </a:p>
        </p:txBody>
      </p:sp>
      <p:graphicFrame>
        <p:nvGraphicFramePr>
          <p:cNvPr id="843" name="Google Shape;843;p52"/>
          <p:cNvGraphicFramePr/>
          <p:nvPr/>
        </p:nvGraphicFramePr>
        <p:xfrm>
          <a:off x="1544637" y="1955829"/>
          <a:ext cx="5958225" cy="690840"/>
        </p:xfrm>
        <a:graphic>
          <a:graphicData uri="http://schemas.openxmlformats.org/drawingml/2006/table">
            <a:tbl>
              <a:tblPr firstRow="1" firstCol="1" bandRow="1">
                <a:noFill/>
                <a:tableStyleId>{4D9EB66F-1FA9-4FDE-9DB3-DB622A6A229C}</a:tableStyleId>
              </a:tblPr>
              <a:tblGrid>
                <a:gridCol w="140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3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5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2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8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4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4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/>
                        <a:t>회사명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Z(K2)  Score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FScore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시총(10억)</a:t>
                      </a:r>
                      <a:endParaRPr sz="900" b="1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CAGR(%)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Sharpe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MDD(%)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벤치마크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rgbClr val="C00000"/>
                          </a:solidFill>
                        </a:rPr>
                        <a:t>(주)이월드</a:t>
                      </a:r>
                      <a:endParaRPr sz="900" b="1" u="none" strike="noStrike" cap="none">
                        <a:solidFill>
                          <a:srgbClr val="C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0.743639046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7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757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33.33%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0.75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84.33%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6.12%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rgbClr val="C00000"/>
                          </a:solidFill>
                        </a:rPr>
                        <a:t>하이트진로(주)</a:t>
                      </a:r>
                      <a:endParaRPr sz="900" b="1" u="none" strike="noStrike" cap="none">
                        <a:solidFill>
                          <a:srgbClr val="C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-2.078810044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2,067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28.12%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0.31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51.64%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6.12%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rgbClr val="C00000"/>
                          </a:solidFill>
                        </a:rPr>
                        <a:t>삼일제약(주)</a:t>
                      </a:r>
                      <a:endParaRPr sz="900" b="1" u="none" strike="noStrike" cap="none">
                        <a:solidFill>
                          <a:srgbClr val="C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-1.701506528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137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15.75%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0.53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80.51%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6.12%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844" name="Google Shape;844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44637" y="2710817"/>
            <a:ext cx="2975610" cy="173168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45" name="Google Shape;845;p52"/>
          <p:cNvGraphicFramePr/>
          <p:nvPr/>
        </p:nvGraphicFramePr>
        <p:xfrm>
          <a:off x="1851342" y="4427163"/>
          <a:ext cx="2362200" cy="458694"/>
        </p:xfrm>
        <a:graphic>
          <a:graphicData uri="http://schemas.openxmlformats.org/drawingml/2006/table">
            <a:tbl>
              <a:tblPr firstRow="1" firstCol="1" bandRow="1">
                <a:noFill/>
                <a:tableStyleId>{4D9EB66F-1FA9-4FDE-9DB3-DB622A6A229C}</a:tableStyleId>
              </a:tblPr>
              <a:tblGrid>
                <a:gridCol w="1198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train_average reward 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￦267,837,293 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min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￦5,988,832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max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￦6,444,161,146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846" name="Google Shape;846;p5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06820" y="2710816"/>
            <a:ext cx="2990850" cy="172636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47" name="Google Shape;847;p52"/>
          <p:cNvGraphicFramePr/>
          <p:nvPr/>
        </p:nvGraphicFramePr>
        <p:xfrm>
          <a:off x="5021146" y="4427826"/>
          <a:ext cx="2362200" cy="458694"/>
        </p:xfrm>
        <a:graphic>
          <a:graphicData uri="http://schemas.openxmlformats.org/drawingml/2006/table">
            <a:tbl>
              <a:tblPr firstRow="1" firstCol="1" bandRow="1">
                <a:noFill/>
                <a:tableStyleId>{4D9EB66F-1FA9-4FDE-9DB3-DB622A6A229C}</a:tableStyleId>
              </a:tblPr>
              <a:tblGrid>
                <a:gridCol w="1198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train_average reward 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￦131,601,775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min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￦14,414,176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max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￦1,229,983,601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48" name="Google Shape;848;p52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3" name="Google Shape;853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80370" y="2710816"/>
            <a:ext cx="2843750" cy="1731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5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50891" y="2710816"/>
            <a:ext cx="2786290" cy="1731689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53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856" name="Google Shape;856;p53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  <p:sp>
        <p:nvSpPr>
          <p:cNvPr id="857" name="Google Shape;857;p53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Prediction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858" name="Google Shape;858;p53"/>
          <p:cNvGrpSpPr/>
          <p:nvPr/>
        </p:nvGrpSpPr>
        <p:grpSpPr>
          <a:xfrm>
            <a:off x="7502903" y="0"/>
            <a:ext cx="1641097" cy="670560"/>
            <a:chOff x="545843" y="3551853"/>
            <a:chExt cx="5896291" cy="2378486"/>
          </a:xfrm>
        </p:grpSpPr>
        <p:sp>
          <p:nvSpPr>
            <p:cNvPr id="859" name="Google Shape;859;p53"/>
            <p:cNvSpPr/>
            <p:nvPr/>
          </p:nvSpPr>
          <p:spPr>
            <a:xfrm>
              <a:off x="545843" y="3551853"/>
              <a:ext cx="1472689" cy="1593060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53"/>
            <p:cNvSpPr/>
            <p:nvPr/>
          </p:nvSpPr>
          <p:spPr>
            <a:xfrm>
              <a:off x="1997208" y="3551853"/>
              <a:ext cx="1472689" cy="1593060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53"/>
            <p:cNvSpPr/>
            <p:nvPr/>
          </p:nvSpPr>
          <p:spPr>
            <a:xfrm>
              <a:off x="3469896" y="3551853"/>
              <a:ext cx="1472689" cy="2378486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53"/>
            <p:cNvSpPr/>
            <p:nvPr/>
          </p:nvSpPr>
          <p:spPr>
            <a:xfrm>
              <a:off x="4969444" y="3551853"/>
              <a:ext cx="1472690" cy="1593060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3" name="Google Shape;863;p53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>
                <a:highlight>
                  <a:srgbClr val="FFCD00"/>
                </a:highlight>
              </a:rPr>
              <a:t>강화학습(Reinforcement learning)</a:t>
            </a:r>
            <a:endParaRPr sz="14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그룹 2 : 한익스프레스, 코오롱글로벌, 영화금속 </a:t>
            </a:r>
            <a:endParaRPr sz="1000" b="1"/>
          </a:p>
        </p:txBody>
      </p:sp>
      <p:graphicFrame>
        <p:nvGraphicFramePr>
          <p:cNvPr id="864" name="Google Shape;864;p53"/>
          <p:cNvGraphicFramePr/>
          <p:nvPr/>
        </p:nvGraphicFramePr>
        <p:xfrm>
          <a:off x="1544637" y="1955829"/>
          <a:ext cx="5958225" cy="690840"/>
        </p:xfrm>
        <a:graphic>
          <a:graphicData uri="http://schemas.openxmlformats.org/drawingml/2006/table">
            <a:tbl>
              <a:tblPr firstRow="1" firstCol="1" bandRow="1">
                <a:noFill/>
                <a:tableStyleId>{4D9EB66F-1FA9-4FDE-9DB3-DB622A6A229C}</a:tableStyleId>
              </a:tblPr>
              <a:tblGrid>
                <a:gridCol w="140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3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5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2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8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4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4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/>
                        <a:t>회사명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Z(K2)  Score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FScore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시총(10억)</a:t>
                      </a:r>
                      <a:endParaRPr sz="900" b="1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CAGR(%)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Sharpe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MDD(%)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벤치마크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(주)한익스프레스</a:t>
                      </a:r>
                      <a:endParaRPr sz="900" b="1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-0.221016259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53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20.60%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0.62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73.32%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6.12%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코오롱글로벌(주)</a:t>
                      </a:r>
                      <a:endParaRPr sz="900" b="1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-1.829412987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247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17.83%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0.58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64.09%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6.12%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영화금속(주)</a:t>
                      </a:r>
                      <a:endParaRPr sz="900" b="1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-0.838248560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Dotum"/>
                          <a:ea typeface="Dotum"/>
                          <a:cs typeface="Dotum"/>
                          <a:sym typeface="Dotum"/>
                        </a:rPr>
                        <a:t>74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17.83%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0.58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64.09%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6.12%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65" name="Google Shape;865;p53"/>
          <p:cNvGraphicFramePr/>
          <p:nvPr/>
        </p:nvGraphicFramePr>
        <p:xfrm>
          <a:off x="1851342" y="4427163"/>
          <a:ext cx="2362200" cy="458694"/>
        </p:xfrm>
        <a:graphic>
          <a:graphicData uri="http://schemas.openxmlformats.org/drawingml/2006/table">
            <a:tbl>
              <a:tblPr firstRow="1" firstCol="1" bandRow="1">
                <a:noFill/>
                <a:tableStyleId>{4D9EB66F-1FA9-4FDE-9DB3-DB622A6A229C}</a:tableStyleId>
              </a:tblPr>
              <a:tblGrid>
                <a:gridCol w="1198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train_average reward 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￦305,632,305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min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￦17,750,308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max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￦1,668,796,224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66" name="Google Shape;866;p53"/>
          <p:cNvGraphicFramePr/>
          <p:nvPr/>
        </p:nvGraphicFramePr>
        <p:xfrm>
          <a:off x="5021146" y="4427163"/>
          <a:ext cx="2362200" cy="458694"/>
        </p:xfrm>
        <a:graphic>
          <a:graphicData uri="http://schemas.openxmlformats.org/drawingml/2006/table">
            <a:tbl>
              <a:tblPr firstRow="1" firstCol="1" bandRow="1">
                <a:noFill/>
                <a:tableStyleId>{4D9EB66F-1FA9-4FDE-9DB3-DB622A6A229C}</a:tableStyleId>
              </a:tblPr>
              <a:tblGrid>
                <a:gridCol w="1198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train_average reward 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￦156,595,121 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min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￦34,307,397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max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￦353,097,755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67" name="Google Shape;867;p53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54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873" name="Google Shape;873;p54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  <p:sp>
        <p:nvSpPr>
          <p:cNvPr id="874" name="Google Shape;874;p54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Prediction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875" name="Google Shape;875;p54"/>
          <p:cNvGrpSpPr/>
          <p:nvPr/>
        </p:nvGrpSpPr>
        <p:grpSpPr>
          <a:xfrm>
            <a:off x="7502903" y="0"/>
            <a:ext cx="1641097" cy="670560"/>
            <a:chOff x="545843" y="3551853"/>
            <a:chExt cx="5896291" cy="2378486"/>
          </a:xfrm>
        </p:grpSpPr>
        <p:sp>
          <p:nvSpPr>
            <p:cNvPr id="876" name="Google Shape;876;p54"/>
            <p:cNvSpPr/>
            <p:nvPr/>
          </p:nvSpPr>
          <p:spPr>
            <a:xfrm>
              <a:off x="545843" y="3551853"/>
              <a:ext cx="1472689" cy="1593060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54"/>
            <p:cNvSpPr/>
            <p:nvPr/>
          </p:nvSpPr>
          <p:spPr>
            <a:xfrm>
              <a:off x="1997208" y="3551853"/>
              <a:ext cx="1472689" cy="1593060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54"/>
            <p:cNvSpPr/>
            <p:nvPr/>
          </p:nvSpPr>
          <p:spPr>
            <a:xfrm>
              <a:off x="3469896" y="3551853"/>
              <a:ext cx="1472689" cy="2378486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54"/>
            <p:cNvSpPr/>
            <p:nvPr/>
          </p:nvSpPr>
          <p:spPr>
            <a:xfrm>
              <a:off x="4969444" y="3551853"/>
              <a:ext cx="1472690" cy="1593060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0" name="Google Shape;880;p54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>
                <a:highlight>
                  <a:srgbClr val="FFCD00"/>
                </a:highlight>
              </a:rPr>
              <a:t>강화학습(Reinforcement learning)</a:t>
            </a:r>
            <a:endParaRPr sz="14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4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/>
              <a:t>서사점:</a:t>
            </a:r>
            <a:endParaRPr sz="14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/>
              <a:t>상대적 좋은 수익을 내지만 검증되지 않는 부분이 있어 지속 연구 요망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800" b="1"/>
          </a:p>
        </p:txBody>
      </p:sp>
      <p:sp>
        <p:nvSpPr>
          <p:cNvPr id="881" name="Google Shape;881;p54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55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887" name="Google Shape;887;p55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  <p:sp>
        <p:nvSpPr>
          <p:cNvPr id="888" name="Google Shape;888;p55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Prediction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889" name="Google Shape;889;p55"/>
          <p:cNvGrpSpPr/>
          <p:nvPr/>
        </p:nvGrpSpPr>
        <p:grpSpPr>
          <a:xfrm>
            <a:off x="7502903" y="0"/>
            <a:ext cx="1641097" cy="670560"/>
            <a:chOff x="545843" y="3551853"/>
            <a:chExt cx="5896291" cy="2378486"/>
          </a:xfrm>
        </p:grpSpPr>
        <p:sp>
          <p:nvSpPr>
            <p:cNvPr id="890" name="Google Shape;890;p55"/>
            <p:cNvSpPr/>
            <p:nvPr/>
          </p:nvSpPr>
          <p:spPr>
            <a:xfrm>
              <a:off x="545843" y="3551853"/>
              <a:ext cx="1472689" cy="1593060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55"/>
            <p:cNvSpPr/>
            <p:nvPr/>
          </p:nvSpPr>
          <p:spPr>
            <a:xfrm>
              <a:off x="1997208" y="3551853"/>
              <a:ext cx="1472689" cy="1593060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55"/>
            <p:cNvSpPr/>
            <p:nvPr/>
          </p:nvSpPr>
          <p:spPr>
            <a:xfrm>
              <a:off x="3469896" y="3551853"/>
              <a:ext cx="1472689" cy="2378486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55"/>
            <p:cNvSpPr/>
            <p:nvPr/>
          </p:nvSpPr>
          <p:spPr>
            <a:xfrm>
              <a:off x="4969444" y="3551853"/>
              <a:ext cx="1472690" cy="1593060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4" name="Google Shape;894;p55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>
                <a:highlight>
                  <a:srgbClr val="FFCD00"/>
                </a:highlight>
              </a:rPr>
              <a:t>볼린저밴드 (Bollinger Bands)</a:t>
            </a:r>
            <a:endParaRPr sz="1000" b="1"/>
          </a:p>
        </p:txBody>
      </p:sp>
      <p:graphicFrame>
        <p:nvGraphicFramePr>
          <p:cNvPr id="895" name="Google Shape;895;p55"/>
          <p:cNvGraphicFramePr/>
          <p:nvPr/>
        </p:nvGraphicFramePr>
        <p:xfrm>
          <a:off x="1535746" y="1923534"/>
          <a:ext cx="6655250" cy="2744675"/>
        </p:xfrm>
        <a:graphic>
          <a:graphicData uri="http://schemas.openxmlformats.org/drawingml/2006/table">
            <a:tbl>
              <a:tblPr firstRow="1" firstCol="1" bandRow="1">
                <a:noFill/>
                <a:tableStyleId>{4D9EB66F-1FA9-4FDE-9DB3-DB622A6A229C}</a:tableStyleId>
              </a:tblPr>
              <a:tblGrid>
                <a:gridCol w="133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1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1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누적수익률</a:t>
                      </a:r>
                      <a:endParaRPr sz="1100" b="1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 cap="none"/>
                        <a:t>Accunulated return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/>
                        <a:t>1년</a:t>
                      </a:r>
                      <a:endParaRPr sz="12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/>
                        <a:t>3년</a:t>
                      </a:r>
                      <a:endParaRPr sz="12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/>
                        <a:t>5년</a:t>
                      </a:r>
                      <a:endParaRPr sz="12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/>
                        <a:t>10년</a:t>
                      </a:r>
                      <a:endParaRPr sz="12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회사명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2019.1.1.~2019.12.31</a:t>
                      </a:r>
                      <a:endParaRPr sz="8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2017.1.1.~2019.12.31</a:t>
                      </a:r>
                      <a:endParaRPr sz="8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2015.1.1.~2019.12.31</a:t>
                      </a:r>
                      <a:endParaRPr sz="8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2009.1.1.~2019.12.31</a:t>
                      </a:r>
                      <a:endParaRPr sz="8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00000"/>
                          </a:solidFill>
                        </a:rPr>
                        <a:t>(주)이월드</a:t>
                      </a:r>
                      <a:endParaRPr sz="900" u="none" strike="noStrike" cap="none">
                        <a:solidFill>
                          <a:srgbClr val="C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1.6363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2.0338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2.0932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2.3753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00000"/>
                          </a:solidFill>
                        </a:rPr>
                        <a:t>하이트진로(주)</a:t>
                      </a:r>
                      <a:endParaRPr sz="900" u="none" strike="noStrike" cap="none">
                        <a:solidFill>
                          <a:srgbClr val="C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1.4944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1.9585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2.2187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1.9102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(주)한익스프레스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0.7516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0.5051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0.3330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0.4453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코오롱글로벌(주)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1.2419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1.1333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1.0260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0.5321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영화금속(주)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1.0109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0.8256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1.2012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2.6442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00000"/>
                          </a:solidFill>
                        </a:rPr>
                        <a:t>삼일제약(주)</a:t>
                      </a:r>
                      <a:endParaRPr sz="900" u="none" strike="noStrike" cap="none">
                        <a:solidFill>
                          <a:srgbClr val="C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0.8193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1.5487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1.5609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1.3937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코스피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1.0309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1.0911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1.1675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1.5781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96" name="Google Shape;896;p55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56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902" name="Google Shape;902;p56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  <p:sp>
        <p:nvSpPr>
          <p:cNvPr id="903" name="Google Shape;903;p56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Prediction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904" name="Google Shape;904;p56"/>
          <p:cNvGrpSpPr/>
          <p:nvPr/>
        </p:nvGrpSpPr>
        <p:grpSpPr>
          <a:xfrm>
            <a:off x="7502903" y="0"/>
            <a:ext cx="1641097" cy="670560"/>
            <a:chOff x="545843" y="3551853"/>
            <a:chExt cx="5896291" cy="2378486"/>
          </a:xfrm>
        </p:grpSpPr>
        <p:sp>
          <p:nvSpPr>
            <p:cNvPr id="905" name="Google Shape;905;p56"/>
            <p:cNvSpPr/>
            <p:nvPr/>
          </p:nvSpPr>
          <p:spPr>
            <a:xfrm>
              <a:off x="545843" y="3551853"/>
              <a:ext cx="1472689" cy="1593060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56"/>
            <p:cNvSpPr/>
            <p:nvPr/>
          </p:nvSpPr>
          <p:spPr>
            <a:xfrm>
              <a:off x="1997208" y="3551853"/>
              <a:ext cx="1472689" cy="1593060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56"/>
            <p:cNvSpPr/>
            <p:nvPr/>
          </p:nvSpPr>
          <p:spPr>
            <a:xfrm>
              <a:off x="3469896" y="3551853"/>
              <a:ext cx="1472689" cy="2378486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56"/>
            <p:cNvSpPr/>
            <p:nvPr/>
          </p:nvSpPr>
          <p:spPr>
            <a:xfrm>
              <a:off x="4969444" y="3551853"/>
              <a:ext cx="1472690" cy="1593060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9" name="Google Shape;909;p56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>
                <a:highlight>
                  <a:srgbClr val="FFCD00"/>
                </a:highlight>
              </a:rPr>
              <a:t>강화학습(Reinforcement learning)</a:t>
            </a:r>
            <a:endParaRPr sz="14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4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/>
              <a:t>서사점:</a:t>
            </a:r>
            <a:endParaRPr/>
          </a:p>
          <a:p>
            <a:pPr marL="266700" lvl="0" indent="-190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lang="en-US" sz="1400" b="1"/>
              <a:t>벤치마크 대비 좋은 수익률 내고 있음. 차후 이평선, 표준편차 조정 가능</a:t>
            </a:r>
            <a:endParaRPr/>
          </a:p>
          <a:p>
            <a:pPr marL="266700" lvl="0" indent="-190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lang="en-US" sz="1400" b="1"/>
              <a:t>설명 가능한 모델로서 Forecasting 선정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800" b="1"/>
          </a:p>
        </p:txBody>
      </p:sp>
      <p:sp>
        <p:nvSpPr>
          <p:cNvPr id="910" name="Google Shape;910;p56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57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916" name="Google Shape;916;p57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  <p:sp>
        <p:nvSpPr>
          <p:cNvPr id="917" name="Google Shape;917;p57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 Forecasting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918" name="Google Shape;918;p57"/>
          <p:cNvGrpSpPr/>
          <p:nvPr/>
        </p:nvGrpSpPr>
        <p:grpSpPr>
          <a:xfrm>
            <a:off x="7502903" y="0"/>
            <a:ext cx="1641097" cy="723900"/>
            <a:chOff x="545843" y="3551853"/>
            <a:chExt cx="5896291" cy="2567684"/>
          </a:xfrm>
        </p:grpSpPr>
        <p:sp>
          <p:nvSpPr>
            <p:cNvPr id="919" name="Google Shape;919;p57"/>
            <p:cNvSpPr/>
            <p:nvPr/>
          </p:nvSpPr>
          <p:spPr>
            <a:xfrm>
              <a:off x="545843" y="3551853"/>
              <a:ext cx="1472689" cy="1593060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57"/>
            <p:cNvSpPr/>
            <p:nvPr/>
          </p:nvSpPr>
          <p:spPr>
            <a:xfrm>
              <a:off x="1997208" y="3551853"/>
              <a:ext cx="1472689" cy="1593060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57"/>
            <p:cNvSpPr/>
            <p:nvPr/>
          </p:nvSpPr>
          <p:spPr>
            <a:xfrm>
              <a:off x="3469896" y="3551853"/>
              <a:ext cx="1472689" cy="1593060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57"/>
            <p:cNvSpPr/>
            <p:nvPr/>
          </p:nvSpPr>
          <p:spPr>
            <a:xfrm>
              <a:off x="4969445" y="3551853"/>
              <a:ext cx="1472689" cy="2567684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3" name="Google Shape;923;p57"/>
          <p:cNvSpPr txBox="1"/>
          <p:nvPr/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rPr>
              <a:t>57</a:t>
            </a:fld>
            <a:endParaRPr sz="1000" b="0" i="0" u="none" strike="noStrike" cap="none">
              <a:solidFill>
                <a:srgbClr val="1D1D1B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24" name="Google Shape;924;p57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>
                <a:highlight>
                  <a:srgbClr val="FFCD00"/>
                </a:highlight>
              </a:rPr>
              <a:t>Prophet :</a:t>
            </a:r>
            <a:r>
              <a:rPr lang="en-US" sz="1400" b="1"/>
              <a:t> 추세예측</a:t>
            </a:r>
            <a:endParaRPr sz="14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기간 : 2020.5.1.~현재(코로나 이상치 제외 후 경기 회복기간 선정)</a:t>
            </a:r>
            <a:endParaRPr sz="800" b="1"/>
          </a:p>
        </p:txBody>
      </p:sp>
      <p:grpSp>
        <p:nvGrpSpPr>
          <p:cNvPr id="925" name="Google Shape;925;p57"/>
          <p:cNvGrpSpPr/>
          <p:nvPr/>
        </p:nvGrpSpPr>
        <p:grpSpPr>
          <a:xfrm>
            <a:off x="763208" y="2211483"/>
            <a:ext cx="3732592" cy="2932017"/>
            <a:chOff x="763208" y="2211483"/>
            <a:chExt cx="3732592" cy="2932017"/>
          </a:xfrm>
        </p:grpSpPr>
        <p:sp>
          <p:nvSpPr>
            <p:cNvPr id="926" name="Google Shape;926;p57"/>
            <p:cNvSpPr txBox="1"/>
            <p:nvPr/>
          </p:nvSpPr>
          <p:spPr>
            <a:xfrm>
              <a:off x="2139919" y="2211483"/>
              <a:ext cx="979170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이월드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27" name="Google Shape;927;p5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63208" y="2457704"/>
              <a:ext cx="3732592" cy="26857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28" name="Google Shape;928;p57"/>
          <p:cNvGrpSpPr/>
          <p:nvPr/>
        </p:nvGrpSpPr>
        <p:grpSpPr>
          <a:xfrm>
            <a:off x="4746188" y="2211483"/>
            <a:ext cx="4062804" cy="2932018"/>
            <a:chOff x="4746188" y="2211483"/>
            <a:chExt cx="4062804" cy="2932018"/>
          </a:xfrm>
        </p:grpSpPr>
        <p:sp>
          <p:nvSpPr>
            <p:cNvPr id="929" name="Google Shape;929;p57"/>
            <p:cNvSpPr txBox="1"/>
            <p:nvPr/>
          </p:nvSpPr>
          <p:spPr>
            <a:xfrm>
              <a:off x="6288005" y="2211483"/>
              <a:ext cx="979170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하이트진로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30" name="Google Shape;930;p5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746188" y="2457705"/>
              <a:ext cx="4062804" cy="26857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31" name="Google Shape;931;p57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58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937" name="Google Shape;937;p58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  <p:sp>
        <p:nvSpPr>
          <p:cNvPr id="938" name="Google Shape;938;p58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 Forecasting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939" name="Google Shape;939;p58"/>
          <p:cNvGrpSpPr/>
          <p:nvPr/>
        </p:nvGrpSpPr>
        <p:grpSpPr>
          <a:xfrm>
            <a:off x="7502903" y="0"/>
            <a:ext cx="1641097" cy="723900"/>
            <a:chOff x="545843" y="3551853"/>
            <a:chExt cx="5896291" cy="2567684"/>
          </a:xfrm>
        </p:grpSpPr>
        <p:sp>
          <p:nvSpPr>
            <p:cNvPr id="940" name="Google Shape;940;p58"/>
            <p:cNvSpPr/>
            <p:nvPr/>
          </p:nvSpPr>
          <p:spPr>
            <a:xfrm>
              <a:off x="545843" y="3551853"/>
              <a:ext cx="1472689" cy="1593060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58"/>
            <p:cNvSpPr/>
            <p:nvPr/>
          </p:nvSpPr>
          <p:spPr>
            <a:xfrm>
              <a:off x="1997208" y="3551853"/>
              <a:ext cx="1472689" cy="1593060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58"/>
            <p:cNvSpPr/>
            <p:nvPr/>
          </p:nvSpPr>
          <p:spPr>
            <a:xfrm>
              <a:off x="3469896" y="3551853"/>
              <a:ext cx="1472689" cy="1593060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58"/>
            <p:cNvSpPr/>
            <p:nvPr/>
          </p:nvSpPr>
          <p:spPr>
            <a:xfrm>
              <a:off x="4969445" y="3551853"/>
              <a:ext cx="1472689" cy="2567684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4" name="Google Shape;944;p58"/>
          <p:cNvSpPr txBox="1"/>
          <p:nvPr/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rPr>
              <a:t>58</a:t>
            </a:fld>
            <a:endParaRPr sz="1000" b="0" i="0" u="none" strike="noStrike" cap="none">
              <a:solidFill>
                <a:srgbClr val="1D1D1B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45" name="Google Shape;945;p58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>
                <a:highlight>
                  <a:srgbClr val="FFCD00"/>
                </a:highlight>
              </a:rPr>
              <a:t>Prophet :</a:t>
            </a:r>
            <a:r>
              <a:rPr lang="en-US" sz="1400" b="1"/>
              <a:t> 추세예측</a:t>
            </a:r>
            <a:endParaRPr sz="14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기간 : 2020.5.1.~현재(코로나 이상치 제외 후 경기 회복기간 선정)</a:t>
            </a:r>
            <a:endParaRPr sz="800" b="1"/>
          </a:p>
        </p:txBody>
      </p:sp>
      <p:grpSp>
        <p:nvGrpSpPr>
          <p:cNvPr id="946" name="Google Shape;946;p58"/>
          <p:cNvGrpSpPr/>
          <p:nvPr/>
        </p:nvGrpSpPr>
        <p:grpSpPr>
          <a:xfrm>
            <a:off x="792719" y="2211483"/>
            <a:ext cx="3673570" cy="2931968"/>
            <a:chOff x="792719" y="2211483"/>
            <a:chExt cx="3673570" cy="2931968"/>
          </a:xfrm>
        </p:grpSpPr>
        <p:sp>
          <p:nvSpPr>
            <p:cNvPr id="947" name="Google Shape;947;p58"/>
            <p:cNvSpPr txBox="1"/>
            <p:nvPr/>
          </p:nvSpPr>
          <p:spPr>
            <a:xfrm>
              <a:off x="2073848" y="2211483"/>
              <a:ext cx="1111312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한일익스프레스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48" name="Google Shape;948;p5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92719" y="2435324"/>
              <a:ext cx="3673570" cy="270812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49" name="Google Shape;949;p58"/>
          <p:cNvGrpSpPr/>
          <p:nvPr/>
        </p:nvGrpSpPr>
        <p:grpSpPr>
          <a:xfrm>
            <a:off x="4677712" y="2211483"/>
            <a:ext cx="4108420" cy="2931968"/>
            <a:chOff x="4677712" y="2211483"/>
            <a:chExt cx="4108420" cy="2931968"/>
          </a:xfrm>
        </p:grpSpPr>
        <p:sp>
          <p:nvSpPr>
            <p:cNvPr id="950" name="Google Shape;950;p58"/>
            <p:cNvSpPr txBox="1"/>
            <p:nvPr/>
          </p:nvSpPr>
          <p:spPr>
            <a:xfrm>
              <a:off x="6242337" y="2211483"/>
              <a:ext cx="979170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삼일제약</a:t>
              </a:r>
              <a:endParaRPr/>
            </a:p>
          </p:txBody>
        </p:sp>
        <p:pic>
          <p:nvPicPr>
            <p:cNvPr id="951" name="Google Shape;951;p5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677712" y="2435324"/>
              <a:ext cx="4108420" cy="270812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52" name="Google Shape;952;p58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59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958" name="Google Shape;958;p59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59</a:t>
            </a:fld>
            <a:endParaRPr/>
          </a:p>
        </p:txBody>
      </p:sp>
      <p:sp>
        <p:nvSpPr>
          <p:cNvPr id="959" name="Google Shape;959;p59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 Forecasting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960" name="Google Shape;960;p59"/>
          <p:cNvGrpSpPr/>
          <p:nvPr/>
        </p:nvGrpSpPr>
        <p:grpSpPr>
          <a:xfrm>
            <a:off x="7502903" y="0"/>
            <a:ext cx="1641097" cy="723900"/>
            <a:chOff x="545843" y="3551853"/>
            <a:chExt cx="5896291" cy="2567684"/>
          </a:xfrm>
        </p:grpSpPr>
        <p:sp>
          <p:nvSpPr>
            <p:cNvPr id="961" name="Google Shape;961;p59"/>
            <p:cNvSpPr/>
            <p:nvPr/>
          </p:nvSpPr>
          <p:spPr>
            <a:xfrm>
              <a:off x="545843" y="3551853"/>
              <a:ext cx="1472689" cy="1593060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59"/>
            <p:cNvSpPr/>
            <p:nvPr/>
          </p:nvSpPr>
          <p:spPr>
            <a:xfrm>
              <a:off x="1997208" y="3551853"/>
              <a:ext cx="1472689" cy="1593060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59"/>
            <p:cNvSpPr/>
            <p:nvPr/>
          </p:nvSpPr>
          <p:spPr>
            <a:xfrm>
              <a:off x="3469896" y="3551853"/>
              <a:ext cx="1472689" cy="1593060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59"/>
            <p:cNvSpPr/>
            <p:nvPr/>
          </p:nvSpPr>
          <p:spPr>
            <a:xfrm>
              <a:off x="4969445" y="3551853"/>
              <a:ext cx="1472689" cy="2567684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5" name="Google Shape;965;p59"/>
          <p:cNvSpPr txBox="1"/>
          <p:nvPr/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rPr>
              <a:t>59</a:t>
            </a:fld>
            <a:endParaRPr sz="1000" b="0" i="0" u="none" strike="noStrike" cap="none">
              <a:solidFill>
                <a:srgbClr val="1D1D1B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66" name="Google Shape;966;p59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>
                <a:highlight>
                  <a:srgbClr val="FFCD00"/>
                </a:highlight>
              </a:rPr>
              <a:t>Prophet :</a:t>
            </a:r>
            <a:r>
              <a:rPr lang="en-US" sz="1400" b="1"/>
              <a:t> 추세예측</a:t>
            </a:r>
            <a:endParaRPr sz="14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기간 : 2020.5.1.~현재(코로나 이상치 제외 후 경기 회복기간 선정)</a:t>
            </a:r>
            <a:endParaRPr sz="800" b="1"/>
          </a:p>
        </p:txBody>
      </p:sp>
      <p:grpSp>
        <p:nvGrpSpPr>
          <p:cNvPr id="967" name="Google Shape;967;p59"/>
          <p:cNvGrpSpPr/>
          <p:nvPr/>
        </p:nvGrpSpPr>
        <p:grpSpPr>
          <a:xfrm>
            <a:off x="763208" y="2211483"/>
            <a:ext cx="3732592" cy="2931968"/>
            <a:chOff x="763208" y="2211483"/>
            <a:chExt cx="3732592" cy="2931968"/>
          </a:xfrm>
        </p:grpSpPr>
        <p:sp>
          <p:nvSpPr>
            <p:cNvPr id="968" name="Google Shape;968;p59"/>
            <p:cNvSpPr txBox="1"/>
            <p:nvPr/>
          </p:nvSpPr>
          <p:spPr>
            <a:xfrm>
              <a:off x="2139919" y="2211483"/>
              <a:ext cx="979170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영화금속</a:t>
              </a:r>
              <a:endParaRPr/>
            </a:p>
          </p:txBody>
        </p:sp>
        <p:pic>
          <p:nvPicPr>
            <p:cNvPr id="969" name="Google Shape;969;p5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63208" y="2431756"/>
              <a:ext cx="3732592" cy="271169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70" name="Google Shape;970;p59"/>
          <p:cNvGrpSpPr/>
          <p:nvPr/>
        </p:nvGrpSpPr>
        <p:grpSpPr>
          <a:xfrm>
            <a:off x="4654852" y="2211483"/>
            <a:ext cx="4154140" cy="2932017"/>
            <a:chOff x="4654852" y="2211483"/>
            <a:chExt cx="4154140" cy="2932017"/>
          </a:xfrm>
        </p:grpSpPr>
        <p:sp>
          <p:nvSpPr>
            <p:cNvPr id="971" name="Google Shape;971;p59"/>
            <p:cNvSpPr txBox="1"/>
            <p:nvPr/>
          </p:nvSpPr>
          <p:spPr>
            <a:xfrm>
              <a:off x="6242337" y="2211483"/>
              <a:ext cx="979170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코오롱글로벌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72" name="Google Shape;972;p5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654852" y="2431756"/>
              <a:ext cx="4154140" cy="271174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73" name="Google Shape;973;p59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60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979" name="Google Shape;979;p60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60</a:t>
            </a:fld>
            <a:endParaRPr/>
          </a:p>
        </p:txBody>
      </p:sp>
      <p:sp>
        <p:nvSpPr>
          <p:cNvPr id="980" name="Google Shape;980;p60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 Forecasting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981" name="Google Shape;981;p60"/>
          <p:cNvGrpSpPr/>
          <p:nvPr/>
        </p:nvGrpSpPr>
        <p:grpSpPr>
          <a:xfrm>
            <a:off x="7502903" y="0"/>
            <a:ext cx="1641097" cy="723900"/>
            <a:chOff x="545843" y="3551853"/>
            <a:chExt cx="5896291" cy="2567684"/>
          </a:xfrm>
        </p:grpSpPr>
        <p:sp>
          <p:nvSpPr>
            <p:cNvPr id="982" name="Google Shape;982;p60"/>
            <p:cNvSpPr/>
            <p:nvPr/>
          </p:nvSpPr>
          <p:spPr>
            <a:xfrm>
              <a:off x="545843" y="3551853"/>
              <a:ext cx="1472689" cy="1593060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60"/>
            <p:cNvSpPr/>
            <p:nvPr/>
          </p:nvSpPr>
          <p:spPr>
            <a:xfrm>
              <a:off x="1997208" y="3551853"/>
              <a:ext cx="1472689" cy="1593060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60"/>
            <p:cNvSpPr/>
            <p:nvPr/>
          </p:nvSpPr>
          <p:spPr>
            <a:xfrm>
              <a:off x="3469896" y="3551853"/>
              <a:ext cx="1472689" cy="1593060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60"/>
            <p:cNvSpPr/>
            <p:nvPr/>
          </p:nvSpPr>
          <p:spPr>
            <a:xfrm>
              <a:off x="4969445" y="3551853"/>
              <a:ext cx="1472689" cy="2567684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6" name="Google Shape;986;p60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>
                <a:highlight>
                  <a:srgbClr val="FFCD00"/>
                </a:highlight>
              </a:rPr>
              <a:t>강화학습(Reinforcement learning)</a:t>
            </a:r>
            <a:endParaRPr sz="14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4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/>
              <a:t>서사점:</a:t>
            </a:r>
            <a:endParaRPr/>
          </a:p>
          <a:p>
            <a:pPr marL="266700" lvl="0" indent="-190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lang="en-US" sz="1400" b="1"/>
              <a:t>벤치마크 대비 좋은 수익률 내고 있음. 차후 이평선, 표준편차 조정 가능</a:t>
            </a:r>
            <a:endParaRPr/>
          </a:p>
          <a:p>
            <a:pPr marL="266700" lvl="0" indent="-190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lang="en-US" sz="1400" b="1"/>
              <a:t>설명 가능한 모델로서 Forecasting 선정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800" b="1"/>
          </a:p>
        </p:txBody>
      </p:sp>
      <p:sp>
        <p:nvSpPr>
          <p:cNvPr id="987" name="Google Shape;987;p60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61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연구과정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993" name="Google Shape;993;p61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61</a:t>
            </a:fld>
            <a:endParaRPr/>
          </a:p>
        </p:txBody>
      </p:sp>
      <p:sp>
        <p:nvSpPr>
          <p:cNvPr id="994" name="Google Shape;994;p61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 Forecasting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995" name="Google Shape;995;p61"/>
          <p:cNvGrpSpPr/>
          <p:nvPr/>
        </p:nvGrpSpPr>
        <p:grpSpPr>
          <a:xfrm>
            <a:off x="7502903" y="0"/>
            <a:ext cx="1641097" cy="723900"/>
            <a:chOff x="545843" y="3551853"/>
            <a:chExt cx="5896291" cy="2567684"/>
          </a:xfrm>
        </p:grpSpPr>
        <p:sp>
          <p:nvSpPr>
            <p:cNvPr id="996" name="Google Shape;996;p61"/>
            <p:cNvSpPr/>
            <p:nvPr/>
          </p:nvSpPr>
          <p:spPr>
            <a:xfrm>
              <a:off x="545843" y="3551853"/>
              <a:ext cx="1472689" cy="1593060"/>
            </a:xfrm>
            <a:prstGeom prst="rect">
              <a:avLst/>
            </a:prstGeom>
            <a:solidFill>
              <a:srgbClr val="FFE166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61"/>
            <p:cNvSpPr/>
            <p:nvPr/>
          </p:nvSpPr>
          <p:spPr>
            <a:xfrm>
              <a:off x="1997208" y="3551853"/>
              <a:ext cx="1472689" cy="1593060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BA9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61"/>
            <p:cNvSpPr/>
            <p:nvPr/>
          </p:nvSpPr>
          <p:spPr>
            <a:xfrm>
              <a:off x="3469896" y="3551853"/>
              <a:ext cx="1472689" cy="1593060"/>
            </a:xfrm>
            <a:prstGeom prst="rect">
              <a:avLst/>
            </a:prstGeom>
            <a:solidFill>
              <a:srgbClr val="BF9900"/>
            </a:solidFill>
            <a:ln w="25400" cap="flat" cmpd="sng">
              <a:solidFill>
                <a:srgbClr val="C66E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61"/>
            <p:cNvSpPr/>
            <p:nvPr/>
          </p:nvSpPr>
          <p:spPr>
            <a:xfrm>
              <a:off x="4969445" y="3551853"/>
              <a:ext cx="1472689" cy="2567684"/>
            </a:xfrm>
            <a:prstGeom prst="rect">
              <a:avLst/>
            </a:prstGeom>
            <a:solidFill>
              <a:srgbClr val="7F6600"/>
            </a:solidFill>
            <a:ln w="25400" cap="flat" cmpd="sng">
              <a:solidFill>
                <a:srgbClr val="5334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0" name="Google Shape;1000;p61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>
                <a:highlight>
                  <a:srgbClr val="FFCD00"/>
                </a:highlight>
              </a:rPr>
              <a:t>볼린저밴드 (Bollinger Bands)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기간 : 2020.5.1.~현재(코로나 이상치 제외 후 경기 회복기간 선정)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800" b="1"/>
          </a:p>
        </p:txBody>
      </p:sp>
      <p:sp>
        <p:nvSpPr>
          <p:cNvPr id="1001" name="Google Shape;1001;p61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62"/>
          <p:cNvSpPr txBox="1">
            <a:spLocks noGrp="1"/>
          </p:cNvSpPr>
          <p:nvPr>
            <p:ph type="ctrTitle"/>
          </p:nvPr>
        </p:nvSpPr>
        <p:spPr>
          <a:xfrm>
            <a:off x="2022225" y="1693523"/>
            <a:ext cx="37878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Conlusion</a:t>
            </a:r>
            <a:endParaRPr/>
          </a:p>
        </p:txBody>
      </p:sp>
      <p:sp>
        <p:nvSpPr>
          <p:cNvPr id="1007" name="Google Shape;1007;p62"/>
          <p:cNvSpPr txBox="1">
            <a:spLocks noGrp="1"/>
          </p:cNvSpPr>
          <p:nvPr>
            <p:ph type="subTitle" idx="1"/>
          </p:nvPr>
        </p:nvSpPr>
        <p:spPr>
          <a:xfrm>
            <a:off x="2022300" y="2815923"/>
            <a:ext cx="55914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최종서사점, 프로젝트 요약, 그리고 지속과제 </a:t>
            </a:r>
            <a:endParaRPr/>
          </a:p>
        </p:txBody>
      </p:sp>
      <p:sp>
        <p:nvSpPr>
          <p:cNvPr id="1008" name="Google Shape;1008;p62"/>
          <p:cNvSpPr txBox="1"/>
          <p:nvPr/>
        </p:nvSpPr>
        <p:spPr>
          <a:xfrm>
            <a:off x="1133975" y="2291150"/>
            <a:ext cx="543900" cy="5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3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09" name="Google Shape;1009;p62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62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63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도출결론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1015" name="Google Shape;1015;p63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63</a:t>
            </a:fld>
            <a:endParaRPr/>
          </a:p>
        </p:txBody>
      </p:sp>
      <p:sp>
        <p:nvSpPr>
          <p:cNvPr id="1016" name="Google Shape;1016;p63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도출서사점</a:t>
            </a:r>
            <a:endParaRPr/>
          </a:p>
        </p:txBody>
      </p:sp>
      <p:sp>
        <p:nvSpPr>
          <p:cNvPr id="1017" name="Google Shape;1017;p63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>
                <a:highlight>
                  <a:srgbClr val="FFCD00"/>
                </a:highlight>
              </a:rPr>
              <a:t>최종 서사점 1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바이 앤 홀드 백테스팅</a:t>
            </a:r>
            <a:endParaRPr sz="1000" b="1"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1"/>
              <a:t>Prophet는 하이트진로 제외하고는 하향 예측이므로 투자 주의 요망</a:t>
            </a:r>
            <a:endParaRPr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1"/>
              <a:t>6개 기업에 1천만원씩 동기간 투자 시 총 수익률 49.5%(불확실성 대비 분산투자)</a:t>
            </a:r>
            <a:endParaRPr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1"/>
              <a:t>동기간 코스피 수익률 11.91, 코스피 우량주 50 수익률 4.84(안정성)  </a:t>
            </a:r>
            <a:endParaRPr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1"/>
              <a:t>분산투자 효과로 50%의 총 수익률</a:t>
            </a:r>
            <a:endParaRPr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1"/>
              <a:t>수수료 때문에 약간 낮을 것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800" b="1"/>
          </a:p>
        </p:txBody>
      </p:sp>
      <p:graphicFrame>
        <p:nvGraphicFramePr>
          <p:cNvPr id="1018" name="Google Shape;1018;p63"/>
          <p:cNvGraphicFramePr/>
          <p:nvPr/>
        </p:nvGraphicFramePr>
        <p:xfrm>
          <a:off x="2186464" y="3160585"/>
          <a:ext cx="4771075" cy="1727100"/>
        </p:xfrm>
        <a:graphic>
          <a:graphicData uri="http://schemas.openxmlformats.org/drawingml/2006/table">
            <a:tbl>
              <a:tblPr firstRow="1" firstCol="1" bandRow="1">
                <a:noFill/>
                <a:tableStyleId>{4D9EB66F-1FA9-4FDE-9DB3-DB622A6A229C}</a:tableStyleId>
              </a:tblPr>
              <a:tblGrid>
                <a:gridCol w="104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4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2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9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/>
                        <a:t>회사명</a:t>
                      </a:r>
                      <a:endParaRPr sz="9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/>
                        <a:t>누적수익률 (Accunulated Return)</a:t>
                      </a:r>
                      <a:endParaRPr sz="9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/>
                        <a:t>기업당 1000(만원)</a:t>
                      </a:r>
                      <a:endParaRPr sz="9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/>
                        <a:t>수익률(%)</a:t>
                      </a:r>
                      <a:endParaRPr sz="9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rgbClr val="C00000"/>
                          </a:solidFill>
                        </a:rPr>
                        <a:t>(주)이월드</a:t>
                      </a:r>
                      <a:endParaRPr sz="900" b="1" u="none" strike="noStrike" cap="none">
                        <a:solidFill>
                          <a:srgbClr val="C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0.8573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857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-14.27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rgbClr val="C00000"/>
                          </a:solidFill>
                        </a:rPr>
                        <a:t>하이트진로(주)</a:t>
                      </a:r>
                      <a:endParaRPr sz="900" b="1" u="none" strike="noStrike" cap="none">
                        <a:solidFill>
                          <a:srgbClr val="C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1.0323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1032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3.23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(주)한익스프레스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1.8255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1825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82.55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코오롱글로벌(주)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1.6652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1665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66.52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영화금속(주)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2.2676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2267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26.76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rgbClr val="C00000"/>
                          </a:solidFill>
                        </a:rPr>
                        <a:t>삼일제약(주)</a:t>
                      </a:r>
                      <a:endParaRPr sz="900" b="1" u="none" strike="noStrike" cap="none">
                        <a:solidFill>
                          <a:srgbClr val="C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1.3223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1322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32.23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F5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기업합계(총수익)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8.9702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C00000"/>
                          </a:solidFill>
                        </a:rPr>
                        <a:t>8970</a:t>
                      </a:r>
                      <a:endParaRPr sz="800" b="1" u="none" strike="noStrike" cap="none">
                        <a:solidFill>
                          <a:srgbClr val="C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C00000"/>
                          </a:solidFill>
                        </a:rPr>
                        <a:t>49.5</a:t>
                      </a:r>
                      <a:endParaRPr sz="800" b="1" u="none" strike="noStrike" cap="none">
                        <a:solidFill>
                          <a:srgbClr val="C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코스피 50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1.0484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C00000"/>
                          </a:solidFill>
                        </a:rPr>
                        <a:t>6290</a:t>
                      </a:r>
                      <a:endParaRPr sz="800" b="1" u="none" strike="noStrike" cap="none">
                        <a:solidFill>
                          <a:srgbClr val="C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C00000"/>
                          </a:solidFill>
                        </a:rPr>
                        <a:t>4.84</a:t>
                      </a:r>
                      <a:endParaRPr sz="800" b="1" u="none" strike="noStrike" cap="none">
                        <a:solidFill>
                          <a:srgbClr val="C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/>
                        <a:t>코스피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1.1191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C00000"/>
                          </a:solidFill>
                        </a:rPr>
                        <a:t>6714</a:t>
                      </a:r>
                      <a:endParaRPr sz="800" b="1" u="none" strike="noStrike" cap="none">
                        <a:solidFill>
                          <a:srgbClr val="C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C00000"/>
                          </a:solidFill>
                        </a:rPr>
                        <a:t>11.91</a:t>
                      </a:r>
                      <a:endParaRPr sz="800" b="1" u="none" strike="noStrike" cap="none">
                        <a:solidFill>
                          <a:srgbClr val="C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19" name="Google Shape;1019;p63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3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64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도출결론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1025" name="Google Shape;1025;p64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64</a:t>
            </a:fld>
            <a:endParaRPr/>
          </a:p>
        </p:txBody>
      </p:sp>
      <p:sp>
        <p:nvSpPr>
          <p:cNvPr id="1026" name="Google Shape;1026;p64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도출서사점</a:t>
            </a:r>
            <a:endParaRPr/>
          </a:p>
        </p:txBody>
      </p:sp>
      <p:sp>
        <p:nvSpPr>
          <p:cNvPr id="1027" name="Google Shape;1027;p64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>
                <a:highlight>
                  <a:srgbClr val="FFCD00"/>
                </a:highlight>
              </a:rPr>
              <a:t>최종 서사점 2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볼린저밴드 백테스팅</a:t>
            </a:r>
            <a:endParaRPr sz="1000" b="1"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1"/>
              <a:t>6개 기업에 1천만원씩 동기간 투자 시 총 수익률 47%(불확실성 대비 분산투자)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800" b="1"/>
          </a:p>
        </p:txBody>
      </p:sp>
      <p:graphicFrame>
        <p:nvGraphicFramePr>
          <p:cNvPr id="1028" name="Google Shape;1028;p64"/>
          <p:cNvGraphicFramePr/>
          <p:nvPr/>
        </p:nvGraphicFramePr>
        <p:xfrm>
          <a:off x="448911" y="2545080"/>
          <a:ext cx="3922075" cy="1102290"/>
        </p:xfrm>
        <a:graphic>
          <a:graphicData uri="http://schemas.openxmlformats.org/drawingml/2006/table">
            <a:tbl>
              <a:tblPr firstRow="1" firstCol="1" bandRow="1">
                <a:noFill/>
                <a:tableStyleId>{4D9EB66F-1FA9-4FDE-9DB3-DB622A6A229C}</a:tableStyleId>
              </a:tblPr>
              <a:tblGrid>
                <a:gridCol w="84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4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4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5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회사명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Z(K2)Score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FScore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시총(10억)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누적수익률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/>
                        <a:t>벤치마크</a:t>
                      </a:r>
                      <a:endParaRPr sz="1100" b="1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동원수산(주)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-2.5473 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7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47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7.3645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1.5781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(주)SG글로벌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0.4665 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6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78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5.0483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1.5781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(주)대창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-1.5188 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6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130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4.6643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1.5781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52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(주)동방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-4.7755 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7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52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3.114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1.5781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52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동아에스티(주)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0.6382 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7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1,005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2.8453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1.5781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52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(주)코아스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-5.0357 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8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40</a:t>
                      </a:r>
                      <a:endParaRPr sz="9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2.7141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1.5781</a:t>
                      </a:r>
                      <a:endParaRPr sz="11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029" name="Google Shape;1029;p64"/>
          <p:cNvGraphicFramePr/>
          <p:nvPr/>
        </p:nvGraphicFramePr>
        <p:xfrm>
          <a:off x="4572000" y="2543810"/>
          <a:ext cx="4359900" cy="1574700"/>
        </p:xfrm>
        <a:graphic>
          <a:graphicData uri="http://schemas.openxmlformats.org/drawingml/2006/table">
            <a:tbl>
              <a:tblPr firstRow="1" firstCol="1" bandRow="1">
                <a:noFill/>
                <a:tableStyleId>{4D9EB66F-1FA9-4FDE-9DB3-DB622A6A229C}</a:tableStyleId>
              </a:tblPr>
              <a:tblGrid>
                <a:gridCol w="94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3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회사명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누적수익률 (Accunulated Return)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기업당 1000(만원)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수익률(%)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>
                    <a:solidFill>
                      <a:srgbClr val="FFCD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동원수산(주)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1.2333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1233.3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23%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(주)SG글로벌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1.909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1909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91%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(주)대창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1.978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1978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98%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(주)동방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1.3999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1399.9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40%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동아에스티(주)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1.1497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1149.7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15%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(주)코아스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1.1914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1191.4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19%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기업합계(총수익)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8.8613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C00000"/>
                          </a:solidFill>
                        </a:rPr>
                        <a:t>8861.3</a:t>
                      </a:r>
                      <a:endParaRPr sz="800" b="1" u="none" strike="noStrike" cap="none">
                        <a:solidFill>
                          <a:srgbClr val="C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C00000"/>
                          </a:solidFill>
                        </a:rPr>
                        <a:t>47%</a:t>
                      </a:r>
                      <a:endParaRPr sz="800" b="1" u="none" strike="noStrike" cap="none">
                        <a:solidFill>
                          <a:srgbClr val="C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코스피 50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1.0484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C00000"/>
                          </a:solidFill>
                        </a:rPr>
                        <a:t>6290</a:t>
                      </a:r>
                      <a:endParaRPr sz="800" b="1" u="none" strike="noStrike" cap="none">
                        <a:solidFill>
                          <a:srgbClr val="C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C00000"/>
                          </a:solidFill>
                        </a:rPr>
                        <a:t>4.84</a:t>
                      </a:r>
                      <a:endParaRPr sz="800" b="1" u="none" strike="noStrike" cap="none">
                        <a:solidFill>
                          <a:srgbClr val="C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코스피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Dotum"/>
                        <a:ea typeface="Dotum"/>
                        <a:cs typeface="Dotum"/>
                        <a:sym typeface="Dotum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/>
                        <a:t>1.1191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C00000"/>
                          </a:solidFill>
                        </a:rPr>
                        <a:t>6714</a:t>
                      </a:r>
                      <a:endParaRPr sz="800" b="1" u="none" strike="noStrike" cap="none">
                        <a:solidFill>
                          <a:srgbClr val="C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rgbClr val="C00000"/>
                          </a:solidFill>
                        </a:rPr>
                        <a:t>11.91</a:t>
                      </a:r>
                      <a:endParaRPr sz="800" b="1" u="none" strike="noStrike" cap="none">
                        <a:solidFill>
                          <a:srgbClr val="C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64775" marR="64775" marT="17775" marB="17775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30" name="Google Shape;1030;p64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3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65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도출결론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1036" name="Google Shape;1036;p65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65</a:t>
            </a:fld>
            <a:endParaRPr/>
          </a:p>
        </p:txBody>
      </p:sp>
      <p:sp>
        <p:nvSpPr>
          <p:cNvPr id="1037" name="Google Shape;1037;p65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도출서사점</a:t>
            </a:r>
            <a:endParaRPr/>
          </a:p>
        </p:txBody>
      </p:sp>
      <p:sp>
        <p:nvSpPr>
          <p:cNvPr id="1038" name="Google Shape;1038;p65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>
                <a:highlight>
                  <a:srgbClr val="FFCD00"/>
                </a:highlight>
              </a:rPr>
              <a:t>최종 서사점 3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그러므로…</a:t>
            </a:r>
            <a:endParaRPr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lang="en-US" sz="1400" b="1"/>
              <a:t>가설설정 : 수익률의 상대성에 대해</a:t>
            </a:r>
            <a:endParaRPr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lang="en-US" sz="1400" b="1"/>
              <a:t>귀무가설(H0) : ‘상대적 부실기업과 건전기업간의 수익률 차이가 없다’가 기각된 후</a:t>
            </a:r>
            <a:endParaRPr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lang="en-US" sz="1400" b="1"/>
              <a:t>대립가설(H1) : ‘상대적 부실기업과 건전기업간의 수익률 차이가 있다’가 채택됨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400" b="1"/>
          </a:p>
        </p:txBody>
      </p:sp>
      <p:sp>
        <p:nvSpPr>
          <p:cNvPr id="1039" name="Google Shape;1039;p65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3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66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도출결론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1045" name="Google Shape;1045;p66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66</a:t>
            </a:fld>
            <a:endParaRPr/>
          </a:p>
        </p:txBody>
      </p:sp>
      <p:sp>
        <p:nvSpPr>
          <p:cNvPr id="1046" name="Google Shape;1046;p66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프로젝트 정리</a:t>
            </a:r>
            <a:endParaRPr/>
          </a:p>
        </p:txBody>
      </p:sp>
      <p:sp>
        <p:nvSpPr>
          <p:cNvPr id="1047" name="Google Shape;1047;p66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>
                <a:highlight>
                  <a:srgbClr val="FFCD00"/>
                </a:highlight>
              </a:rPr>
              <a:t>Overall Project Summary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/>
              <a:t>본 프로젝트는  시장수익률보다 수익률이 높은 기업을 발굴하고자 본 과정을 수행함 </a:t>
            </a: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400" b="1">
              <a:highlight>
                <a:srgbClr val="FFCD00"/>
              </a:highlight>
            </a:endParaRPr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>
                <a:highlight>
                  <a:srgbClr val="FFCD00"/>
                </a:highlight>
              </a:rPr>
              <a:t>Step 1 </a:t>
            </a:r>
            <a:endParaRPr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1"/>
              <a:t>먼저 선구자들의 논문들을 통하여 기업 재무비율의 중요성을 인식</a:t>
            </a:r>
            <a:endParaRPr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1"/>
              <a:t>투자 유니버스 코스피 789개 기업을 선정함</a:t>
            </a:r>
            <a:endParaRPr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1"/>
              <a:t>데이터들을 한국상장기업협회로부터 총 28개의 재무자료 획득  </a:t>
            </a:r>
            <a:endParaRPr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1"/>
              <a:t>재무자료를 통해 K2스코어 변수를 계산</a:t>
            </a:r>
            <a:endParaRPr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1"/>
              <a:t>상대적부실, 유보, 건전기업을 분류</a:t>
            </a:r>
            <a:endParaRPr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1"/>
              <a:t>t-검정을 통해 통계자료의 유효성을 검증</a:t>
            </a:r>
            <a:endParaRPr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1"/>
              <a:t>재무자료를 통해 F스코어변수 계산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400" b="1"/>
          </a:p>
        </p:txBody>
      </p:sp>
      <p:sp>
        <p:nvSpPr>
          <p:cNvPr id="1048" name="Google Shape;1048;p66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3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67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도출결론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1054" name="Google Shape;1054;p67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67</a:t>
            </a:fld>
            <a:endParaRPr/>
          </a:p>
        </p:txBody>
      </p:sp>
      <p:sp>
        <p:nvSpPr>
          <p:cNvPr id="1055" name="Google Shape;1055;p67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프로젝트 정리</a:t>
            </a:r>
            <a:endParaRPr/>
          </a:p>
        </p:txBody>
      </p:sp>
      <p:sp>
        <p:nvSpPr>
          <p:cNvPr id="1056" name="Google Shape;1056;p67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>
                <a:highlight>
                  <a:srgbClr val="FFCD00"/>
                </a:highlight>
              </a:rPr>
              <a:t>Step 2 </a:t>
            </a:r>
            <a:r>
              <a:rPr lang="en-US" sz="1400" b="1"/>
              <a:t>Security Selection &amp; Quant</a:t>
            </a:r>
            <a:endParaRPr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1"/>
              <a:t>상대적 부실 + 유보 기업 중 6점 이상 기업 86개를 선정</a:t>
            </a:r>
            <a:endParaRPr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1"/>
              <a:t>2009.1.1.~2019.12.31.기간 선정(코로나 이상치 이전 10년)</a:t>
            </a:r>
            <a:endParaRPr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1"/>
              <a:t>기간 내 1,3,5,10년 동안 백테스팅 진행</a:t>
            </a:r>
            <a:endParaRPr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1"/>
              <a:t>바이 앤 홀드 (Buy &amp; Hold) 전략</a:t>
            </a:r>
            <a:endParaRPr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1"/>
              <a:t>볼린저 밴드 (Bollinger Band) 전략</a:t>
            </a:r>
            <a:endParaRPr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1"/>
              <a:t>최종 6개 기업을 선정</a:t>
            </a:r>
            <a:endParaRPr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1"/>
              <a:t>만약 이 과정까지 진행시 20%이상의 고수익이 추출 안될 시 다시 처음으로 회귀 후</a:t>
            </a:r>
            <a:endParaRPr sz="1000" b="1"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1"/>
              <a:t>재무자료, 변수, 파생변수를 추가해 동일한 방식으로 백테스팅까지 진행할 계획.</a:t>
            </a: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400" b="1"/>
          </a:p>
        </p:txBody>
      </p:sp>
      <p:sp>
        <p:nvSpPr>
          <p:cNvPr id="1057" name="Google Shape;1057;p67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3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68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도출결론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1063" name="Google Shape;1063;p68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68</a:t>
            </a:fld>
            <a:endParaRPr/>
          </a:p>
        </p:txBody>
      </p:sp>
      <p:sp>
        <p:nvSpPr>
          <p:cNvPr id="1064" name="Google Shape;1064;p68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프로젝트 정리</a:t>
            </a:r>
            <a:endParaRPr/>
          </a:p>
        </p:txBody>
      </p:sp>
      <p:sp>
        <p:nvSpPr>
          <p:cNvPr id="1065" name="Google Shape;1065;p68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>
                <a:highlight>
                  <a:srgbClr val="FFCD00"/>
                </a:highlight>
              </a:rPr>
              <a:t>STEP3 </a:t>
            </a:r>
            <a:r>
              <a:rPr lang="en-US" sz="1400" b="1"/>
              <a:t>Prediction</a:t>
            </a:r>
            <a:endParaRPr sz="1400" b="1">
              <a:highlight>
                <a:srgbClr val="FFCD00"/>
              </a:highlight>
            </a:endParaRPr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1"/>
              <a:t>백테스팅과 동일기간  </a:t>
            </a:r>
            <a:endParaRPr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1"/>
              <a:t>LSTM, Prophet, 강화학습, 볼린저밴드 4가지 모델에 대한 검증</a:t>
            </a:r>
            <a:endParaRPr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1"/>
              <a:t>LSTM은 Intra Data를 사용했으나 예측이 잘 안됨 - 변수에 대한 보완 필요 결론</a:t>
            </a:r>
            <a:endParaRPr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1"/>
              <a:t>강화학습은 높은 수익률을 거두었으나 설명 되지 않는 부분이 있어 보완 필요 결론</a:t>
            </a:r>
            <a:endParaRPr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1"/>
              <a:t>Prophet을 추세예측도구로 결정</a:t>
            </a:r>
            <a:endParaRPr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1"/>
              <a:t>볼린저밴드를 모의투자도구로 결정</a:t>
            </a:r>
            <a:endParaRPr sz="1000" b="1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</a:pPr>
            <a:r>
              <a:rPr lang="en-US" sz="1400" b="1">
                <a:highlight>
                  <a:srgbClr val="FFCD00"/>
                </a:highlight>
              </a:rPr>
              <a:t>STEP4</a:t>
            </a:r>
            <a:r>
              <a:rPr lang="en-US" sz="1400" b="1"/>
              <a:t> Forcasting</a:t>
            </a:r>
            <a:endParaRPr sz="1400" b="1"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1"/>
              <a:t>기간 : 2020.5.1.~2021.12.24.(코로나 이상치 이후 현재까지) </a:t>
            </a:r>
            <a:endParaRPr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1"/>
              <a:t>Prophet으로 추세 예측</a:t>
            </a:r>
            <a:endParaRPr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1"/>
              <a:t>볼린저밴드로 최종 수익률을 계산</a:t>
            </a:r>
            <a:endParaRPr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1"/>
              <a:t>귀무가설이 기각되고 대립가설이 채택됨!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</a:pPr>
            <a:endParaRPr sz="1400" b="1"/>
          </a:p>
          <a:p>
            <a:pPr marL="182563" lvl="0" indent="-1746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endParaRPr sz="1400" b="1"/>
          </a:p>
        </p:txBody>
      </p:sp>
      <p:sp>
        <p:nvSpPr>
          <p:cNvPr id="1066" name="Google Shape;1066;p68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3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69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도출결론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1072" name="Google Shape;1072;p69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69</a:t>
            </a:fld>
            <a:endParaRPr/>
          </a:p>
        </p:txBody>
      </p:sp>
      <p:sp>
        <p:nvSpPr>
          <p:cNvPr id="1073" name="Google Shape;1073;p69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지속과제</a:t>
            </a:r>
            <a:endParaRPr/>
          </a:p>
        </p:txBody>
      </p:sp>
      <p:sp>
        <p:nvSpPr>
          <p:cNvPr id="1074" name="Google Shape;1074;p69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400" b="1">
                <a:highlight>
                  <a:srgbClr val="FFCD00"/>
                </a:highlight>
              </a:rPr>
              <a:t>지속과제</a:t>
            </a:r>
            <a:endParaRPr sz="1400" b="1">
              <a:highlight>
                <a:srgbClr val="FFCD00"/>
              </a:highlight>
            </a:endParaRPr>
          </a:p>
          <a:p>
            <a:pPr marL="266700" lvl="0" indent="-190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1"/>
              <a:t>스코어와 더불어 함께 사용할 수 있는 설명변수 및 파생변수의 추가</a:t>
            </a:r>
            <a:endParaRPr/>
          </a:p>
          <a:p>
            <a:pPr marL="266700" lvl="0" indent="-190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1"/>
              <a:t>LSTM, Prophet에 대한 파라미터 변경 및 예측 정밀도 향상 연구</a:t>
            </a:r>
            <a:endParaRPr/>
          </a:p>
          <a:p>
            <a:pPr marL="266700" lvl="0" indent="-190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1"/>
              <a:t>볼린저 밴드의 정밀한 사용 </a:t>
            </a:r>
            <a:endParaRPr/>
          </a:p>
          <a:p>
            <a:pPr marL="266700" lvl="0" indent="-190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1"/>
              <a:t>이평선과 표준편차 조정</a:t>
            </a:r>
            <a:endParaRPr/>
          </a:p>
          <a:p>
            <a:pPr marL="266700" lvl="0" indent="-190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1"/>
              <a:t>Prophet, VIX(한국형, 세계)지수, 선행지수 연구 등으로 추세 판단</a:t>
            </a:r>
            <a:endParaRPr/>
          </a:p>
          <a:p>
            <a:pPr marL="266700" lvl="0" indent="-190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1"/>
              <a:t>개별 기업에 대한 기간별 실적 조사</a:t>
            </a:r>
            <a:endParaRPr/>
          </a:p>
          <a:p>
            <a:pPr marL="266700" lvl="0" indent="-190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1"/>
              <a:t>외국인 수급 판단</a:t>
            </a:r>
            <a:endParaRPr/>
          </a:p>
          <a:p>
            <a:pPr marL="266700" lvl="0" indent="-190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1"/>
              <a:t>해외주식</a:t>
            </a:r>
            <a:endParaRPr/>
          </a:p>
          <a:p>
            <a:pPr marL="266700" lvl="0" indent="-190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1"/>
              <a:t>기업분석에 대한 시장모형, KMV 모델의 적용 연구</a:t>
            </a:r>
            <a:endParaRPr/>
          </a:p>
          <a:p>
            <a:pPr marL="266700" lvl="0" indent="-190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1"/>
              <a:t>WEB 개발 등등…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1400" b="1"/>
          </a:p>
        </p:txBody>
      </p:sp>
      <p:sp>
        <p:nvSpPr>
          <p:cNvPr id="1075" name="Google Shape;1075;p69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3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70"/>
          <p:cNvSpPr txBox="1">
            <a:spLocks noGrp="1"/>
          </p:cNvSpPr>
          <p:nvPr>
            <p:ph type="ctrTitle"/>
          </p:nvPr>
        </p:nvSpPr>
        <p:spPr>
          <a:xfrm>
            <a:off x="2022224" y="1693523"/>
            <a:ext cx="5591399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References &amp; Special Thanks</a:t>
            </a:r>
            <a:endParaRPr/>
          </a:p>
        </p:txBody>
      </p:sp>
      <p:sp>
        <p:nvSpPr>
          <p:cNvPr id="1081" name="Google Shape;1081;p70"/>
          <p:cNvSpPr txBox="1">
            <a:spLocks noGrp="1"/>
          </p:cNvSpPr>
          <p:nvPr>
            <p:ph type="subTitle" idx="1"/>
          </p:nvPr>
        </p:nvSpPr>
        <p:spPr>
          <a:xfrm>
            <a:off x="2022300" y="2815923"/>
            <a:ext cx="55914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참고 문헌/자료 및 </a:t>
            </a:r>
            <a:endParaRPr/>
          </a:p>
        </p:txBody>
      </p:sp>
      <p:sp>
        <p:nvSpPr>
          <p:cNvPr id="1082" name="Google Shape;1082;p70"/>
          <p:cNvSpPr txBox="1"/>
          <p:nvPr/>
        </p:nvSpPr>
        <p:spPr>
          <a:xfrm>
            <a:off x="1133975" y="2291150"/>
            <a:ext cx="543900" cy="5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4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83" name="Google Shape;1083;p70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70</a:t>
            </a:fld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71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참고문헌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1089" name="Google Shape;1089;p71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71</a:t>
            </a:fld>
            <a:endParaRPr/>
          </a:p>
        </p:txBody>
      </p:sp>
      <p:sp>
        <p:nvSpPr>
          <p:cNvPr id="1090" name="Google Shape;1090;p71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91" name="Google Shape;1091;p71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 dirty="0" err="1">
                <a:highlight>
                  <a:srgbClr val="FFCD00"/>
                </a:highlight>
              </a:rPr>
              <a:t>참고</a:t>
            </a:r>
            <a:r>
              <a:rPr lang="en-US" sz="1000" b="1" dirty="0">
                <a:highlight>
                  <a:srgbClr val="FFCD00"/>
                </a:highlight>
              </a:rPr>
              <a:t> </a:t>
            </a:r>
            <a:r>
              <a:rPr lang="en-US" sz="1000" b="1" dirty="0" err="1">
                <a:highlight>
                  <a:srgbClr val="FFCD00"/>
                </a:highlight>
              </a:rPr>
              <a:t>논문</a:t>
            </a:r>
            <a:r>
              <a:rPr lang="en-US" sz="1000" b="1" dirty="0">
                <a:highlight>
                  <a:srgbClr val="FFCD00"/>
                </a:highlight>
              </a:rPr>
              <a:t>/</a:t>
            </a:r>
            <a:r>
              <a:rPr lang="en-US" sz="1000" b="1" dirty="0" err="1">
                <a:highlight>
                  <a:srgbClr val="FFCD00"/>
                </a:highlight>
              </a:rPr>
              <a:t>문헌</a:t>
            </a:r>
            <a:r>
              <a:rPr lang="en-US" sz="1000" b="1" dirty="0">
                <a:highlight>
                  <a:srgbClr val="FFCD00"/>
                </a:highlight>
              </a:rPr>
              <a:t>:</a:t>
            </a:r>
            <a:endParaRPr dirty="0"/>
          </a:p>
          <a:p>
            <a:pPr marL="179388" lvl="0" indent="-10318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Char char="•"/>
            </a:pPr>
            <a:r>
              <a:rPr lang="en-US" sz="800" b="1" dirty="0"/>
              <a:t>ALTMAN, E. "Financial Ratios, Discriminant Analysis and the Prediction of Corporate Bankruptcy." Journal of Finance (September 1968)</a:t>
            </a:r>
            <a:endParaRPr dirty="0"/>
          </a:p>
          <a:p>
            <a:pPr marL="179388" lvl="0" indent="-10318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Char char="•"/>
            </a:pPr>
            <a:r>
              <a:rPr lang="en-US" sz="800" b="1" dirty="0"/>
              <a:t>Altman(1996) </a:t>
            </a:r>
            <a:r>
              <a:rPr lang="en-US" sz="800" b="1" dirty="0" err="1"/>
              <a:t>한국기업을</a:t>
            </a:r>
            <a:r>
              <a:rPr lang="en-US" sz="800" b="1" dirty="0"/>
              <a:t> </a:t>
            </a:r>
            <a:r>
              <a:rPr lang="en-US" sz="800" b="1" dirty="0" err="1"/>
              <a:t>대상</a:t>
            </a:r>
            <a:r>
              <a:rPr lang="en-US" sz="800" b="1" dirty="0"/>
              <a:t> </a:t>
            </a:r>
            <a:r>
              <a:rPr lang="en-US" sz="800" b="1" dirty="0" err="1"/>
              <a:t>연구</a:t>
            </a:r>
            <a:r>
              <a:rPr lang="en-US" sz="800" b="1" dirty="0"/>
              <a:t> </a:t>
            </a:r>
            <a:r>
              <a:rPr lang="en-US" sz="800" b="1" dirty="0" err="1"/>
              <a:t>도산예측모형</a:t>
            </a:r>
            <a:r>
              <a:rPr lang="en-US" sz="800" b="1" dirty="0"/>
              <a:t> </a:t>
            </a:r>
            <a:r>
              <a:rPr lang="en-US" sz="800" b="1" dirty="0" err="1"/>
              <a:t>제시</a:t>
            </a:r>
            <a:endParaRPr dirty="0"/>
          </a:p>
          <a:p>
            <a:pPr marL="179388" lvl="0" indent="-10318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Char char="•"/>
            </a:pPr>
            <a:r>
              <a:rPr lang="en-US" sz="800" b="1" dirty="0"/>
              <a:t>Joseph </a:t>
            </a:r>
            <a:r>
              <a:rPr lang="en-US" sz="800" b="1" dirty="0" err="1"/>
              <a:t>Piotroski</a:t>
            </a:r>
            <a:r>
              <a:rPr lang="en-US" sz="800" b="1" dirty="0"/>
              <a:t>(2000) "Value Investing: The Use of Historical Financial Statement Information to Separate Winners from Losers"</a:t>
            </a:r>
            <a:endParaRPr dirty="0"/>
          </a:p>
          <a:p>
            <a:pPr marL="179388" lvl="0" indent="-10318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Char char="•"/>
            </a:pPr>
            <a:r>
              <a:rPr lang="en-US" sz="800" b="1" dirty="0"/>
              <a:t>Treynor, J. L., &amp; </a:t>
            </a:r>
            <a:r>
              <a:rPr lang="en-US" sz="800" b="1" dirty="0" err="1"/>
              <a:t>Mazuy</a:t>
            </a:r>
            <a:r>
              <a:rPr lang="en-US" sz="800" b="1" dirty="0"/>
              <a:t>, K. (1966). Can Mutual Funds Outguess the Market? Harvard Business Review, 4, 131-136.</a:t>
            </a:r>
            <a:endParaRPr dirty="0"/>
          </a:p>
          <a:p>
            <a:pPr marL="179388" lvl="0" indent="-10318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Char char="•"/>
            </a:pPr>
            <a:r>
              <a:rPr lang="en-US" sz="800" b="1" dirty="0"/>
              <a:t>On Market Timing and Investment Performance. II. Statistical Procedures for Evaluating Forecasting Skills Roy D. </a:t>
            </a:r>
            <a:r>
              <a:rPr lang="en-US" sz="800" b="1" dirty="0" err="1"/>
              <a:t>Henriksson</a:t>
            </a:r>
            <a:r>
              <a:rPr lang="en-US" sz="800" b="1" dirty="0"/>
              <a:t> and Robert C. Merton</a:t>
            </a:r>
            <a:endParaRPr dirty="0"/>
          </a:p>
          <a:p>
            <a:pPr marL="179388" lvl="0" indent="-10318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Char char="•"/>
            </a:pPr>
            <a:r>
              <a:rPr lang="en-US" sz="800" b="1" dirty="0"/>
              <a:t>The Journal of Business Vol. 54, No. 4 (Oct., 1981), pp. 513-533 (21 pages) Published By: The University of Chicago Press</a:t>
            </a:r>
            <a:endParaRPr dirty="0"/>
          </a:p>
          <a:p>
            <a:pPr marL="179388" lvl="0" indent="-10318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Char char="•"/>
            </a:pPr>
            <a:r>
              <a:rPr lang="en-US" sz="800" b="1" dirty="0"/>
              <a:t>A  Comparative  Study  on  Stock  Price  Forecasting  Models Using  LSTM  and  Bidirectional  Neural  Networks</a:t>
            </a:r>
            <a:endParaRPr dirty="0"/>
          </a:p>
          <a:p>
            <a:pPr marL="179388" lvl="0" indent="-10318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Char char="•"/>
            </a:pPr>
            <a:r>
              <a:rPr lang="en-US" sz="800" b="1" dirty="0"/>
              <a:t>Lee,  Jong  </a:t>
            </a:r>
            <a:r>
              <a:rPr lang="en-US" sz="800" b="1" dirty="0" err="1"/>
              <a:t>Hyeok</a:t>
            </a:r>
            <a:r>
              <a:rPr lang="en-US" sz="800" b="1" dirty="0"/>
              <a:t> (Supervisor  Kook,  Kwang  Ho) Dept.  of  Software  Analysis  and  Design Graduate  School  of Seoul  National  University  of  Science  and  Technology</a:t>
            </a:r>
            <a:endParaRPr dirty="0"/>
          </a:p>
          <a:p>
            <a:pPr marL="179388" lvl="0" indent="-10318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Char char="•"/>
            </a:pPr>
            <a:r>
              <a:rPr lang="en-US" sz="800" b="1" dirty="0" err="1"/>
              <a:t>Dtock</a:t>
            </a:r>
            <a:r>
              <a:rPr lang="en-US" sz="800" b="1" dirty="0"/>
              <a:t> Price Prediction Using </a:t>
            </a:r>
            <a:r>
              <a:rPr lang="en-US" sz="800" b="1" dirty="0" err="1"/>
              <a:t>Rainforcement</a:t>
            </a:r>
            <a:r>
              <a:rPr lang="en-US" sz="800" b="1" dirty="0"/>
              <a:t> Learning. LEE BOMI .Dept. of </a:t>
            </a:r>
            <a:r>
              <a:rPr lang="en-US" sz="800" b="1" dirty="0" err="1"/>
              <a:t>Bussiness</a:t>
            </a:r>
            <a:r>
              <a:rPr lang="en-US" sz="800" b="1" dirty="0"/>
              <a:t> Informatics Graduate School of </a:t>
            </a:r>
            <a:r>
              <a:rPr lang="en-US" sz="800" b="1" dirty="0" err="1"/>
              <a:t>Hanyang</a:t>
            </a:r>
            <a:r>
              <a:rPr lang="en-US" sz="800" b="1" dirty="0"/>
              <a:t> University</a:t>
            </a:r>
            <a:endParaRPr sz="1000" b="1" dirty="0">
              <a:highlight>
                <a:srgbClr val="FFCD00"/>
              </a:highlight>
            </a:endParaRPr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</a:pPr>
            <a:r>
              <a:rPr lang="en-US" sz="1000" b="1" dirty="0" err="1">
                <a:highlight>
                  <a:srgbClr val="FFCD00"/>
                </a:highlight>
              </a:rPr>
              <a:t>참고</a:t>
            </a:r>
            <a:r>
              <a:rPr lang="en-US" sz="1000" b="1" dirty="0">
                <a:highlight>
                  <a:srgbClr val="FFCD00"/>
                </a:highlight>
              </a:rPr>
              <a:t> </a:t>
            </a:r>
            <a:r>
              <a:rPr lang="en-US" sz="1000" b="1" dirty="0" err="1">
                <a:highlight>
                  <a:srgbClr val="FFCD00"/>
                </a:highlight>
              </a:rPr>
              <a:t>홈페이지</a:t>
            </a:r>
            <a:r>
              <a:rPr lang="en-US" sz="1000" b="1" dirty="0">
                <a:highlight>
                  <a:srgbClr val="FFCD00"/>
                </a:highlight>
              </a:rPr>
              <a:t>: </a:t>
            </a:r>
            <a:endParaRPr dirty="0"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Char char="•"/>
            </a:pPr>
            <a:r>
              <a:rPr lang="en-US" sz="800" b="1" dirty="0"/>
              <a:t>https://steemit.com/kr/@alphaj/f-score</a:t>
            </a:r>
            <a:endParaRPr dirty="0"/>
          </a:p>
          <a:p>
            <a:pPr marL="182563" lvl="0" indent="-1063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Char char="•"/>
            </a:pPr>
            <a:r>
              <a:rPr lang="en-US" sz="800" b="1" dirty="0"/>
              <a:t>https://github.com/ranaroussi/quantstats</a:t>
            </a:r>
            <a:endParaRPr dirty="0"/>
          </a:p>
        </p:txBody>
      </p:sp>
      <p:sp>
        <p:nvSpPr>
          <p:cNvPr id="1092" name="Google Shape;1092;p71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4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72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감사드리고 싶은 분들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1098" name="Google Shape;1098;p72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72</a:t>
            </a:fld>
            <a:endParaRPr/>
          </a:p>
        </p:txBody>
      </p:sp>
      <p:sp>
        <p:nvSpPr>
          <p:cNvPr id="1099" name="Google Shape;1099;p72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00" name="Google Shape;1100;p72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 dirty="0" err="1">
                <a:highlight>
                  <a:srgbClr val="FFCD00"/>
                </a:highlight>
              </a:rPr>
              <a:t>팀원</a:t>
            </a:r>
            <a:r>
              <a:rPr lang="en-US" sz="1000" b="1" dirty="0">
                <a:highlight>
                  <a:srgbClr val="FFCD00"/>
                </a:highlight>
              </a:rPr>
              <a:t>:</a:t>
            </a:r>
            <a:endParaRPr dirty="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 dirty="0" err="1"/>
              <a:t>이동현님</a:t>
            </a:r>
            <a:endParaRPr sz="1000" b="1" dirty="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 dirty="0" err="1"/>
              <a:t>백선영님</a:t>
            </a:r>
            <a:endParaRPr sz="1000" b="1" dirty="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1000" b="1" dirty="0" err="1"/>
              <a:t>최지호님</a:t>
            </a:r>
            <a:endParaRPr sz="1000" b="1" dirty="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endParaRPr sz="500" b="1" dirty="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</a:pPr>
            <a:r>
              <a:rPr lang="en-US" sz="1000" b="1" dirty="0" err="1">
                <a:highlight>
                  <a:srgbClr val="FFCD00"/>
                </a:highlight>
              </a:rPr>
              <a:t>멘토</a:t>
            </a:r>
            <a:r>
              <a:rPr lang="en-US" sz="1000" b="1" dirty="0">
                <a:highlight>
                  <a:srgbClr val="FFCD00"/>
                </a:highlight>
              </a:rPr>
              <a:t> 및 </a:t>
            </a:r>
            <a:r>
              <a:rPr lang="en-US" sz="1000" b="1" dirty="0" err="1">
                <a:highlight>
                  <a:srgbClr val="FFCD00"/>
                </a:highlight>
              </a:rPr>
              <a:t>교육자</a:t>
            </a:r>
            <a:r>
              <a:rPr lang="en-US" sz="1000" b="1" dirty="0">
                <a:highlight>
                  <a:srgbClr val="FFCD00"/>
                </a:highlight>
              </a:rPr>
              <a:t>: </a:t>
            </a:r>
            <a:endParaRPr dirty="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</a:pPr>
            <a:r>
              <a:rPr lang="en-US" sz="1000" b="1" dirty="0" err="1"/>
              <a:t>김태경</a:t>
            </a:r>
            <a:r>
              <a:rPr lang="en-US" sz="1000" b="1" dirty="0"/>
              <a:t> </a:t>
            </a:r>
            <a:r>
              <a:rPr lang="ko-KR" altLang="en-US" sz="1000" b="1" dirty="0"/>
              <a:t>강사</a:t>
            </a:r>
            <a:r>
              <a:rPr lang="en-US" sz="1000" b="1" dirty="0"/>
              <a:t>님</a:t>
            </a:r>
            <a:endParaRPr dirty="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</a:pPr>
            <a:r>
              <a:rPr lang="en-US" sz="1000" b="1" dirty="0" err="1"/>
              <a:t>김진숙</a:t>
            </a:r>
            <a:r>
              <a:rPr lang="en-US" sz="1000" b="1" dirty="0"/>
              <a:t> </a:t>
            </a:r>
            <a:r>
              <a:rPr lang="ko-KR" altLang="en-US" sz="1000" b="1" dirty="0"/>
              <a:t>강사</a:t>
            </a:r>
            <a:r>
              <a:rPr lang="en-US" sz="1000" b="1" dirty="0"/>
              <a:t>님</a:t>
            </a:r>
            <a:endParaRPr dirty="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</a:pPr>
            <a:r>
              <a:rPr lang="en-US" sz="1000" b="1" dirty="0" err="1"/>
              <a:t>문병선</a:t>
            </a:r>
            <a:r>
              <a:rPr lang="en-US" sz="1000" b="1" dirty="0"/>
              <a:t> </a:t>
            </a:r>
            <a:r>
              <a:rPr lang="ko-KR" altLang="en-US" sz="1000" b="1" dirty="0"/>
              <a:t>강사</a:t>
            </a:r>
            <a:r>
              <a:rPr lang="en-US" sz="1000" b="1" dirty="0"/>
              <a:t>님</a:t>
            </a:r>
            <a:endParaRPr dirty="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</a:pPr>
            <a:r>
              <a:rPr lang="en-US" sz="1000" b="1" dirty="0" err="1"/>
              <a:t>하동경</a:t>
            </a:r>
            <a:r>
              <a:rPr lang="en-US" sz="1000" b="1" dirty="0"/>
              <a:t> </a:t>
            </a:r>
            <a:r>
              <a:rPr lang="ko-KR" altLang="en-US" sz="1000" b="1" dirty="0"/>
              <a:t>멘토</a:t>
            </a:r>
            <a:r>
              <a:rPr lang="en-US" sz="1000" b="1" dirty="0"/>
              <a:t>님</a:t>
            </a:r>
            <a:endParaRPr dirty="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</a:pPr>
            <a:r>
              <a:rPr lang="en-US" sz="1000" b="1" dirty="0" err="1"/>
              <a:t>장승현</a:t>
            </a:r>
            <a:r>
              <a:rPr lang="en-US" sz="1000" b="1" dirty="0"/>
              <a:t> </a:t>
            </a:r>
            <a:r>
              <a:rPr lang="ko-KR" altLang="en-US" sz="1000" b="1" dirty="0"/>
              <a:t>멘토</a:t>
            </a:r>
            <a:r>
              <a:rPr lang="en-US" sz="1000" b="1" dirty="0"/>
              <a:t>님</a:t>
            </a:r>
            <a:endParaRPr dirty="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</a:pPr>
            <a:r>
              <a:rPr lang="en-US" sz="1000" b="1" dirty="0" err="1"/>
              <a:t>임병철</a:t>
            </a:r>
            <a:r>
              <a:rPr lang="en-US" sz="1000" b="1" dirty="0"/>
              <a:t> </a:t>
            </a:r>
            <a:r>
              <a:rPr lang="ko-KR" altLang="en-US" sz="1000" b="1" dirty="0"/>
              <a:t>멘토</a:t>
            </a:r>
            <a:r>
              <a:rPr lang="en-US" sz="1000" b="1" dirty="0"/>
              <a:t>님</a:t>
            </a:r>
            <a:endParaRPr dirty="0"/>
          </a:p>
          <a:p>
            <a:pPr marL="76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</a:pPr>
            <a:r>
              <a:rPr lang="en-US" sz="1000" b="1" dirty="0" err="1"/>
              <a:t>최다혜</a:t>
            </a:r>
            <a:r>
              <a:rPr lang="en-US" sz="1000" b="1" dirty="0"/>
              <a:t> </a:t>
            </a:r>
            <a:r>
              <a:rPr lang="en-US" sz="1000" b="1" dirty="0" err="1"/>
              <a:t>매니저님</a:t>
            </a:r>
            <a:endParaRPr sz="1000" b="1" dirty="0"/>
          </a:p>
          <a:p>
            <a:pPr marL="7620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</a:pPr>
            <a:r>
              <a:rPr lang="en-US" sz="1500" b="1" dirty="0" err="1"/>
              <a:t>그리고</a:t>
            </a:r>
            <a:r>
              <a:rPr lang="en-US" sz="1500" b="1" dirty="0"/>
              <a:t>…</a:t>
            </a:r>
            <a:endParaRPr sz="1500" b="1" dirty="0"/>
          </a:p>
        </p:txBody>
      </p:sp>
      <p:sp>
        <p:nvSpPr>
          <p:cNvPr id="1101" name="Google Shape;1101;p72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4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73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chemeClr val="accent1"/>
                </a:highlight>
              </a:rPr>
              <a:t>감사드리고 싶은 분들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1107" name="Google Shape;1107;p73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73</a:t>
            </a:fld>
            <a:endParaRPr/>
          </a:p>
        </p:txBody>
      </p:sp>
      <p:sp>
        <p:nvSpPr>
          <p:cNvPr id="1108" name="Google Shape;1108;p73"/>
          <p:cNvSpPr txBox="1"/>
          <p:nvPr/>
        </p:nvSpPr>
        <p:spPr>
          <a:xfrm>
            <a:off x="2409950" y="795117"/>
            <a:ext cx="4798570" cy="5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09" name="Google Shape;1109;p73"/>
          <p:cNvSpPr txBox="1">
            <a:spLocks noGrp="1"/>
          </p:cNvSpPr>
          <p:nvPr>
            <p:ph type="body" idx="1"/>
          </p:nvPr>
        </p:nvSpPr>
        <p:spPr>
          <a:xfrm>
            <a:off x="1381250" y="1330305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ctr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 sz="1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28600" algn="ctr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 sz="1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28600" algn="ctr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 sz="1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" lvl="0" indent="0" algn="ctr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n-US" sz="4000" b="1">
                <a:solidFill>
                  <a:srgbClr val="000000"/>
                </a:solidFill>
                <a:highlight>
                  <a:srgbClr val="FFCD00"/>
                </a:highlight>
                <a:latin typeface="Arial"/>
                <a:ea typeface="Arial"/>
                <a:cs typeface="Arial"/>
                <a:sym typeface="Arial"/>
              </a:rPr>
              <a:t>전윤범</a:t>
            </a:r>
            <a:r>
              <a:rPr lang="en-US" sz="1800" b="1">
                <a:solidFill>
                  <a:srgbClr val="000000"/>
                </a:solidFill>
                <a:highlight>
                  <a:srgbClr val="FFCD00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교수님</a:t>
            </a:r>
            <a:endParaRPr sz="1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" lvl="0" indent="0" algn="ctr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 sz="1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" lvl="0" indent="0" algn="ctr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n-US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감사합니다!!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</a:pPr>
            <a:endParaRPr sz="800" b="1"/>
          </a:p>
        </p:txBody>
      </p:sp>
      <p:sp>
        <p:nvSpPr>
          <p:cNvPr id="1110" name="Google Shape;1110;p73"/>
          <p:cNvSpPr txBox="1"/>
          <p:nvPr/>
        </p:nvSpPr>
        <p:spPr>
          <a:xfrm>
            <a:off x="874687" y="896112"/>
            <a:ext cx="2991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4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74"/>
          <p:cNvSpPr txBox="1">
            <a:spLocks noGrp="1"/>
          </p:cNvSpPr>
          <p:nvPr>
            <p:ph type="title" idx="4294967295"/>
          </p:nvPr>
        </p:nvSpPr>
        <p:spPr>
          <a:xfrm>
            <a:off x="293420" y="1508760"/>
            <a:ext cx="8557160" cy="1385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br>
              <a:rPr lang="en-US" sz="1800">
                <a:highlight>
                  <a:schemeClr val="accent1"/>
                </a:highlight>
              </a:rPr>
            </a:br>
            <a:r>
              <a:rPr lang="en-US" sz="3000"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rPr>
              <a:t>알고 가는 것이 아니라, 가다 보니 알게 되었다.</a:t>
            </a:r>
            <a:br>
              <a:rPr lang="en-US" sz="3000"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latin typeface="Arial"/>
                <a:ea typeface="Arial"/>
                <a:cs typeface="Arial"/>
                <a:sym typeface="Arial"/>
              </a:rPr>
              <a:t>- 수필가 조정자, ‘사유와 기적의 길 산티아고를 걸으며‘ 중에서 -</a:t>
            </a:r>
            <a:endParaRPr/>
          </a:p>
        </p:txBody>
      </p:sp>
      <p:sp>
        <p:nvSpPr>
          <p:cNvPr id="1116" name="Google Shape;1116;p74"/>
          <p:cNvSpPr/>
          <p:nvPr/>
        </p:nvSpPr>
        <p:spPr>
          <a:xfrm>
            <a:off x="4465375" y="4440675"/>
            <a:ext cx="213248" cy="191461"/>
          </a:xfrm>
          <a:custGeom>
            <a:avLst/>
            <a:gdLst/>
            <a:ahLst/>
            <a:cxnLst/>
            <a:rect l="l" t="t" r="r" b="b"/>
            <a:pathLst>
              <a:path w="16660" h="14955" fill="none" extrusionOk="0">
                <a:moveTo>
                  <a:pt x="12373" y="1"/>
                </a:moveTo>
                <a:lnTo>
                  <a:pt x="12373" y="1"/>
                </a:lnTo>
                <a:lnTo>
                  <a:pt x="12032" y="1"/>
                </a:lnTo>
                <a:lnTo>
                  <a:pt x="11691" y="49"/>
                </a:lnTo>
                <a:lnTo>
                  <a:pt x="11350" y="123"/>
                </a:lnTo>
                <a:lnTo>
                  <a:pt x="11033" y="196"/>
                </a:lnTo>
                <a:lnTo>
                  <a:pt x="10716" y="317"/>
                </a:lnTo>
                <a:lnTo>
                  <a:pt x="10424" y="464"/>
                </a:lnTo>
                <a:lnTo>
                  <a:pt x="10132" y="610"/>
                </a:lnTo>
                <a:lnTo>
                  <a:pt x="9864" y="804"/>
                </a:lnTo>
                <a:lnTo>
                  <a:pt x="9620" y="999"/>
                </a:lnTo>
                <a:lnTo>
                  <a:pt x="9377" y="1219"/>
                </a:lnTo>
                <a:lnTo>
                  <a:pt x="9158" y="1462"/>
                </a:lnTo>
                <a:lnTo>
                  <a:pt x="8939" y="1706"/>
                </a:lnTo>
                <a:lnTo>
                  <a:pt x="8768" y="1974"/>
                </a:lnTo>
                <a:lnTo>
                  <a:pt x="8598" y="2266"/>
                </a:lnTo>
                <a:lnTo>
                  <a:pt x="8451" y="2558"/>
                </a:lnTo>
                <a:lnTo>
                  <a:pt x="8330" y="2850"/>
                </a:lnTo>
                <a:lnTo>
                  <a:pt x="8330" y="2850"/>
                </a:lnTo>
                <a:lnTo>
                  <a:pt x="8208" y="2558"/>
                </a:lnTo>
                <a:lnTo>
                  <a:pt x="8062" y="2266"/>
                </a:lnTo>
                <a:lnTo>
                  <a:pt x="7891" y="1974"/>
                </a:lnTo>
                <a:lnTo>
                  <a:pt x="7721" y="1706"/>
                </a:lnTo>
                <a:lnTo>
                  <a:pt x="7502" y="1462"/>
                </a:lnTo>
                <a:lnTo>
                  <a:pt x="7282" y="1219"/>
                </a:lnTo>
                <a:lnTo>
                  <a:pt x="7039" y="999"/>
                </a:lnTo>
                <a:lnTo>
                  <a:pt x="6795" y="804"/>
                </a:lnTo>
                <a:lnTo>
                  <a:pt x="6527" y="610"/>
                </a:lnTo>
                <a:lnTo>
                  <a:pt x="6235" y="464"/>
                </a:lnTo>
                <a:lnTo>
                  <a:pt x="5943" y="317"/>
                </a:lnTo>
                <a:lnTo>
                  <a:pt x="5626" y="196"/>
                </a:lnTo>
                <a:lnTo>
                  <a:pt x="5310" y="123"/>
                </a:lnTo>
                <a:lnTo>
                  <a:pt x="4969" y="49"/>
                </a:lnTo>
                <a:lnTo>
                  <a:pt x="4628" y="1"/>
                </a:lnTo>
                <a:lnTo>
                  <a:pt x="4287" y="1"/>
                </a:lnTo>
                <a:lnTo>
                  <a:pt x="4287" y="1"/>
                </a:lnTo>
                <a:lnTo>
                  <a:pt x="3848" y="25"/>
                </a:lnTo>
                <a:lnTo>
                  <a:pt x="3434" y="74"/>
                </a:lnTo>
                <a:lnTo>
                  <a:pt x="3020" y="196"/>
                </a:lnTo>
                <a:lnTo>
                  <a:pt x="2606" y="342"/>
                </a:lnTo>
                <a:lnTo>
                  <a:pt x="2241" y="512"/>
                </a:lnTo>
                <a:lnTo>
                  <a:pt x="1900" y="731"/>
                </a:lnTo>
                <a:lnTo>
                  <a:pt x="1559" y="975"/>
                </a:lnTo>
                <a:lnTo>
                  <a:pt x="1267" y="1243"/>
                </a:lnTo>
                <a:lnTo>
                  <a:pt x="974" y="1560"/>
                </a:lnTo>
                <a:lnTo>
                  <a:pt x="731" y="1876"/>
                </a:lnTo>
                <a:lnTo>
                  <a:pt x="512" y="2241"/>
                </a:lnTo>
                <a:lnTo>
                  <a:pt x="341" y="2607"/>
                </a:lnTo>
                <a:lnTo>
                  <a:pt x="195" y="2996"/>
                </a:lnTo>
                <a:lnTo>
                  <a:pt x="98" y="3410"/>
                </a:lnTo>
                <a:lnTo>
                  <a:pt x="25" y="3849"/>
                </a:lnTo>
                <a:lnTo>
                  <a:pt x="0" y="4287"/>
                </a:lnTo>
                <a:lnTo>
                  <a:pt x="0" y="4287"/>
                </a:lnTo>
                <a:lnTo>
                  <a:pt x="0" y="4580"/>
                </a:lnTo>
                <a:lnTo>
                  <a:pt x="25" y="4872"/>
                </a:lnTo>
                <a:lnTo>
                  <a:pt x="122" y="5432"/>
                </a:lnTo>
                <a:lnTo>
                  <a:pt x="244" y="5992"/>
                </a:lnTo>
                <a:lnTo>
                  <a:pt x="439" y="6528"/>
                </a:lnTo>
                <a:lnTo>
                  <a:pt x="658" y="7039"/>
                </a:lnTo>
                <a:lnTo>
                  <a:pt x="926" y="7526"/>
                </a:lnTo>
                <a:lnTo>
                  <a:pt x="1194" y="7989"/>
                </a:lnTo>
                <a:lnTo>
                  <a:pt x="1510" y="8452"/>
                </a:lnTo>
                <a:lnTo>
                  <a:pt x="1851" y="8890"/>
                </a:lnTo>
                <a:lnTo>
                  <a:pt x="2192" y="9304"/>
                </a:lnTo>
                <a:lnTo>
                  <a:pt x="2558" y="9718"/>
                </a:lnTo>
                <a:lnTo>
                  <a:pt x="2923" y="10108"/>
                </a:lnTo>
                <a:lnTo>
                  <a:pt x="3629" y="10839"/>
                </a:lnTo>
                <a:lnTo>
                  <a:pt x="4287" y="11496"/>
                </a:lnTo>
                <a:lnTo>
                  <a:pt x="4287" y="11496"/>
                </a:lnTo>
                <a:lnTo>
                  <a:pt x="4847" y="12032"/>
                </a:lnTo>
                <a:lnTo>
                  <a:pt x="5480" y="12592"/>
                </a:lnTo>
                <a:lnTo>
                  <a:pt x="6820" y="13737"/>
                </a:lnTo>
                <a:lnTo>
                  <a:pt x="7891" y="14614"/>
                </a:lnTo>
                <a:lnTo>
                  <a:pt x="8330" y="14955"/>
                </a:lnTo>
                <a:lnTo>
                  <a:pt x="8330" y="14955"/>
                </a:lnTo>
                <a:lnTo>
                  <a:pt x="8768" y="14614"/>
                </a:lnTo>
                <a:lnTo>
                  <a:pt x="9815" y="13761"/>
                </a:lnTo>
                <a:lnTo>
                  <a:pt x="11155" y="12617"/>
                </a:lnTo>
                <a:lnTo>
                  <a:pt x="11788" y="12056"/>
                </a:lnTo>
                <a:lnTo>
                  <a:pt x="12373" y="11496"/>
                </a:lnTo>
                <a:lnTo>
                  <a:pt x="12373" y="11496"/>
                </a:lnTo>
                <a:lnTo>
                  <a:pt x="13030" y="10839"/>
                </a:lnTo>
                <a:lnTo>
                  <a:pt x="13736" y="10108"/>
                </a:lnTo>
                <a:lnTo>
                  <a:pt x="14102" y="9718"/>
                </a:lnTo>
                <a:lnTo>
                  <a:pt x="14467" y="9304"/>
                </a:lnTo>
                <a:lnTo>
                  <a:pt x="14808" y="8890"/>
                </a:lnTo>
                <a:lnTo>
                  <a:pt x="15149" y="8452"/>
                </a:lnTo>
                <a:lnTo>
                  <a:pt x="15466" y="7989"/>
                </a:lnTo>
                <a:lnTo>
                  <a:pt x="15734" y="7526"/>
                </a:lnTo>
                <a:lnTo>
                  <a:pt x="16001" y="7039"/>
                </a:lnTo>
                <a:lnTo>
                  <a:pt x="16221" y="6528"/>
                </a:lnTo>
                <a:lnTo>
                  <a:pt x="16416" y="5992"/>
                </a:lnTo>
                <a:lnTo>
                  <a:pt x="16537" y="5432"/>
                </a:lnTo>
                <a:lnTo>
                  <a:pt x="16635" y="4872"/>
                </a:lnTo>
                <a:lnTo>
                  <a:pt x="16659" y="4580"/>
                </a:lnTo>
                <a:lnTo>
                  <a:pt x="16659" y="4287"/>
                </a:lnTo>
                <a:lnTo>
                  <a:pt x="16659" y="4287"/>
                </a:lnTo>
                <a:lnTo>
                  <a:pt x="16635" y="3849"/>
                </a:lnTo>
                <a:lnTo>
                  <a:pt x="16562" y="3410"/>
                </a:lnTo>
                <a:lnTo>
                  <a:pt x="16464" y="2996"/>
                </a:lnTo>
                <a:lnTo>
                  <a:pt x="16318" y="2607"/>
                </a:lnTo>
                <a:lnTo>
                  <a:pt x="16148" y="2241"/>
                </a:lnTo>
                <a:lnTo>
                  <a:pt x="15928" y="1876"/>
                </a:lnTo>
                <a:lnTo>
                  <a:pt x="15685" y="1560"/>
                </a:lnTo>
                <a:lnTo>
                  <a:pt x="15393" y="1243"/>
                </a:lnTo>
                <a:lnTo>
                  <a:pt x="15100" y="975"/>
                </a:lnTo>
                <a:lnTo>
                  <a:pt x="14759" y="731"/>
                </a:lnTo>
                <a:lnTo>
                  <a:pt x="14418" y="512"/>
                </a:lnTo>
                <a:lnTo>
                  <a:pt x="14053" y="342"/>
                </a:lnTo>
                <a:lnTo>
                  <a:pt x="13639" y="196"/>
                </a:lnTo>
                <a:lnTo>
                  <a:pt x="13225" y="74"/>
                </a:lnTo>
                <a:lnTo>
                  <a:pt x="12811" y="25"/>
                </a:lnTo>
                <a:lnTo>
                  <a:pt x="12373" y="1"/>
                </a:lnTo>
                <a:lnTo>
                  <a:pt x="12373" y="1"/>
                </a:lnTo>
                <a:close/>
              </a:path>
            </a:pathLst>
          </a:cu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74"/>
          <p:cNvSpPr txBox="1"/>
          <p:nvPr/>
        </p:nvSpPr>
        <p:spPr>
          <a:xfrm>
            <a:off x="1524100" y="3163272"/>
            <a:ext cx="668264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highlight>
                  <a:schemeClr val="accent1"/>
                </a:highlight>
                <a:latin typeface="Lora"/>
                <a:ea typeface="Lora"/>
                <a:cs typeface="Lora"/>
                <a:sym typeface="Lora"/>
              </a:rPr>
              <a:t>THANK YOU!!!</a:t>
            </a:r>
            <a:endParaRPr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75"/>
          <p:cNvSpPr txBox="1"/>
          <p:nvPr/>
        </p:nvSpPr>
        <p:spPr>
          <a:xfrm>
            <a:off x="1290320" y="1396700"/>
            <a:ext cx="6563360" cy="919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 b="1" i="0" u="none" strike="noStrike" cap="none" dirty="0">
                <a:solidFill>
                  <a:schemeClr val="dk1"/>
                </a:solidFill>
                <a:highlight>
                  <a:srgbClr val="FFCD00"/>
                </a:highlight>
                <a:latin typeface="Lora"/>
                <a:ea typeface="Lora"/>
                <a:cs typeface="Lora"/>
                <a:sym typeface="Lora"/>
              </a:rPr>
              <a:t>Q</a:t>
            </a:r>
            <a:r>
              <a:rPr lang="en-US" sz="5000" b="1" i="0" u="none" strike="noStrike" cap="none" dirty="0">
                <a:solidFill>
                  <a:schemeClr val="dk1"/>
                </a:solidFill>
                <a:highlight>
                  <a:srgbClr val="FFCD00"/>
                </a:highlight>
                <a:latin typeface="Lora"/>
                <a:ea typeface="Lora"/>
                <a:cs typeface="Lora"/>
                <a:sym typeface="Lora"/>
              </a:rPr>
              <a:t>&amp;</a:t>
            </a:r>
            <a:r>
              <a:rPr lang="en-US" sz="8000" b="1" i="0" u="none" strike="noStrike" cap="none" dirty="0">
                <a:solidFill>
                  <a:schemeClr val="dk1"/>
                </a:solidFill>
                <a:highlight>
                  <a:srgbClr val="FFCD00"/>
                </a:highlight>
                <a:latin typeface="Lora"/>
                <a:ea typeface="Lora"/>
                <a:cs typeface="Lora"/>
                <a:sym typeface="Lora"/>
              </a:rPr>
              <a:t>A </a:t>
            </a:r>
            <a:endParaRPr dirty="0"/>
          </a:p>
        </p:txBody>
      </p:sp>
      <p:sp>
        <p:nvSpPr>
          <p:cNvPr id="1123" name="Google Shape;1123;p75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75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ola template">
  <a:themeElements>
    <a:clrScheme name="Custom 347">
      <a:dk1>
        <a:srgbClr val="000000"/>
      </a:dk1>
      <a:lt1>
        <a:srgbClr val="FFFFFF"/>
      </a:lt1>
      <a:dk2>
        <a:srgbClr val="8A8682"/>
      </a:dk2>
      <a:lt2>
        <a:srgbClr val="F0EEE9"/>
      </a:lt2>
      <a:accent1>
        <a:srgbClr val="FFCD00"/>
      </a:accent1>
      <a:accent2>
        <a:srgbClr val="F6921D"/>
      </a:accent2>
      <a:accent3>
        <a:srgbClr val="A7693A"/>
      </a:accent3>
      <a:accent4>
        <a:srgbClr val="D8D6D2"/>
      </a:accent4>
      <a:accent5>
        <a:srgbClr val="979593"/>
      </a:accent5>
      <a:accent6>
        <a:srgbClr val="6F6868"/>
      </a:accent6>
      <a:hlink>
        <a:srgbClr val="0000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5555</Words>
  <Application>Microsoft Office PowerPoint</Application>
  <PresentationFormat>화면 슬라이드 쇼(16:9)</PresentationFormat>
  <Paragraphs>2053</Paragraphs>
  <Slides>75</Slides>
  <Notes>75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75</vt:i4>
      </vt:variant>
    </vt:vector>
  </HeadingPairs>
  <TitlesOfParts>
    <vt:vector size="83" baseType="lpstr">
      <vt:lpstr>Montserrat</vt:lpstr>
      <vt:lpstr>Dotum</vt:lpstr>
      <vt:lpstr>Quattrocento Sans</vt:lpstr>
      <vt:lpstr>Arial</vt:lpstr>
      <vt:lpstr>Arimo</vt:lpstr>
      <vt:lpstr>Malgun Gothic</vt:lpstr>
      <vt:lpstr>Lora</vt:lpstr>
      <vt:lpstr>Viola template</vt:lpstr>
      <vt:lpstr>Security Selection  &amp; Machine Learning 을 이용한 시장예측</vt:lpstr>
      <vt:lpstr>OUR TEAM</vt:lpstr>
      <vt:lpstr>TABLE OF CONTENTS</vt:lpstr>
      <vt:lpstr>About the Project </vt:lpstr>
      <vt:lpstr>프로젝트 요약</vt:lpstr>
      <vt:lpstr>연구배경</vt:lpstr>
      <vt:lpstr>연구배경</vt:lpstr>
      <vt:lpstr>연구배경</vt:lpstr>
      <vt:lpstr>연구배경</vt:lpstr>
      <vt:lpstr>연구배경</vt:lpstr>
      <vt:lpstr>연구배경</vt:lpstr>
      <vt:lpstr>선행연구</vt:lpstr>
      <vt:lpstr>Project Progression</vt:lpstr>
      <vt:lpstr>연구과정</vt:lpstr>
      <vt:lpstr>연구과정</vt:lpstr>
      <vt:lpstr>연구과정</vt:lpstr>
      <vt:lpstr>연구과정</vt:lpstr>
      <vt:lpstr>연구과정</vt:lpstr>
      <vt:lpstr>연구과정</vt:lpstr>
      <vt:lpstr>연구과정</vt:lpstr>
      <vt:lpstr>연구과정</vt:lpstr>
      <vt:lpstr>연구과정</vt:lpstr>
      <vt:lpstr>연구과정</vt:lpstr>
      <vt:lpstr>연구과정</vt:lpstr>
      <vt:lpstr>연구과정</vt:lpstr>
      <vt:lpstr>연구과정</vt:lpstr>
      <vt:lpstr>연구과정</vt:lpstr>
      <vt:lpstr>연구과정</vt:lpstr>
      <vt:lpstr>연구과정</vt:lpstr>
      <vt:lpstr>연구과정</vt:lpstr>
      <vt:lpstr>연구과정</vt:lpstr>
      <vt:lpstr>연구과정</vt:lpstr>
      <vt:lpstr>연구과정</vt:lpstr>
      <vt:lpstr>연구과정</vt:lpstr>
      <vt:lpstr>연구과정</vt:lpstr>
      <vt:lpstr>연구과정</vt:lpstr>
      <vt:lpstr>연구과정</vt:lpstr>
      <vt:lpstr>연구과정</vt:lpstr>
      <vt:lpstr>연구과정</vt:lpstr>
      <vt:lpstr>연구과정</vt:lpstr>
      <vt:lpstr>연구과정</vt:lpstr>
      <vt:lpstr>연구과정</vt:lpstr>
      <vt:lpstr>연구과정</vt:lpstr>
      <vt:lpstr>연구과정</vt:lpstr>
      <vt:lpstr>연구과정</vt:lpstr>
      <vt:lpstr>연구과정</vt:lpstr>
      <vt:lpstr>연구과정</vt:lpstr>
      <vt:lpstr>연구과정</vt:lpstr>
      <vt:lpstr>연구과정</vt:lpstr>
      <vt:lpstr>연구과정</vt:lpstr>
      <vt:lpstr>연구과정</vt:lpstr>
      <vt:lpstr>연구과정</vt:lpstr>
      <vt:lpstr>연구과정</vt:lpstr>
      <vt:lpstr>연구과정</vt:lpstr>
      <vt:lpstr>연구과정</vt:lpstr>
      <vt:lpstr>연구과정</vt:lpstr>
      <vt:lpstr>연구과정</vt:lpstr>
      <vt:lpstr>연구과정</vt:lpstr>
      <vt:lpstr>연구과정</vt:lpstr>
      <vt:lpstr>연구과정</vt:lpstr>
      <vt:lpstr>연구과정</vt:lpstr>
      <vt:lpstr>Conlusion</vt:lpstr>
      <vt:lpstr>도출결론</vt:lpstr>
      <vt:lpstr>도출결론</vt:lpstr>
      <vt:lpstr>도출결론</vt:lpstr>
      <vt:lpstr>도출결론</vt:lpstr>
      <vt:lpstr>도출결론</vt:lpstr>
      <vt:lpstr>도출결론</vt:lpstr>
      <vt:lpstr>도출결론</vt:lpstr>
      <vt:lpstr>References &amp; Special Thanks</vt:lpstr>
      <vt:lpstr>참고문헌</vt:lpstr>
      <vt:lpstr>감사드리고 싶은 분들</vt:lpstr>
      <vt:lpstr>감사드리고 싶은 분들</vt:lpstr>
      <vt:lpstr> 알고 가는 것이 아니라, 가다 보니 알게 되었다. - 수필가 조정자, ‘사유와 기적의 길 산티아고를 걸으며‘ 중에서 -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Selection  &amp; Machine Learning 을 이용한 시장예측</dc:title>
  <cp:lastModifiedBy>bzg</cp:lastModifiedBy>
  <cp:revision>3</cp:revision>
  <dcterms:modified xsi:type="dcterms:W3CDTF">2023-05-11T15:50:19Z</dcterms:modified>
</cp:coreProperties>
</file>