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80" r:id="rId6"/>
    <p:sldId id="281" r:id="rId7"/>
    <p:sldId id="277" r:id="rId8"/>
    <p:sldId id="267" r:id="rId9"/>
    <p:sldId id="309" r:id="rId10"/>
    <p:sldId id="272" r:id="rId11"/>
    <p:sldId id="304" r:id="rId12"/>
    <p:sldId id="279" r:id="rId13"/>
    <p:sldId id="268" r:id="rId14"/>
    <p:sldId id="273" r:id="rId15"/>
    <p:sldId id="269" r:id="rId16"/>
    <p:sldId id="306" r:id="rId17"/>
    <p:sldId id="283" r:id="rId18"/>
    <p:sldId id="307" r:id="rId19"/>
    <p:sldId id="290" r:id="rId20"/>
    <p:sldId id="270" r:id="rId21"/>
    <p:sldId id="296" r:id="rId22"/>
    <p:sldId id="300" r:id="rId23"/>
    <p:sldId id="295" r:id="rId24"/>
    <p:sldId id="301" r:id="rId25"/>
    <p:sldId id="305" r:id="rId26"/>
    <p:sldId id="271" r:id="rId27"/>
    <p:sldId id="308" r:id="rId28"/>
    <p:sldId id="303" r:id="rId29"/>
    <p:sldId id="275" r:id="rId30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AC9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81" autoAdjust="0"/>
    <p:restoredTop sz="94660"/>
  </p:normalViewPr>
  <p:slideViewPr>
    <p:cSldViewPr>
      <p:cViewPr varScale="1">
        <p:scale>
          <a:sx n="52" d="100"/>
          <a:sy n="52" d="100"/>
        </p:scale>
        <p:origin x="629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8166F1F-CE9B-4651-A6AA-CD717754106B}" type="datetimeFigureOut">
              <a:rPr lang="en-US" smtClean="0"/>
              <a:t>5/12/2023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76116CE-C4A3-4A05-B2D7-7C2E9A889C0F}" type="datetimeFigureOut">
              <a:rPr lang="en-US" smtClean="0"/>
              <a:t>5/12/2023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76116CE-C4A3-4A05-B2D7-7C2E9A889C0F}" type="datetimeFigureOut">
              <a:rPr lang="en-US" smtClean="0"/>
              <a:t>5/12/2023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76116CE-C4A3-4A05-B2D7-7C2E9A889C0F}" type="datetimeFigureOut">
              <a:rPr lang="en-US" smtClean="0"/>
              <a:t>5/12/2023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76116CE-C4A3-4A05-B2D7-7C2E9A889C0F}" type="datetimeFigureOut">
              <a:rPr lang="en-US" smtClean="0"/>
              <a:t>5/12/2023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76116CE-C4A3-4A05-B2D7-7C2E9A889C0F}" type="datetimeFigureOut">
              <a:rPr lang="en-US" smtClean="0"/>
              <a:t>5/12/2023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76116CE-C4A3-4A05-B2D7-7C2E9A889C0F}" type="datetimeFigureOut">
              <a:rPr lang="en-US" smtClean="0"/>
              <a:t>5/12/2023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76116CE-C4A3-4A05-B2D7-7C2E9A889C0F}" type="datetimeFigureOut">
              <a:rPr lang="en-US" smtClean="0"/>
              <a:t>5/12/2023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76116CE-C4A3-4A05-B2D7-7C2E9A889C0F}" type="datetimeFigureOut">
              <a:rPr lang="en-US" smtClean="0"/>
              <a:t>5/12/2023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76116CE-C4A3-4A05-B2D7-7C2E9A889C0F}" type="datetimeFigureOut">
              <a:rPr lang="en-US" smtClean="0"/>
              <a:t>5/12/2023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76116CE-C4A3-4A05-B2D7-7C2E9A889C0F}" type="datetimeFigureOut">
              <a:rPr lang="en-US" smtClean="0"/>
              <a:t>5/12/2023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4CE45D17-6094-4F6C-B9A1-193FCF110F4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8297896" cy="104013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6.png"/><Relationship Id="rId7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6.png"/><Relationship Id="rId7" Type="http://schemas.openxmlformats.org/officeDocument/2006/relationships/image" Target="../media/image5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3810" y="3210178"/>
            <a:ext cx="14553630" cy="1384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8400" dirty="0">
                <a:solidFill>
                  <a:srgbClr val="3B7DDD"/>
                </a:solidFill>
                <a:latin typeface="NanumSquare ExtraBold" pitchFamily="34" charset="0"/>
              </a:rPr>
              <a:t>Credit</a:t>
            </a:r>
            <a:r>
              <a:rPr lang="ko-KR" altLang="en-US" sz="8400" dirty="0">
                <a:solidFill>
                  <a:srgbClr val="3B7DDD"/>
                </a:solidFill>
                <a:latin typeface="NanumSquare ExtraBold" pitchFamily="34" charset="0"/>
              </a:rPr>
              <a:t> </a:t>
            </a:r>
            <a:r>
              <a:rPr lang="en-US" altLang="ko-KR" sz="8400" dirty="0">
                <a:solidFill>
                  <a:srgbClr val="3B7DDD"/>
                </a:solidFill>
                <a:latin typeface="NanumSquare ExtraBold" pitchFamily="34" charset="0"/>
              </a:rPr>
              <a:t>Score</a:t>
            </a:r>
            <a:r>
              <a:rPr lang="ko-KR" altLang="en-US" sz="8400" dirty="0">
                <a:solidFill>
                  <a:srgbClr val="3B7DDD"/>
                </a:solidFill>
                <a:latin typeface="NanumSquare ExtraBold" pitchFamily="34" charset="0"/>
              </a:rPr>
              <a:t> </a:t>
            </a:r>
            <a:r>
              <a:rPr lang="en-US" altLang="ko-KR" sz="8400" dirty="0">
                <a:solidFill>
                  <a:srgbClr val="3B7DDD"/>
                </a:solidFill>
                <a:latin typeface="NanumSquare ExtraBold" pitchFamily="34" charset="0"/>
              </a:rPr>
              <a:t>Prediction</a:t>
            </a:r>
            <a:endParaRPr lang="en-US" dirty="0"/>
          </a:p>
        </p:txBody>
      </p:sp>
      <p:grpSp>
        <p:nvGrpSpPr>
          <p:cNvPr id="1001" name="그룹 1001"/>
          <p:cNvGrpSpPr/>
          <p:nvPr/>
        </p:nvGrpSpPr>
        <p:grpSpPr>
          <a:xfrm>
            <a:off x="1990476" y="7972346"/>
            <a:ext cx="16289065" cy="2493433"/>
            <a:chOff x="1990476" y="7972346"/>
            <a:chExt cx="16289065" cy="2493433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90476" y="7972346"/>
              <a:ext cx="16289065" cy="249343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923810" y="2733988"/>
            <a:ext cx="3944374" cy="476190"/>
            <a:chOff x="1923810" y="2733988"/>
            <a:chExt cx="3944374" cy="476190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3810" y="2733988"/>
              <a:ext cx="3944374" cy="47619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338498" y="2806550"/>
            <a:ext cx="5074541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프로젝트 </a:t>
            </a:r>
            <a:r>
              <a:rPr lang="en-US" altLang="ko-KR" b="1" dirty="0">
                <a:solidFill>
                  <a:schemeClr val="bg1"/>
                </a:solidFill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grpSp>
        <p:nvGrpSpPr>
          <p:cNvPr id="1003" name="그룹 1003"/>
          <p:cNvGrpSpPr/>
          <p:nvPr/>
        </p:nvGrpSpPr>
        <p:grpSpPr>
          <a:xfrm>
            <a:off x="12016044" y="6247619"/>
            <a:ext cx="5900748" cy="822958"/>
            <a:chOff x="12016044" y="6247619"/>
            <a:chExt cx="5900748" cy="822958"/>
          </a:xfrm>
        </p:grpSpPr>
        <p:sp>
          <p:nvSpPr>
            <p:cNvPr id="12" name="Object 12"/>
            <p:cNvSpPr txBox="1"/>
            <p:nvPr/>
          </p:nvSpPr>
          <p:spPr>
            <a:xfrm>
              <a:off x="12016044" y="6247619"/>
              <a:ext cx="5900748" cy="40011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sz="2000" dirty="0">
                  <a:solidFill>
                    <a:srgbClr val="201A74"/>
                  </a:solidFill>
                  <a:latin typeface="NanumSquare" pitchFamily="34" charset="0"/>
                  <a:cs typeface="NanumSquare" pitchFamily="34" charset="0"/>
                </a:rPr>
                <a:t>C</a:t>
              </a:r>
              <a:r>
                <a:rPr lang="ko-KR" altLang="en-US" sz="2000" dirty="0">
                  <a:solidFill>
                    <a:srgbClr val="201A74"/>
                  </a:solidFill>
                  <a:latin typeface="NanumSquare" pitchFamily="34" charset="0"/>
                  <a:cs typeface="NanumSquare" pitchFamily="34" charset="0"/>
                </a:rPr>
                <a:t>조</a:t>
              </a:r>
              <a:endParaRPr lang="en-US" dirty="0"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13668366" y="6670467"/>
              <a:ext cx="3826532" cy="40011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rgbClr val="201A74"/>
                  </a:solidFill>
                  <a:latin typeface="NanumSquare ExtraBold" pitchFamily="34" charset="0"/>
                  <a:cs typeface="NanumSquare ExtraBold" pitchFamily="34" charset="0"/>
                </a:rPr>
                <a:t>백경희</a:t>
              </a:r>
              <a:r>
                <a:rPr lang="en-US" altLang="ko-KR" sz="2000" dirty="0">
                  <a:solidFill>
                    <a:srgbClr val="201A74"/>
                  </a:solidFill>
                  <a:latin typeface="NanumSquare ExtraBold" pitchFamily="34" charset="0"/>
                  <a:cs typeface="NanumSquare ExtraBold" pitchFamily="34" charset="0"/>
                </a:rPr>
                <a:t>, </a:t>
              </a:r>
              <a:r>
                <a:rPr lang="ko-KR" altLang="en-US" sz="2000" dirty="0">
                  <a:solidFill>
                    <a:srgbClr val="201A74"/>
                  </a:solidFill>
                  <a:latin typeface="NanumSquare ExtraBold" pitchFamily="34" charset="0"/>
                  <a:cs typeface="NanumSquare ExtraBold" pitchFamily="34" charset="0"/>
                </a:rPr>
                <a:t>백선영</a:t>
              </a:r>
              <a:r>
                <a:rPr lang="en-US" altLang="ko-KR" sz="2000" dirty="0">
                  <a:solidFill>
                    <a:srgbClr val="201A74"/>
                  </a:solidFill>
                  <a:latin typeface="NanumSquare ExtraBold" pitchFamily="34" charset="0"/>
                  <a:cs typeface="NanumSquare ExtraBold" pitchFamily="34" charset="0"/>
                </a:rPr>
                <a:t>, </a:t>
              </a:r>
              <a:r>
                <a:rPr lang="ko-KR" altLang="en-US" sz="2000" dirty="0">
                  <a:solidFill>
                    <a:srgbClr val="201A74"/>
                  </a:solidFill>
                  <a:latin typeface="NanumSquare ExtraBold" pitchFamily="34" charset="0"/>
                  <a:cs typeface="NanumSquare ExtraBold" pitchFamily="34" charset="0"/>
                </a:rPr>
                <a:t>남성희</a:t>
              </a:r>
              <a:r>
                <a:rPr lang="en-US" altLang="ko-KR" sz="2000" dirty="0">
                  <a:solidFill>
                    <a:srgbClr val="201A74"/>
                  </a:solidFill>
                  <a:latin typeface="NanumSquare ExtraBold" pitchFamily="34" charset="0"/>
                  <a:cs typeface="NanumSquare ExtraBold" pitchFamily="34" charset="0"/>
                </a:rPr>
                <a:t>, </a:t>
              </a:r>
              <a:r>
                <a:rPr lang="ko-KR" altLang="en-US" sz="2000" dirty="0">
                  <a:solidFill>
                    <a:srgbClr val="201A74"/>
                  </a:solidFill>
                  <a:latin typeface="NanumSquare ExtraBold" pitchFamily="34" charset="0"/>
                  <a:cs typeface="NanumSquare ExtraBold" pitchFamily="34" charset="0"/>
                </a:rPr>
                <a:t>송준호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000562" y="0"/>
            <a:ext cx="16284590" cy="2724340"/>
            <a:chOff x="1000562" y="0"/>
            <a:chExt cx="16284590" cy="2724340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0562" y="0"/>
              <a:ext cx="16284590" cy="272434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644134" y="2717947"/>
            <a:ext cx="6351298" cy="17641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6600" dirty="0">
                <a:solidFill>
                  <a:srgbClr val="201A74"/>
                </a:solidFill>
                <a:latin typeface="NanumSquare Light" pitchFamily="34" charset="0"/>
                <a:cs typeface="NanumSquare Light" pitchFamily="34" charset="0"/>
              </a:rPr>
              <a:t>CONTENTS</a:t>
            </a:r>
            <a:endParaRPr lang="en-US" dirty="0"/>
          </a:p>
        </p:txBody>
      </p:sp>
      <p:sp>
        <p:nvSpPr>
          <p:cNvPr id="6" name="Object 6"/>
          <p:cNvSpPr txBox="1"/>
          <p:nvPr/>
        </p:nvSpPr>
        <p:spPr>
          <a:xfrm>
            <a:off x="1289992" y="4828773"/>
            <a:ext cx="3974657" cy="477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500" b="1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01. </a:t>
            </a:r>
            <a:r>
              <a:rPr lang="ko-KR" altLang="en-US" sz="2500" b="1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데이터 분석</a:t>
            </a:r>
            <a:endParaRPr 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3685" y="5370610"/>
            <a:ext cx="3269153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dirty="0">
                <a:solidFill>
                  <a:srgbClr val="3B7DDD"/>
                </a:solidFill>
                <a:latin typeface="NanumSquareRoundOTF Bold" pitchFamily="34" charset="0"/>
                <a:cs typeface="NanumSquareRoundOTF Bold" pitchFamily="34" charset="0"/>
              </a:rPr>
              <a:t>· </a:t>
            </a:r>
            <a:r>
              <a:rPr lang="ko-KR" altLang="en-US" sz="2000" dirty="0">
                <a:solidFill>
                  <a:srgbClr val="3B7DDD"/>
                </a:solidFill>
                <a:latin typeface="NanumSquareRoundOTF Bold" pitchFamily="34" charset="0"/>
                <a:cs typeface="NanumSquareRoundOTF Bold" pitchFamily="34" charset="0"/>
              </a:rPr>
              <a:t>데이터 설명</a:t>
            </a:r>
            <a:endParaRPr lang="en-US" sz="2000" dirty="0">
              <a:solidFill>
                <a:srgbClr val="3B7DDD"/>
              </a:solidFill>
              <a:latin typeface="NanumSquareRoundOTF Bold" pitchFamily="34" charset="0"/>
              <a:cs typeface="NanumSquareRoundOTF Bold" pitchFamily="34" charset="0"/>
            </a:endParaRPr>
          </a:p>
          <a:p>
            <a:r>
              <a:rPr lang="en-US" sz="2000" dirty="0">
                <a:solidFill>
                  <a:srgbClr val="3B7DDD"/>
                </a:solidFill>
                <a:latin typeface="NanumSquareRoundOTF Bold" pitchFamily="34" charset="0"/>
                <a:cs typeface="NanumSquareRoundOTF Bold" pitchFamily="34" charset="0"/>
              </a:rPr>
              <a:t>· </a:t>
            </a:r>
            <a:r>
              <a:rPr lang="ko-KR" altLang="en-US" sz="2000" dirty="0">
                <a:solidFill>
                  <a:srgbClr val="3B7DDD"/>
                </a:solidFill>
                <a:latin typeface="NanumSquareRoundOTF Bold" pitchFamily="34" charset="0"/>
                <a:cs typeface="NanumSquareRoundOTF Bold" pitchFamily="34" charset="0"/>
              </a:rPr>
              <a:t>데이터 시각화</a:t>
            </a:r>
            <a:endParaRPr lang="en-US" altLang="ko-KR" sz="2000" dirty="0">
              <a:solidFill>
                <a:srgbClr val="3B7DDD"/>
              </a:solidFill>
              <a:latin typeface="NanumSquareRoundOTF Bold" pitchFamily="34" charset="0"/>
              <a:cs typeface="NanumSquareRoundOTF Bold" pitchFamily="34" charset="0"/>
            </a:endParaRPr>
          </a:p>
          <a:p>
            <a:r>
              <a:rPr lang="en-US" altLang="ko-KR" sz="2000" dirty="0">
                <a:solidFill>
                  <a:srgbClr val="3B7DDD"/>
                </a:solidFill>
                <a:latin typeface="NanumSquareRoundOTF Bold" pitchFamily="34" charset="0"/>
                <a:cs typeface="NanumSquareRoundOTF Bold" pitchFamily="34" charset="0"/>
              </a:rPr>
              <a:t>· Correlation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50377" y="4826910"/>
            <a:ext cx="3911937" cy="477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500" b="1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02. </a:t>
            </a:r>
            <a:r>
              <a:rPr lang="ko-KR" altLang="en-US" sz="2500" b="1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데이터 </a:t>
            </a:r>
            <a:r>
              <a:rPr lang="ko-KR" altLang="en-US" sz="2500" b="1" dirty="0" err="1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전처리</a:t>
            </a:r>
            <a:endParaRPr 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76141" y="5370610"/>
            <a:ext cx="3675932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dirty="0">
                <a:solidFill>
                  <a:srgbClr val="3B7DDD"/>
                </a:solidFill>
                <a:latin typeface="NanumSquareRoundOTF Bold" pitchFamily="34" charset="0"/>
                <a:cs typeface="NanumSquareRoundOTF Bold" pitchFamily="34" charset="0"/>
              </a:rPr>
              <a:t>· </a:t>
            </a:r>
            <a:r>
              <a:rPr lang="en-US" altLang="ko-KR" sz="2000" dirty="0">
                <a:solidFill>
                  <a:srgbClr val="3B7DDD"/>
                </a:solidFill>
                <a:latin typeface="NanumSquare ExtraBold" pitchFamily="34" charset="0"/>
                <a:cs typeface="NanumSquare ExtraBold" pitchFamily="34" charset="0"/>
              </a:rPr>
              <a:t>Feature Characteristic</a:t>
            </a:r>
            <a:endParaRPr lang="en-US" altLang="ko-KR" sz="2000" dirty="0"/>
          </a:p>
          <a:p>
            <a:r>
              <a:rPr lang="en-US" sz="2000" dirty="0">
                <a:solidFill>
                  <a:srgbClr val="3B7DDD"/>
                </a:solidFill>
                <a:latin typeface="NanumSquareRoundOTF Bold" pitchFamily="34" charset="0"/>
                <a:cs typeface="NanumSquareRoundOTF Bold" pitchFamily="34" charset="0"/>
              </a:rPr>
              <a:t>· Data processing</a:t>
            </a:r>
            <a:endParaRPr lang="en-US" sz="2000" dirty="0"/>
          </a:p>
        </p:txBody>
      </p:sp>
      <p:sp>
        <p:nvSpPr>
          <p:cNvPr id="10" name="Object 10"/>
          <p:cNvSpPr txBox="1"/>
          <p:nvPr/>
        </p:nvSpPr>
        <p:spPr>
          <a:xfrm>
            <a:off x="12679825" y="4762500"/>
            <a:ext cx="4605327" cy="477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500" b="1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03. </a:t>
            </a:r>
            <a:r>
              <a:rPr lang="ko-KR" altLang="en-US" sz="2500" b="1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파생변수</a:t>
            </a:r>
            <a:endParaRPr 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86204" y="5280055"/>
            <a:ext cx="3580124" cy="6771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dirty="0">
                <a:solidFill>
                  <a:srgbClr val="3B7DDD"/>
                </a:solidFill>
                <a:latin typeface="NanumSquareRoundOTF Bold" pitchFamily="34" charset="0"/>
                <a:cs typeface="NanumSquareRoundOTF Bold" pitchFamily="34" charset="0"/>
              </a:rPr>
              <a:t>· </a:t>
            </a:r>
            <a:r>
              <a:rPr lang="ko-KR" altLang="en-US" sz="2000" dirty="0">
                <a:solidFill>
                  <a:srgbClr val="3B7DDD"/>
                </a:solidFill>
                <a:latin typeface="NanumSquareRoundOTF Bold" pitchFamily="34" charset="0"/>
                <a:cs typeface="NanumSquareRoundOTF Bold" pitchFamily="34" charset="0"/>
              </a:rPr>
              <a:t>파생변수</a:t>
            </a:r>
            <a:endParaRPr lang="en-US" sz="2000" dirty="0">
              <a:solidFill>
                <a:srgbClr val="3B7DDD"/>
              </a:solidFill>
              <a:latin typeface="NanumSquareRoundOTF Bold" pitchFamily="34" charset="0"/>
              <a:cs typeface="NanumSquareRoundOTF Bold" pitchFamily="34" charset="0"/>
            </a:endParaRPr>
          </a:p>
          <a:p>
            <a:endParaRPr lang="en-US" dirty="0"/>
          </a:p>
        </p:txBody>
      </p:sp>
      <p:sp>
        <p:nvSpPr>
          <p:cNvPr id="16" name="Object 16"/>
          <p:cNvSpPr txBox="1"/>
          <p:nvPr/>
        </p:nvSpPr>
        <p:spPr>
          <a:xfrm>
            <a:off x="1306336" y="7410260"/>
            <a:ext cx="4605327" cy="477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500" b="1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04. Model Selection</a:t>
            </a:r>
            <a:endParaRPr 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18937" y="7930305"/>
            <a:ext cx="3580124" cy="13234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dirty="0">
                <a:solidFill>
                  <a:srgbClr val="3B7DDD"/>
                </a:solidFill>
                <a:latin typeface="NanumSquareRoundOTF Bold" pitchFamily="34" charset="0"/>
                <a:cs typeface="NanumSquareRoundOTF Bold" pitchFamily="34" charset="0"/>
              </a:rPr>
              <a:t>· Regression Model</a:t>
            </a:r>
          </a:p>
          <a:p>
            <a:r>
              <a:rPr lang="en-US" sz="2000" dirty="0">
                <a:solidFill>
                  <a:srgbClr val="3B7DDD"/>
                </a:solidFill>
                <a:latin typeface="NanumSquareRoundOTF Bold" pitchFamily="34" charset="0"/>
                <a:cs typeface="NanumSquareRoundOTF Bold" pitchFamily="34" charset="0"/>
              </a:rPr>
              <a:t>· </a:t>
            </a:r>
            <a:r>
              <a:rPr lang="en-US" altLang="ko-KR" sz="2000" dirty="0" err="1">
                <a:solidFill>
                  <a:srgbClr val="3B7DDD"/>
                </a:solidFill>
                <a:latin typeface="NanumSquareRoundOTF Bold" pitchFamily="34" charset="0"/>
                <a:cs typeface="NanumSquareRoundOTF Bold" pitchFamily="34" charset="0"/>
              </a:rPr>
              <a:t>Pycaret</a:t>
            </a:r>
            <a:endParaRPr lang="en-US" altLang="ko-KR" sz="2000" dirty="0">
              <a:solidFill>
                <a:srgbClr val="3B7DDD"/>
              </a:solidFill>
              <a:latin typeface="NanumSquareRoundOTF Bold" pitchFamily="34" charset="0"/>
              <a:cs typeface="NanumSquareRoundOTF Bold" pitchFamily="34" charset="0"/>
            </a:endParaRPr>
          </a:p>
          <a:p>
            <a:r>
              <a:rPr lang="en-US" altLang="ko-KR" sz="2000" dirty="0">
                <a:solidFill>
                  <a:srgbClr val="3B7DDD"/>
                </a:solidFill>
                <a:latin typeface="NanumSquareRoundOTF Bold" pitchFamily="34" charset="0"/>
                <a:cs typeface="NanumSquareRoundOTF Bold" pitchFamily="34" charset="0"/>
              </a:rPr>
              <a:t>· </a:t>
            </a:r>
            <a:r>
              <a:rPr lang="en-US" altLang="ko-KR" sz="2000" dirty="0" err="1">
                <a:solidFill>
                  <a:srgbClr val="3B7DDD"/>
                </a:solidFill>
                <a:latin typeface="NanumSquareRoundOTF Bold" pitchFamily="34" charset="0"/>
                <a:cs typeface="NanumSquareRoundOTF Bold" pitchFamily="34" charset="0"/>
              </a:rPr>
              <a:t>Model_fit</a:t>
            </a:r>
            <a:endParaRPr lang="en-US" altLang="ko-KR" sz="2000" dirty="0">
              <a:solidFill>
                <a:srgbClr val="3B7DDD"/>
              </a:solidFill>
              <a:latin typeface="NanumSquareRoundOTF Bold" pitchFamily="34" charset="0"/>
              <a:cs typeface="NanumSquareRoundOTF Bold" pitchFamily="34" charset="0"/>
            </a:endParaRPr>
          </a:p>
          <a:p>
            <a:r>
              <a:rPr lang="en-US" altLang="ko-KR" sz="2000" dirty="0">
                <a:solidFill>
                  <a:srgbClr val="3B7DDD"/>
                </a:solidFill>
                <a:latin typeface="NanumSquareRoundOTF Bold" pitchFamily="34" charset="0"/>
                <a:cs typeface="NanumSquareRoundOTF Bold" pitchFamily="34" charset="0"/>
              </a:rPr>
              <a:t>· </a:t>
            </a:r>
            <a:r>
              <a:rPr lang="en-US" altLang="ko-KR" sz="2000" dirty="0">
                <a:solidFill>
                  <a:srgbClr val="3B7DDD"/>
                </a:solidFill>
                <a:latin typeface="NanumSquare ExtraBold" pitchFamily="34" charset="0"/>
              </a:rPr>
              <a:t>Regression Model result</a:t>
            </a:r>
          </a:p>
        </p:txBody>
      </p:sp>
      <p:sp>
        <p:nvSpPr>
          <p:cNvPr id="25" name="Object 6">
            <a:extLst>
              <a:ext uri="{FF2B5EF4-FFF2-40B4-BE49-F238E27FC236}">
                <a16:creationId xmlns:a16="http://schemas.microsoft.com/office/drawing/2014/main" id="{A71F91F2-3EF0-40E8-8840-00C19E8DD4D8}"/>
              </a:ext>
            </a:extLst>
          </p:cNvPr>
          <p:cNvSpPr txBox="1"/>
          <p:nvPr/>
        </p:nvSpPr>
        <p:spPr>
          <a:xfrm>
            <a:off x="6850377" y="7410260"/>
            <a:ext cx="3974657" cy="477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500" b="1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05. </a:t>
            </a:r>
            <a:r>
              <a:rPr lang="ko-KR" altLang="en-US" sz="2500" b="1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결과분석</a:t>
            </a:r>
            <a:r>
              <a:rPr lang="en-US" altLang="ko-KR" sz="2500" b="1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, </a:t>
            </a:r>
            <a:r>
              <a:rPr lang="ko-KR" altLang="en-US" sz="2500" b="1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성과분석</a:t>
            </a:r>
            <a:endParaRPr 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9" name="Object 6">
            <a:extLst>
              <a:ext uri="{FF2B5EF4-FFF2-40B4-BE49-F238E27FC236}">
                <a16:creationId xmlns:a16="http://schemas.microsoft.com/office/drawing/2014/main" id="{0E547B36-0820-423C-BF5E-85643A4699F8}"/>
              </a:ext>
            </a:extLst>
          </p:cNvPr>
          <p:cNvSpPr txBox="1"/>
          <p:nvPr/>
        </p:nvSpPr>
        <p:spPr>
          <a:xfrm>
            <a:off x="12691671" y="7410260"/>
            <a:ext cx="3974657" cy="477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500" b="1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06. </a:t>
            </a:r>
            <a:r>
              <a:rPr lang="ko-KR" altLang="en-US" sz="2500" b="1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결론</a:t>
            </a:r>
            <a:endParaRPr 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0" name="Object 7">
            <a:extLst>
              <a:ext uri="{FF2B5EF4-FFF2-40B4-BE49-F238E27FC236}">
                <a16:creationId xmlns:a16="http://schemas.microsoft.com/office/drawing/2014/main" id="{3B095C6A-066E-4DEA-8714-B97252D289BA}"/>
              </a:ext>
            </a:extLst>
          </p:cNvPr>
          <p:cNvSpPr txBox="1"/>
          <p:nvPr/>
        </p:nvSpPr>
        <p:spPr>
          <a:xfrm>
            <a:off x="12029377" y="8145749"/>
            <a:ext cx="3269153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600" dirty="0">
                <a:solidFill>
                  <a:srgbClr val="3B7DDD"/>
                </a:solidFill>
                <a:latin typeface="NanumSquareRoundOTF Bold" pitchFamily="34" charset="0"/>
                <a:cs typeface="NanumSquareRoundOTF Bold" pitchFamily="34" charset="0"/>
              </a:rPr>
              <a:t>· </a:t>
            </a:r>
            <a:endParaRPr lang="en-US" altLang="ko-KR" sz="1600" dirty="0">
              <a:solidFill>
                <a:srgbClr val="3B7DDD"/>
              </a:solidFill>
              <a:latin typeface="NanumSquareRoundOTF Bold" pitchFamily="34" charset="0"/>
              <a:cs typeface="NanumSquareRoundOTF Bold" pitchFamily="34" charset="0"/>
            </a:endParaRPr>
          </a:p>
        </p:txBody>
      </p:sp>
      <p:sp>
        <p:nvSpPr>
          <p:cNvPr id="4" name="Object 17">
            <a:extLst>
              <a:ext uri="{FF2B5EF4-FFF2-40B4-BE49-F238E27FC236}">
                <a16:creationId xmlns:a16="http://schemas.microsoft.com/office/drawing/2014/main" id="{2443E3E1-D84B-C206-A1D8-58D6A61B0A3A}"/>
              </a:ext>
            </a:extLst>
          </p:cNvPr>
          <p:cNvSpPr txBox="1"/>
          <p:nvPr/>
        </p:nvSpPr>
        <p:spPr>
          <a:xfrm>
            <a:off x="7176140" y="7991860"/>
            <a:ext cx="4330059" cy="1569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dirty="0">
                <a:solidFill>
                  <a:srgbClr val="3B7DDD"/>
                </a:solidFill>
                <a:latin typeface="NanumSquareRoundOTF Bold" pitchFamily="34" charset="0"/>
                <a:cs typeface="NanumSquareRoundOTF Bold" pitchFamily="34" charset="0"/>
              </a:rPr>
              <a:t>· </a:t>
            </a:r>
            <a:r>
              <a:rPr lang="ko-KR" altLang="en-US" sz="2000" dirty="0">
                <a:solidFill>
                  <a:srgbClr val="3B7DDD"/>
                </a:solidFill>
                <a:latin typeface="NanumSquare ExtraBold" pitchFamily="34" charset="0"/>
                <a:cs typeface="NanumSquare ExtraBold" pitchFamily="34" charset="0"/>
              </a:rPr>
              <a:t>성능지표와 피처분석</a:t>
            </a:r>
            <a:endParaRPr lang="en-US" altLang="ko-KR" sz="2000" dirty="0"/>
          </a:p>
          <a:p>
            <a:r>
              <a:rPr lang="en-US" sz="2000" dirty="0">
                <a:solidFill>
                  <a:srgbClr val="3B7DDD"/>
                </a:solidFill>
                <a:latin typeface="NanumSquareRoundOTF Bold" pitchFamily="34" charset="0"/>
                <a:cs typeface="NanumSquareRoundOTF Bold" pitchFamily="34" charset="0"/>
              </a:rPr>
              <a:t>· </a:t>
            </a:r>
            <a:r>
              <a:rPr lang="en-US" altLang="ko-KR" sz="2000" dirty="0">
                <a:solidFill>
                  <a:srgbClr val="3B7DDD"/>
                </a:solidFill>
                <a:latin typeface="NanumSquare ExtraBold" pitchFamily="34" charset="0"/>
                <a:cs typeface="NanumSquare ExtraBold" pitchFamily="34" charset="0"/>
              </a:rPr>
              <a:t>Feature</a:t>
            </a:r>
          </a:p>
          <a:p>
            <a:r>
              <a:rPr lang="en-US" altLang="ko-KR" sz="2000" dirty="0">
                <a:solidFill>
                  <a:srgbClr val="3B7DDD"/>
                </a:solidFill>
                <a:latin typeface="NanumSquareRoundOTF Bold" pitchFamily="34" charset="0"/>
                <a:cs typeface="NanumSquareRoundOTF Bold" pitchFamily="34" charset="0"/>
              </a:rPr>
              <a:t>· </a:t>
            </a:r>
            <a:r>
              <a:rPr lang="en-US" altLang="ko-KR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Credit Score </a:t>
            </a:r>
            <a:r>
              <a:rPr lang="ko-KR" alt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비교</a:t>
            </a:r>
            <a:endParaRPr lang="en-US" altLang="ko-KR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2000" dirty="0">
                <a:solidFill>
                  <a:srgbClr val="3B7DDD"/>
                </a:solidFill>
                <a:latin typeface="NanumSquareRoundOTF Bold" pitchFamily="34" charset="0"/>
                <a:cs typeface="NanumSquareRoundOTF Bold" pitchFamily="34" charset="0"/>
              </a:rPr>
              <a:t>· </a:t>
            </a:r>
            <a:r>
              <a:rPr lang="en-US" altLang="ko-KR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Credit Score </a:t>
            </a:r>
            <a:r>
              <a:rPr lang="ko-KR" alt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비교 </a:t>
            </a:r>
            <a:r>
              <a:rPr lang="en-US" altLang="ko-KR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</a:t>
            </a:r>
            <a:r>
              <a:rPr lang="ko-KR" alt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파생변수 적용 후</a:t>
            </a:r>
            <a:r>
              <a:rPr lang="en-US" altLang="ko-KR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endParaRPr lang="en-US" altLang="ko-KR" sz="2000" dirty="0">
              <a:solidFill>
                <a:srgbClr val="3B7DDD"/>
              </a:solidFill>
              <a:latin typeface="NanumSquareRoundOTF Bold" pitchFamily="34" charset="0"/>
              <a:cs typeface="NanumSquareRoundOTF Bold" pitchFamily="34" charset="0"/>
            </a:endParaRPr>
          </a:p>
          <a:p>
            <a:endParaRPr lang="en-US" altLang="ko-KR" sz="1600" dirty="0">
              <a:solidFill>
                <a:srgbClr val="3B7DDD"/>
              </a:solidFill>
              <a:latin typeface="NanumSquare ExtraBold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00600" y="4229100"/>
            <a:ext cx="7829790" cy="1384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8400" dirty="0">
                <a:solidFill>
                  <a:srgbClr val="3B7DDD"/>
                </a:solidFill>
                <a:latin typeface="NanumSquare ExtraBold" pitchFamily="34" charset="0"/>
              </a:rPr>
              <a:t>01 . </a:t>
            </a:r>
            <a:r>
              <a:rPr lang="ko-KR" altLang="en-US" sz="8400" dirty="0">
                <a:solidFill>
                  <a:srgbClr val="3B7DDD"/>
                </a:solidFill>
                <a:latin typeface="NanumSquare ExtraBold" pitchFamily="34" charset="0"/>
              </a:rPr>
              <a:t>데이터 설명</a:t>
            </a:r>
            <a:endParaRPr lang="en-US" altLang="ko-KR" sz="8400" dirty="0">
              <a:solidFill>
                <a:srgbClr val="3B7DDD"/>
              </a:solidFill>
              <a:latin typeface="NanumSquare ExtraBold" pitchFamily="34" charset="0"/>
            </a:endParaRPr>
          </a:p>
        </p:txBody>
      </p:sp>
      <p:grpSp>
        <p:nvGrpSpPr>
          <p:cNvPr id="11" name="그룹 1001">
            <a:extLst>
              <a:ext uri="{FF2B5EF4-FFF2-40B4-BE49-F238E27FC236}">
                <a16:creationId xmlns:a16="http://schemas.microsoft.com/office/drawing/2014/main" id="{7C5E4EA1-4E27-48DA-987E-53F1854A0E60}"/>
              </a:ext>
            </a:extLst>
          </p:cNvPr>
          <p:cNvGrpSpPr/>
          <p:nvPr/>
        </p:nvGrpSpPr>
        <p:grpSpPr>
          <a:xfrm rot="10800000">
            <a:off x="1066800" y="7734300"/>
            <a:ext cx="16284590" cy="2724340"/>
            <a:chOff x="1000562" y="0"/>
            <a:chExt cx="16284590" cy="2724340"/>
          </a:xfrm>
        </p:grpSpPr>
        <p:pic>
          <p:nvPicPr>
            <p:cNvPr id="14" name="Object 2">
              <a:extLst>
                <a:ext uri="{FF2B5EF4-FFF2-40B4-BE49-F238E27FC236}">
                  <a16:creationId xmlns:a16="http://schemas.microsoft.com/office/drawing/2014/main" id="{0F2299E9-D02F-4BDB-AC16-B7674654B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0562" y="0"/>
              <a:ext cx="16284590" cy="27243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5933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67846" y="9325428"/>
            <a:ext cx="16284590" cy="1025987"/>
            <a:chOff x="867846" y="9325428"/>
            <a:chExt cx="16284590" cy="102598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846" y="9325428"/>
              <a:ext cx="16284590" cy="102598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282810" y="628053"/>
            <a:ext cx="724478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데이터 설명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722" y="540002"/>
            <a:ext cx="91837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01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31981" y="1521994"/>
            <a:ext cx="9119156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500" dirty="0">
                <a:solidFill>
                  <a:srgbClr val="3B7DDD"/>
                </a:solidFill>
                <a:latin typeface="나눔스퀘어 ExtraBold."/>
                <a:cs typeface="NanumSquare ExtraBold" pitchFamily="34" charset="0"/>
              </a:rPr>
              <a:t>Data Description</a:t>
            </a:r>
            <a:endParaRPr lang="en-US" dirty="0">
              <a:latin typeface="나눔스퀘어 ExtraBold."/>
            </a:endParaRPr>
          </a:p>
        </p:txBody>
      </p:sp>
      <p:grpSp>
        <p:nvGrpSpPr>
          <p:cNvPr id="39" name="그룹 1007">
            <a:extLst>
              <a:ext uri="{FF2B5EF4-FFF2-40B4-BE49-F238E27FC236}">
                <a16:creationId xmlns:a16="http://schemas.microsoft.com/office/drawing/2014/main" id="{E49DC11C-7558-48ED-806C-38DB9EF25354}"/>
              </a:ext>
            </a:extLst>
          </p:cNvPr>
          <p:cNvGrpSpPr/>
          <p:nvPr/>
        </p:nvGrpSpPr>
        <p:grpSpPr>
          <a:xfrm>
            <a:off x="613096" y="989975"/>
            <a:ext cx="4797104" cy="126239"/>
            <a:chOff x="5759157" y="6303999"/>
            <a:chExt cx="821477" cy="95238"/>
          </a:xfrm>
        </p:grpSpPr>
        <p:pic>
          <p:nvPicPr>
            <p:cNvPr id="40" name="Object 25">
              <a:extLst>
                <a:ext uri="{FF2B5EF4-FFF2-40B4-BE49-F238E27FC236}">
                  <a16:creationId xmlns:a16="http://schemas.microsoft.com/office/drawing/2014/main" id="{59369F90-2EF6-4BD2-884D-1DA4D719C9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9157" y="6303999"/>
              <a:ext cx="821477" cy="95238"/>
            </a:xfrm>
            <a:prstGeom prst="rect">
              <a:avLst/>
            </a:prstGeom>
          </p:spPr>
        </p:pic>
      </p:grpSp>
      <p:pic>
        <p:nvPicPr>
          <p:cNvPr id="46" name="그림 45">
            <a:extLst>
              <a:ext uri="{FF2B5EF4-FFF2-40B4-BE49-F238E27FC236}">
                <a16:creationId xmlns:a16="http://schemas.microsoft.com/office/drawing/2014/main" id="{E6D81291-22ED-48DC-AFDE-0275A4A3C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99" y="2476500"/>
            <a:ext cx="17642733" cy="2286000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0A3118AC-1A79-4DF6-A45F-1364D50AD8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0093" y="5192961"/>
            <a:ext cx="6028475" cy="4186738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EA231FE0-2DDD-484E-9BF1-444D316088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1939" y="5236784"/>
            <a:ext cx="7749040" cy="41429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67846" y="9325428"/>
            <a:ext cx="16284590" cy="1025987"/>
            <a:chOff x="867846" y="9325428"/>
            <a:chExt cx="16284590" cy="102598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846" y="9325428"/>
              <a:ext cx="16284590" cy="102598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282810" y="628053"/>
            <a:ext cx="724478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데이터 설명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722" y="540002"/>
            <a:ext cx="91837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01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12785" y="1499833"/>
            <a:ext cx="2173219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500" dirty="0">
                <a:solidFill>
                  <a:srgbClr val="3B7DDD"/>
                </a:solidFill>
                <a:latin typeface="나눔스퀘어 ExtraBold."/>
                <a:cs typeface="NanumSquare ExtraBold" pitchFamily="34" charset="0"/>
              </a:rPr>
              <a:t>Term</a:t>
            </a:r>
            <a:endParaRPr lang="en-US" dirty="0">
              <a:latin typeface="나눔스퀘어 ExtraBold."/>
            </a:endParaRPr>
          </a:p>
        </p:txBody>
      </p:sp>
      <p:grpSp>
        <p:nvGrpSpPr>
          <p:cNvPr id="39" name="그룹 1007">
            <a:extLst>
              <a:ext uri="{FF2B5EF4-FFF2-40B4-BE49-F238E27FC236}">
                <a16:creationId xmlns:a16="http://schemas.microsoft.com/office/drawing/2014/main" id="{E49DC11C-7558-48ED-806C-38DB9EF25354}"/>
              </a:ext>
            </a:extLst>
          </p:cNvPr>
          <p:cNvGrpSpPr/>
          <p:nvPr/>
        </p:nvGrpSpPr>
        <p:grpSpPr>
          <a:xfrm>
            <a:off x="613096" y="989975"/>
            <a:ext cx="4797104" cy="126239"/>
            <a:chOff x="5759157" y="6303999"/>
            <a:chExt cx="821477" cy="95238"/>
          </a:xfrm>
        </p:grpSpPr>
        <p:pic>
          <p:nvPicPr>
            <p:cNvPr id="40" name="Object 25">
              <a:extLst>
                <a:ext uri="{FF2B5EF4-FFF2-40B4-BE49-F238E27FC236}">
                  <a16:creationId xmlns:a16="http://schemas.microsoft.com/office/drawing/2014/main" id="{59369F90-2EF6-4BD2-884D-1DA4D719C9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9157" y="6303999"/>
              <a:ext cx="821477" cy="95238"/>
            </a:xfrm>
            <a:prstGeom prst="rect">
              <a:avLst/>
            </a:prstGeom>
          </p:spPr>
        </p:pic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7361CB02-2D3A-4C04-AC6B-BB3A97775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468223"/>
            <a:ext cx="7086600" cy="2446677"/>
          </a:xfrm>
          <a:prstGeom prst="rect">
            <a:avLst/>
          </a:prstGeom>
        </p:spPr>
      </p:pic>
      <p:sp>
        <p:nvSpPr>
          <p:cNvPr id="15" name="Object 17">
            <a:extLst>
              <a:ext uri="{FF2B5EF4-FFF2-40B4-BE49-F238E27FC236}">
                <a16:creationId xmlns:a16="http://schemas.microsoft.com/office/drawing/2014/main" id="{EDDF381F-C695-41D1-B3BD-ECD582BC9A17}"/>
              </a:ext>
            </a:extLst>
          </p:cNvPr>
          <p:cNvSpPr txBox="1"/>
          <p:nvPr/>
        </p:nvSpPr>
        <p:spPr>
          <a:xfrm>
            <a:off x="9829800" y="1499833"/>
            <a:ext cx="6282891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4500" dirty="0">
                <a:solidFill>
                  <a:srgbClr val="3B7DDD"/>
                </a:solidFill>
                <a:latin typeface="나눔스퀘어 ExtraBold."/>
              </a:rPr>
              <a:t>Years in current job</a:t>
            </a:r>
            <a:endParaRPr lang="en-US" dirty="0">
              <a:latin typeface="나눔스퀘어 ExtraBold.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0B58CC0-3F08-4369-86C1-C1A60CC44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7593" y="2431827"/>
            <a:ext cx="7698904" cy="2744968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205A73DD-3961-4DAC-BBCF-DB05234DCF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5201" y="6064344"/>
            <a:ext cx="6802328" cy="4110267"/>
          </a:xfrm>
          <a:prstGeom prst="rect">
            <a:avLst/>
          </a:prstGeom>
        </p:spPr>
      </p:pic>
      <p:sp>
        <p:nvSpPr>
          <p:cNvPr id="29" name="Object 17">
            <a:extLst>
              <a:ext uri="{FF2B5EF4-FFF2-40B4-BE49-F238E27FC236}">
                <a16:creationId xmlns:a16="http://schemas.microsoft.com/office/drawing/2014/main" id="{FCFA8D13-D360-43C2-94F7-6E945D986819}"/>
              </a:ext>
            </a:extLst>
          </p:cNvPr>
          <p:cNvSpPr txBox="1"/>
          <p:nvPr/>
        </p:nvSpPr>
        <p:spPr>
          <a:xfrm>
            <a:off x="7163212" y="5153332"/>
            <a:ext cx="2728762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4500" dirty="0">
                <a:solidFill>
                  <a:srgbClr val="3B7DDD"/>
                </a:solidFill>
                <a:latin typeface="나눔스퀘어 ExtraBold."/>
              </a:rPr>
              <a:t>Purpose</a:t>
            </a:r>
            <a:endParaRPr lang="en-US" dirty="0">
              <a:latin typeface="나눔스퀘어 ExtraBold."/>
            </a:endParaRPr>
          </a:p>
        </p:txBody>
      </p:sp>
    </p:spTree>
    <p:extLst>
      <p:ext uri="{BB962C8B-B14F-4D97-AF65-F5344CB8AC3E}">
        <p14:creationId xmlns:p14="http://schemas.microsoft.com/office/powerpoint/2010/main" val="2035874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7">
            <a:extLst>
              <a:ext uri="{FF2B5EF4-FFF2-40B4-BE49-F238E27FC236}">
                <a16:creationId xmlns:a16="http://schemas.microsoft.com/office/drawing/2014/main" id="{A9CC543A-4FB1-4BAD-807E-5CCB999A87AD}"/>
              </a:ext>
            </a:extLst>
          </p:cNvPr>
          <p:cNvSpPr txBox="1"/>
          <p:nvPr/>
        </p:nvSpPr>
        <p:spPr>
          <a:xfrm>
            <a:off x="2438400" y="1790700"/>
            <a:ext cx="6364219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500" dirty="0">
                <a:solidFill>
                  <a:srgbClr val="3B7DDD"/>
                </a:solidFill>
                <a:latin typeface="나눔스퀘어 ExtraBold."/>
                <a:cs typeface="NanumSquare ExtraBold" pitchFamily="34" charset="0"/>
              </a:rPr>
              <a:t>Home Ownership</a:t>
            </a:r>
            <a:endParaRPr lang="en-US" dirty="0">
              <a:latin typeface="나눔스퀘어 ExtraBold.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1BE994D-3654-400E-817B-370F434836C7}"/>
              </a:ext>
            </a:extLst>
          </p:cNvPr>
          <p:cNvGrpSpPr/>
          <p:nvPr/>
        </p:nvGrpSpPr>
        <p:grpSpPr>
          <a:xfrm>
            <a:off x="1676400" y="2801079"/>
            <a:ext cx="6760760" cy="5410200"/>
            <a:chOff x="2466975" y="503401"/>
            <a:chExt cx="7629525" cy="585119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5DA4A14-8F64-4E8F-86E6-75C145C011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37578"/>
            <a:stretch/>
          </p:blipFill>
          <p:spPr>
            <a:xfrm>
              <a:off x="2466975" y="503401"/>
              <a:ext cx="7610475" cy="585119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D9E9E4-59E9-4D12-8834-FAA370418437}"/>
                </a:ext>
              </a:extLst>
            </p:cNvPr>
            <p:cNvSpPr txBox="1"/>
            <p:nvPr/>
          </p:nvSpPr>
          <p:spPr>
            <a:xfrm>
              <a:off x="4000500" y="503401"/>
              <a:ext cx="20121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Home Ownership</a:t>
              </a:r>
              <a:endParaRPr lang="ko-KR" altLang="en-US" dirty="0"/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CB15C1F-2724-4BF4-B4A9-96190AC42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39000" y="872733"/>
              <a:ext cx="2857500" cy="2181225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1FF4C50E-E66B-4A72-95E0-7B9DB2EEF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8120" y="2650331"/>
            <a:ext cx="6760760" cy="5560947"/>
          </a:xfrm>
          <a:prstGeom prst="rect">
            <a:avLst/>
          </a:prstGeom>
        </p:spPr>
      </p:pic>
      <p:sp>
        <p:nvSpPr>
          <p:cNvPr id="10" name="Object 17">
            <a:extLst>
              <a:ext uri="{FF2B5EF4-FFF2-40B4-BE49-F238E27FC236}">
                <a16:creationId xmlns:a16="http://schemas.microsoft.com/office/drawing/2014/main" id="{0CC1FD60-99E8-45FD-A394-73A074D8C3D5}"/>
              </a:ext>
            </a:extLst>
          </p:cNvPr>
          <p:cNvSpPr txBox="1"/>
          <p:nvPr/>
        </p:nvSpPr>
        <p:spPr>
          <a:xfrm>
            <a:off x="10442402" y="1764890"/>
            <a:ext cx="4595047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500" dirty="0">
                <a:solidFill>
                  <a:srgbClr val="3B7DDD"/>
                </a:solidFill>
                <a:latin typeface="나눔스퀘어 ExtraBold."/>
                <a:cs typeface="NanumSquare ExtraBold" pitchFamily="34" charset="0"/>
              </a:rPr>
              <a:t>Loan Status</a:t>
            </a:r>
            <a:endParaRPr lang="en-US" dirty="0">
              <a:latin typeface="나눔스퀘어 ExtraBold.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7498F630-F6D8-46E6-A5BF-73F512DCA98B}"/>
              </a:ext>
            </a:extLst>
          </p:cNvPr>
          <p:cNvSpPr txBox="1"/>
          <p:nvPr/>
        </p:nvSpPr>
        <p:spPr>
          <a:xfrm>
            <a:off x="561722" y="540002"/>
            <a:ext cx="91837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01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grpSp>
        <p:nvGrpSpPr>
          <p:cNvPr id="12" name="그룹 1007">
            <a:extLst>
              <a:ext uri="{FF2B5EF4-FFF2-40B4-BE49-F238E27FC236}">
                <a16:creationId xmlns:a16="http://schemas.microsoft.com/office/drawing/2014/main" id="{829E6A15-E3F9-4066-B152-ACAE57023EFA}"/>
              </a:ext>
            </a:extLst>
          </p:cNvPr>
          <p:cNvGrpSpPr/>
          <p:nvPr/>
        </p:nvGrpSpPr>
        <p:grpSpPr>
          <a:xfrm>
            <a:off x="613096" y="989975"/>
            <a:ext cx="4797104" cy="126239"/>
            <a:chOff x="5759157" y="6303999"/>
            <a:chExt cx="821477" cy="95238"/>
          </a:xfrm>
        </p:grpSpPr>
        <p:pic>
          <p:nvPicPr>
            <p:cNvPr id="13" name="Object 25">
              <a:extLst>
                <a:ext uri="{FF2B5EF4-FFF2-40B4-BE49-F238E27FC236}">
                  <a16:creationId xmlns:a16="http://schemas.microsoft.com/office/drawing/2014/main" id="{ECE3B36A-F71A-4D43-B0C7-FA3F8211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59157" y="6303999"/>
              <a:ext cx="821477" cy="95238"/>
            </a:xfrm>
            <a:prstGeom prst="rect">
              <a:avLst/>
            </a:prstGeom>
          </p:spPr>
        </p:pic>
      </p:grpSp>
      <p:sp>
        <p:nvSpPr>
          <p:cNvPr id="17" name="Object 9">
            <a:extLst>
              <a:ext uri="{FF2B5EF4-FFF2-40B4-BE49-F238E27FC236}">
                <a16:creationId xmlns:a16="http://schemas.microsoft.com/office/drawing/2014/main" id="{FD328397-E8E8-45AA-87C7-6C0F65770CA1}"/>
              </a:ext>
            </a:extLst>
          </p:cNvPr>
          <p:cNvSpPr txBox="1"/>
          <p:nvPr/>
        </p:nvSpPr>
        <p:spPr>
          <a:xfrm>
            <a:off x="1282810" y="628053"/>
            <a:ext cx="724478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데이터 설명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831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67846" y="9325428"/>
            <a:ext cx="16284590" cy="1025987"/>
            <a:chOff x="867846" y="9325428"/>
            <a:chExt cx="16284590" cy="102598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846" y="9325428"/>
              <a:ext cx="16284590" cy="102598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282810" y="628053"/>
            <a:ext cx="724478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데이터 설명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722" y="540002"/>
            <a:ext cx="91837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01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82810" y="1421886"/>
            <a:ext cx="9119156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500" dirty="0">
                <a:solidFill>
                  <a:srgbClr val="3B7DDD"/>
                </a:solidFill>
                <a:latin typeface="나눔스퀘어 ExtraBold."/>
                <a:cs typeface="NanumSquare ExtraBold" pitchFamily="34" charset="0"/>
              </a:rPr>
              <a:t>Correlation</a:t>
            </a:r>
            <a:endParaRPr lang="en-US" dirty="0">
              <a:latin typeface="나눔스퀘어 ExtraBold."/>
            </a:endParaRPr>
          </a:p>
        </p:txBody>
      </p:sp>
      <p:grpSp>
        <p:nvGrpSpPr>
          <p:cNvPr id="39" name="그룹 1007">
            <a:extLst>
              <a:ext uri="{FF2B5EF4-FFF2-40B4-BE49-F238E27FC236}">
                <a16:creationId xmlns:a16="http://schemas.microsoft.com/office/drawing/2014/main" id="{E49DC11C-7558-48ED-806C-38DB9EF25354}"/>
              </a:ext>
            </a:extLst>
          </p:cNvPr>
          <p:cNvGrpSpPr/>
          <p:nvPr/>
        </p:nvGrpSpPr>
        <p:grpSpPr>
          <a:xfrm>
            <a:off x="613096" y="989975"/>
            <a:ext cx="4797104" cy="126239"/>
            <a:chOff x="5759157" y="6303999"/>
            <a:chExt cx="821477" cy="95238"/>
          </a:xfrm>
        </p:grpSpPr>
        <p:pic>
          <p:nvPicPr>
            <p:cNvPr id="40" name="Object 25">
              <a:extLst>
                <a:ext uri="{FF2B5EF4-FFF2-40B4-BE49-F238E27FC236}">
                  <a16:creationId xmlns:a16="http://schemas.microsoft.com/office/drawing/2014/main" id="{59369F90-2EF6-4BD2-884D-1DA4D719C9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9157" y="6303999"/>
              <a:ext cx="821477" cy="95238"/>
            </a:xfrm>
            <a:prstGeom prst="rect">
              <a:avLst/>
            </a:prstGeom>
          </p:spPr>
        </p:pic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F1DB5783-208B-403A-A419-45E17744F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306824"/>
            <a:ext cx="9045474" cy="763881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23CF734-A4DF-FC92-4727-FBA420685D32}"/>
              </a:ext>
            </a:extLst>
          </p:cNvPr>
          <p:cNvSpPr/>
          <p:nvPr/>
        </p:nvSpPr>
        <p:spPr>
          <a:xfrm>
            <a:off x="9296400" y="7810500"/>
            <a:ext cx="1295400" cy="34567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0B8DC7F-B256-5101-446F-6BC6D3B5F038}"/>
              </a:ext>
            </a:extLst>
          </p:cNvPr>
          <p:cNvSpPr/>
          <p:nvPr/>
        </p:nvSpPr>
        <p:spPr>
          <a:xfrm>
            <a:off x="9220200" y="6972300"/>
            <a:ext cx="1447800" cy="34567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E4F6BCB-44A8-AEAA-F253-4336B2B70537}"/>
              </a:ext>
            </a:extLst>
          </p:cNvPr>
          <p:cNvSpPr/>
          <p:nvPr/>
        </p:nvSpPr>
        <p:spPr>
          <a:xfrm>
            <a:off x="9220200" y="4939449"/>
            <a:ext cx="1447800" cy="34567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C9EF445-BE6C-EF89-D998-8869CD6B5BE6}"/>
              </a:ext>
            </a:extLst>
          </p:cNvPr>
          <p:cNvSpPr/>
          <p:nvPr/>
        </p:nvSpPr>
        <p:spPr>
          <a:xfrm>
            <a:off x="7315200" y="8587336"/>
            <a:ext cx="457200" cy="125924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478A0B9-285C-95E1-9A0E-72A4E809D392}"/>
              </a:ext>
            </a:extLst>
          </p:cNvPr>
          <p:cNvSpPr/>
          <p:nvPr/>
        </p:nvSpPr>
        <p:spPr>
          <a:xfrm>
            <a:off x="8276154" y="8587336"/>
            <a:ext cx="457200" cy="125924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E6E1201-1F86-EC11-8491-31D588C3054D}"/>
              </a:ext>
            </a:extLst>
          </p:cNvPr>
          <p:cNvSpPr/>
          <p:nvPr/>
        </p:nvSpPr>
        <p:spPr>
          <a:xfrm>
            <a:off x="4905201" y="8587336"/>
            <a:ext cx="457200" cy="125924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30E64F3-B4DC-2A32-4398-D94D76C76B6F}"/>
              </a:ext>
            </a:extLst>
          </p:cNvPr>
          <p:cNvSpPr/>
          <p:nvPr/>
        </p:nvSpPr>
        <p:spPr>
          <a:xfrm>
            <a:off x="4905201" y="7810500"/>
            <a:ext cx="457199" cy="37105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0C18793-1F5D-85EA-EDB3-D5B5FDEFB0CB}"/>
              </a:ext>
            </a:extLst>
          </p:cNvPr>
          <p:cNvSpPr/>
          <p:nvPr/>
        </p:nvSpPr>
        <p:spPr>
          <a:xfrm>
            <a:off x="7315200" y="7810500"/>
            <a:ext cx="482599" cy="37105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87D4918-F719-B280-C16F-0C486FEFF868}"/>
              </a:ext>
            </a:extLst>
          </p:cNvPr>
          <p:cNvSpPr/>
          <p:nvPr/>
        </p:nvSpPr>
        <p:spPr>
          <a:xfrm>
            <a:off x="4879801" y="6946920"/>
            <a:ext cx="482599" cy="43178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A5A3BE-1462-B88F-942B-0DB5D1BB97ED}"/>
              </a:ext>
            </a:extLst>
          </p:cNvPr>
          <p:cNvSpPr/>
          <p:nvPr/>
        </p:nvSpPr>
        <p:spPr>
          <a:xfrm>
            <a:off x="7315200" y="4874860"/>
            <a:ext cx="482599" cy="43178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4046A46-FE68-B33C-5967-A1038617D9A1}"/>
              </a:ext>
            </a:extLst>
          </p:cNvPr>
          <p:cNvSpPr/>
          <p:nvPr/>
        </p:nvSpPr>
        <p:spPr>
          <a:xfrm>
            <a:off x="8294618" y="4874860"/>
            <a:ext cx="482599" cy="43178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867EF5A-9150-8FC3-0FAF-67979324C793}"/>
              </a:ext>
            </a:extLst>
          </p:cNvPr>
          <p:cNvSpPr/>
          <p:nvPr/>
        </p:nvSpPr>
        <p:spPr>
          <a:xfrm>
            <a:off x="8294618" y="6946919"/>
            <a:ext cx="482599" cy="43178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Object 18">
            <a:extLst>
              <a:ext uri="{FF2B5EF4-FFF2-40B4-BE49-F238E27FC236}">
                <a16:creationId xmlns:a16="http://schemas.microsoft.com/office/drawing/2014/main" id="{3187E27C-403F-9A44-4205-0E7E312B48F6}"/>
              </a:ext>
            </a:extLst>
          </p:cNvPr>
          <p:cNvSpPr txBox="1"/>
          <p:nvPr/>
        </p:nvSpPr>
        <p:spPr>
          <a:xfrm>
            <a:off x="11125200" y="2552700"/>
            <a:ext cx="7017321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dirty="0">
                <a:latin typeface="NotoSansKR"/>
              </a:rPr>
              <a:t>상관 있어 보이는 </a:t>
            </a:r>
            <a:r>
              <a:rPr lang="ko-KR" altLang="en-US" b="0" i="0" dirty="0">
                <a:solidFill>
                  <a:srgbClr val="FF0000"/>
                </a:solidFill>
                <a:effectLst/>
                <a:latin typeface="NotoSansKR"/>
              </a:rPr>
              <a:t>세 변수</a:t>
            </a:r>
            <a:r>
              <a:rPr lang="ko-KR" altLang="en-US" b="0" i="0" dirty="0">
                <a:effectLst/>
                <a:latin typeface="NotoSansKR"/>
              </a:rPr>
              <a:t>가 완전 </a:t>
            </a:r>
            <a:r>
              <a:rPr lang="ko-KR" altLang="en-US" b="0" i="0" dirty="0">
                <a:solidFill>
                  <a:srgbClr val="FF0000"/>
                </a:solidFill>
                <a:effectLst/>
                <a:latin typeface="NotoSansKR"/>
              </a:rPr>
              <a:t>독립</a:t>
            </a:r>
            <a:endParaRPr lang="en-US" altLang="ko-KR" b="0" i="0" dirty="0">
              <a:solidFill>
                <a:srgbClr val="FF0000"/>
              </a:solidFill>
              <a:effectLst/>
              <a:latin typeface="NotoSansKR"/>
            </a:endParaRPr>
          </a:p>
          <a:p>
            <a:r>
              <a:rPr lang="en-US" altLang="ko-KR" b="0" i="0" dirty="0">
                <a:effectLst/>
                <a:latin typeface="NotoSansKR"/>
              </a:rPr>
              <a:t>(Current Loan Amount, Current Credit Balance, Maximum Open Credit)</a:t>
            </a:r>
          </a:p>
          <a:p>
            <a:endParaRPr lang="en-US" altLang="ko-KR" dirty="0">
              <a:latin typeface="NotoSansKR"/>
            </a:endParaRPr>
          </a:p>
          <a:p>
            <a:r>
              <a:rPr lang="ko-KR" altLang="en-US" dirty="0">
                <a:latin typeface="NotoSansKR"/>
              </a:rPr>
              <a:t>대부분</a:t>
            </a:r>
            <a:r>
              <a:rPr lang="ko-KR" altLang="en-US" b="0" i="0" dirty="0">
                <a:effectLst/>
                <a:latin typeface="NotoSansKR"/>
              </a:rPr>
              <a:t> 상관관계가 없는 변수들</a:t>
            </a:r>
            <a:endParaRPr lang="en-US" altLang="ko-KR" b="0" i="0" dirty="0">
              <a:effectLst/>
              <a:latin typeface="NotoSansKR"/>
            </a:endParaRPr>
          </a:p>
        </p:txBody>
      </p:sp>
    </p:spTree>
    <p:extLst>
      <p:ext uri="{BB962C8B-B14F-4D97-AF65-F5344CB8AC3E}">
        <p14:creationId xmlns:p14="http://schemas.microsoft.com/office/powerpoint/2010/main" val="3192407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00600" y="4229100"/>
            <a:ext cx="9601200" cy="1384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8400" dirty="0">
                <a:solidFill>
                  <a:srgbClr val="3B7DDD"/>
                </a:solidFill>
                <a:latin typeface="NanumSquare ExtraBold" pitchFamily="34" charset="0"/>
              </a:rPr>
              <a:t>02 . </a:t>
            </a:r>
            <a:r>
              <a:rPr lang="ko-KR" altLang="en-US" sz="8400" dirty="0">
                <a:solidFill>
                  <a:srgbClr val="3B7DDD"/>
                </a:solidFill>
                <a:latin typeface="NanumSquare ExtraBold" pitchFamily="34" charset="0"/>
              </a:rPr>
              <a:t>데이터 </a:t>
            </a:r>
            <a:r>
              <a:rPr lang="ko-KR" altLang="en-US" sz="8400" dirty="0" err="1">
                <a:solidFill>
                  <a:srgbClr val="3B7DDD"/>
                </a:solidFill>
                <a:latin typeface="NanumSquare ExtraBold" pitchFamily="34" charset="0"/>
              </a:rPr>
              <a:t>전처리</a:t>
            </a:r>
            <a:endParaRPr lang="en-US" altLang="ko-KR" sz="8400" dirty="0">
              <a:solidFill>
                <a:srgbClr val="3B7DDD"/>
              </a:solidFill>
              <a:latin typeface="NanumSquare ExtraBold" pitchFamily="34" charset="0"/>
            </a:endParaRPr>
          </a:p>
        </p:txBody>
      </p:sp>
      <p:grpSp>
        <p:nvGrpSpPr>
          <p:cNvPr id="11" name="그룹 1001">
            <a:extLst>
              <a:ext uri="{FF2B5EF4-FFF2-40B4-BE49-F238E27FC236}">
                <a16:creationId xmlns:a16="http://schemas.microsoft.com/office/drawing/2014/main" id="{7C5E4EA1-4E27-48DA-987E-53F1854A0E60}"/>
              </a:ext>
            </a:extLst>
          </p:cNvPr>
          <p:cNvGrpSpPr/>
          <p:nvPr/>
        </p:nvGrpSpPr>
        <p:grpSpPr>
          <a:xfrm rot="10800000">
            <a:off x="1066800" y="7734300"/>
            <a:ext cx="16284590" cy="2724340"/>
            <a:chOff x="1000562" y="0"/>
            <a:chExt cx="16284590" cy="2724340"/>
          </a:xfrm>
        </p:grpSpPr>
        <p:pic>
          <p:nvPicPr>
            <p:cNvPr id="14" name="Object 2">
              <a:extLst>
                <a:ext uri="{FF2B5EF4-FFF2-40B4-BE49-F238E27FC236}">
                  <a16:creationId xmlns:a16="http://schemas.microsoft.com/office/drawing/2014/main" id="{0F2299E9-D02F-4BDB-AC16-B7674654B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0562" y="0"/>
              <a:ext cx="16284590" cy="27243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6519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67846" y="9325428"/>
            <a:ext cx="16284590" cy="1025987"/>
            <a:chOff x="867846" y="9325428"/>
            <a:chExt cx="16284590" cy="102598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846" y="9325428"/>
              <a:ext cx="16284590" cy="102598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282810" y="628053"/>
            <a:ext cx="724478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데이터 </a:t>
            </a:r>
            <a:r>
              <a:rPr lang="ko-KR" altLang="en-US" sz="2000" dirty="0" err="1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전처리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722" y="540002"/>
            <a:ext cx="91837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02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31981" y="1521994"/>
            <a:ext cx="9119156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500" dirty="0">
                <a:solidFill>
                  <a:srgbClr val="3B7DDD"/>
                </a:solidFill>
                <a:latin typeface="NanumSquare ExtraBold" pitchFamily="34" charset="0"/>
                <a:cs typeface="NanumSquare ExtraBold" pitchFamily="34" charset="0"/>
              </a:rPr>
              <a:t>Data Preprocessing </a:t>
            </a:r>
            <a:endParaRPr lang="en-US" altLang="ko-KR" sz="4800" dirty="0"/>
          </a:p>
        </p:txBody>
      </p:sp>
      <p:grpSp>
        <p:nvGrpSpPr>
          <p:cNvPr id="11" name="그룹 1007">
            <a:extLst>
              <a:ext uri="{FF2B5EF4-FFF2-40B4-BE49-F238E27FC236}">
                <a16:creationId xmlns:a16="http://schemas.microsoft.com/office/drawing/2014/main" id="{EF8878B3-CF28-42E9-A2BC-5A22D8FDC21E}"/>
              </a:ext>
            </a:extLst>
          </p:cNvPr>
          <p:cNvGrpSpPr/>
          <p:nvPr/>
        </p:nvGrpSpPr>
        <p:grpSpPr>
          <a:xfrm>
            <a:off x="613096" y="989975"/>
            <a:ext cx="4797104" cy="126239"/>
            <a:chOff x="5759157" y="6303999"/>
            <a:chExt cx="821477" cy="95238"/>
          </a:xfrm>
        </p:grpSpPr>
        <p:pic>
          <p:nvPicPr>
            <p:cNvPr id="12" name="Object 25">
              <a:extLst>
                <a:ext uri="{FF2B5EF4-FFF2-40B4-BE49-F238E27FC236}">
                  <a16:creationId xmlns:a16="http://schemas.microsoft.com/office/drawing/2014/main" id="{D414F645-1007-4893-8B6C-008F9331B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9157" y="6303999"/>
              <a:ext cx="821477" cy="95238"/>
            </a:xfrm>
            <a:prstGeom prst="rect">
              <a:avLst/>
            </a:prstGeom>
          </p:spPr>
        </p:pic>
      </p:grpSp>
      <p:sp>
        <p:nvSpPr>
          <p:cNvPr id="6" name="Object 18">
            <a:extLst>
              <a:ext uri="{FF2B5EF4-FFF2-40B4-BE49-F238E27FC236}">
                <a16:creationId xmlns:a16="http://schemas.microsoft.com/office/drawing/2014/main" id="{7821B1FF-EEAC-FDE1-82A2-B3285BE2F1B2}"/>
              </a:ext>
            </a:extLst>
          </p:cNvPr>
          <p:cNvSpPr txBox="1"/>
          <p:nvPr/>
        </p:nvSpPr>
        <p:spPr>
          <a:xfrm>
            <a:off x="2240107" y="2705100"/>
            <a:ext cx="3017693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3200" dirty="0">
                <a:latin typeface="NotoSansKR"/>
              </a:rPr>
              <a:t>NAN</a:t>
            </a:r>
            <a:r>
              <a:rPr lang="ko-KR" altLang="en-US" sz="3200" dirty="0">
                <a:latin typeface="NotoSansKR"/>
              </a:rPr>
              <a:t> 값 분포</a:t>
            </a:r>
            <a:endParaRPr lang="en-US" altLang="ko-KR" sz="3200" dirty="0">
              <a:latin typeface="NotoSansKR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4DC0B51-2B51-8D27-52E4-68B0F00B4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1" y="3980483"/>
            <a:ext cx="6504671" cy="181477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E7D52D7-77B7-4F42-9DF6-5756648C2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2712604"/>
            <a:ext cx="10972800" cy="724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871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67846" y="9325428"/>
            <a:ext cx="16284590" cy="1025987"/>
            <a:chOff x="867846" y="9325428"/>
            <a:chExt cx="16284590" cy="102598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846" y="9325428"/>
              <a:ext cx="16284590" cy="102598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282810" y="628053"/>
            <a:ext cx="724478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데이터 </a:t>
            </a:r>
            <a:r>
              <a:rPr lang="ko-KR" altLang="en-US" sz="2000" dirty="0" err="1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전처리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722" y="540002"/>
            <a:ext cx="91837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02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31981" y="1521994"/>
            <a:ext cx="9119156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500" dirty="0">
                <a:solidFill>
                  <a:srgbClr val="3B7DDD"/>
                </a:solidFill>
                <a:latin typeface="NanumSquare ExtraBold" pitchFamily="34" charset="0"/>
                <a:cs typeface="NanumSquare ExtraBold" pitchFamily="34" charset="0"/>
              </a:rPr>
              <a:t>Data Preprocessing </a:t>
            </a:r>
            <a:endParaRPr lang="en-US" altLang="ko-KR" sz="4800" dirty="0"/>
          </a:p>
        </p:txBody>
      </p:sp>
      <p:grpSp>
        <p:nvGrpSpPr>
          <p:cNvPr id="11" name="그룹 1007">
            <a:extLst>
              <a:ext uri="{FF2B5EF4-FFF2-40B4-BE49-F238E27FC236}">
                <a16:creationId xmlns:a16="http://schemas.microsoft.com/office/drawing/2014/main" id="{EF8878B3-CF28-42E9-A2BC-5A22D8FDC21E}"/>
              </a:ext>
            </a:extLst>
          </p:cNvPr>
          <p:cNvGrpSpPr/>
          <p:nvPr/>
        </p:nvGrpSpPr>
        <p:grpSpPr>
          <a:xfrm>
            <a:off x="613096" y="989975"/>
            <a:ext cx="4797104" cy="126239"/>
            <a:chOff x="5759157" y="6303999"/>
            <a:chExt cx="821477" cy="95238"/>
          </a:xfrm>
        </p:grpSpPr>
        <p:pic>
          <p:nvPicPr>
            <p:cNvPr id="12" name="Object 25">
              <a:extLst>
                <a:ext uri="{FF2B5EF4-FFF2-40B4-BE49-F238E27FC236}">
                  <a16:creationId xmlns:a16="http://schemas.microsoft.com/office/drawing/2014/main" id="{D414F645-1007-4893-8B6C-008F9331B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9157" y="6303999"/>
              <a:ext cx="821477" cy="95238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76F8D9F3-C9D5-3A32-11C4-EB0BED947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6252535"/>
            <a:ext cx="10848071" cy="2594104"/>
          </a:xfrm>
          <a:prstGeom prst="rect">
            <a:avLst/>
          </a:prstGeom>
        </p:spPr>
      </p:pic>
      <p:sp>
        <p:nvSpPr>
          <p:cNvPr id="6" name="Object 18">
            <a:extLst>
              <a:ext uri="{FF2B5EF4-FFF2-40B4-BE49-F238E27FC236}">
                <a16:creationId xmlns:a16="http://schemas.microsoft.com/office/drawing/2014/main" id="{7821B1FF-EEAC-FDE1-82A2-B3285BE2F1B2}"/>
              </a:ext>
            </a:extLst>
          </p:cNvPr>
          <p:cNvSpPr txBox="1"/>
          <p:nvPr/>
        </p:nvSpPr>
        <p:spPr>
          <a:xfrm>
            <a:off x="1847648" y="5164020"/>
            <a:ext cx="2408093" cy="36009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3200" dirty="0">
                <a:latin typeface="NotoSansKR"/>
              </a:rPr>
              <a:t>NAN</a:t>
            </a:r>
            <a:r>
              <a:rPr lang="ko-KR" altLang="en-US" sz="3200" dirty="0">
                <a:latin typeface="NotoSansKR"/>
              </a:rPr>
              <a:t> 처리</a:t>
            </a:r>
            <a:endParaRPr lang="en-US" altLang="ko-KR" sz="3200" dirty="0">
              <a:latin typeface="NotoSansKR"/>
            </a:endParaRPr>
          </a:p>
          <a:p>
            <a:endParaRPr lang="en-US" altLang="ko-KR" sz="2200" dirty="0">
              <a:latin typeface="NotoSansKR"/>
            </a:endParaRPr>
          </a:p>
          <a:p>
            <a:endParaRPr lang="en-US" altLang="ko-KR" dirty="0">
              <a:latin typeface="NotoSansKR"/>
            </a:endParaRPr>
          </a:p>
          <a:p>
            <a:r>
              <a:rPr lang="en-US" altLang="ko-KR" sz="2600" dirty="0">
                <a:latin typeface="NotoSansKR"/>
              </a:rPr>
              <a:t>  1) </a:t>
            </a:r>
            <a:r>
              <a:rPr lang="en-US" altLang="ko-KR" sz="2600" dirty="0" err="1">
                <a:latin typeface="NotoSansKR"/>
              </a:rPr>
              <a:t>dropna</a:t>
            </a:r>
            <a:endParaRPr lang="en-US" altLang="ko-KR" sz="2600" dirty="0">
              <a:latin typeface="NotoSansKR"/>
            </a:endParaRPr>
          </a:p>
          <a:p>
            <a:r>
              <a:rPr lang="en-US" altLang="ko-KR" sz="2600" dirty="0">
                <a:latin typeface="NotoSansKR"/>
              </a:rPr>
              <a:t>  </a:t>
            </a:r>
          </a:p>
          <a:p>
            <a:endParaRPr lang="en-US" altLang="ko-KR" sz="2600" dirty="0">
              <a:latin typeface="NotoSansKR"/>
            </a:endParaRPr>
          </a:p>
          <a:p>
            <a:endParaRPr lang="en-US" altLang="ko-KR" sz="2600" dirty="0">
              <a:latin typeface="NotoSansKR"/>
            </a:endParaRPr>
          </a:p>
          <a:p>
            <a:endParaRPr lang="en-US" altLang="ko-KR" sz="2600" dirty="0">
              <a:latin typeface="NotoSansKR"/>
            </a:endParaRPr>
          </a:p>
          <a:p>
            <a:r>
              <a:rPr lang="en-US" altLang="ko-KR" sz="2600" dirty="0">
                <a:latin typeface="NotoSansKR"/>
              </a:rPr>
              <a:t>  2) </a:t>
            </a:r>
            <a:r>
              <a:rPr lang="en-US" altLang="ko-KR" sz="2600" dirty="0" err="1">
                <a:latin typeface="NotoSansKR"/>
              </a:rPr>
              <a:t>fillna</a:t>
            </a:r>
            <a:endParaRPr lang="en-US" altLang="ko-KR" sz="2600" dirty="0">
              <a:latin typeface="NotoSansKR"/>
            </a:endParaRPr>
          </a:p>
        </p:txBody>
      </p:sp>
      <p:sp>
        <p:nvSpPr>
          <p:cNvPr id="8" name="Object 18">
            <a:extLst>
              <a:ext uri="{FF2B5EF4-FFF2-40B4-BE49-F238E27FC236}">
                <a16:creationId xmlns:a16="http://schemas.microsoft.com/office/drawing/2014/main" id="{B7BE824F-6B75-C829-1645-CF09666EC1F7}"/>
              </a:ext>
            </a:extLst>
          </p:cNvPr>
          <p:cNvSpPr txBox="1"/>
          <p:nvPr/>
        </p:nvSpPr>
        <p:spPr>
          <a:xfrm>
            <a:off x="1853922" y="3931962"/>
            <a:ext cx="10936219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3200" dirty="0">
                <a:latin typeface="NotoSansKR"/>
              </a:rPr>
              <a:t>Categorical data </a:t>
            </a:r>
            <a:r>
              <a:rPr lang="ko-KR" altLang="en-US" sz="3200" dirty="0">
                <a:latin typeface="NotoSansKR"/>
              </a:rPr>
              <a:t>→ </a:t>
            </a:r>
            <a:r>
              <a:rPr lang="en-US" altLang="ko-KR" sz="3200" dirty="0">
                <a:latin typeface="NotoSansKR"/>
              </a:rPr>
              <a:t>Label Encoder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4DC0B51-2B51-8D27-52E4-68B0F00B4A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1" y="3980483"/>
            <a:ext cx="6504671" cy="1814771"/>
          </a:xfrm>
          <a:prstGeom prst="rect">
            <a:avLst/>
          </a:prstGeom>
        </p:spPr>
      </p:pic>
      <p:sp>
        <p:nvSpPr>
          <p:cNvPr id="15" name="Object 18">
            <a:extLst>
              <a:ext uri="{FF2B5EF4-FFF2-40B4-BE49-F238E27FC236}">
                <a16:creationId xmlns:a16="http://schemas.microsoft.com/office/drawing/2014/main" id="{17934A40-6102-E3C3-7782-8380EEFA9590}"/>
              </a:ext>
            </a:extLst>
          </p:cNvPr>
          <p:cNvSpPr txBox="1"/>
          <p:nvPr/>
        </p:nvSpPr>
        <p:spPr>
          <a:xfrm>
            <a:off x="1853922" y="2699904"/>
            <a:ext cx="10936219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NotoSansKR"/>
              </a:rPr>
              <a:t>중복데이터 제거</a:t>
            </a:r>
            <a:endParaRPr lang="en-US" altLang="ko-KR" sz="3200" dirty="0">
              <a:latin typeface="NotoSansKR"/>
            </a:endParaRPr>
          </a:p>
        </p:txBody>
      </p:sp>
    </p:spTree>
    <p:extLst>
      <p:ext uri="{BB962C8B-B14F-4D97-AF65-F5344CB8AC3E}">
        <p14:creationId xmlns:p14="http://schemas.microsoft.com/office/powerpoint/2010/main" val="1810444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67846" y="9325428"/>
            <a:ext cx="16284590" cy="1025987"/>
            <a:chOff x="867846" y="9325428"/>
            <a:chExt cx="16284590" cy="102598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846" y="9325428"/>
              <a:ext cx="16284590" cy="102598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282810" y="628053"/>
            <a:ext cx="724478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데이터 </a:t>
            </a:r>
            <a:r>
              <a:rPr lang="ko-KR" altLang="en-US" sz="2000" dirty="0" err="1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전처리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722" y="540002"/>
            <a:ext cx="91837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02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31981" y="1521994"/>
            <a:ext cx="9119156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500" dirty="0">
                <a:solidFill>
                  <a:srgbClr val="3B7DDD"/>
                </a:solidFill>
                <a:latin typeface="NanumSquare ExtraBold" pitchFamily="34" charset="0"/>
                <a:cs typeface="NanumSquare ExtraBold" pitchFamily="34" charset="0"/>
              </a:rPr>
              <a:t>Data Preprocessing </a:t>
            </a:r>
            <a:endParaRPr lang="en-US" dirty="0"/>
          </a:p>
        </p:txBody>
      </p:sp>
      <p:sp>
        <p:nvSpPr>
          <p:cNvPr id="18" name="Object 18"/>
          <p:cNvSpPr txBox="1"/>
          <p:nvPr/>
        </p:nvSpPr>
        <p:spPr>
          <a:xfrm>
            <a:off x="1828800" y="2556299"/>
            <a:ext cx="15680171" cy="22467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800" dirty="0">
                <a:solidFill>
                  <a:srgbClr val="0070C0"/>
                </a:solidFill>
              </a:rPr>
              <a:t>Current Loan Amount </a:t>
            </a:r>
            <a:r>
              <a:rPr lang="en-US" altLang="ko-KR" sz="2800" dirty="0"/>
              <a:t>: 99,999,999  (14%) FULLY PAID </a:t>
            </a:r>
            <a:r>
              <a:rPr lang="ko-KR" altLang="en-US" sz="2800" dirty="0"/>
              <a:t>인 경우</a:t>
            </a:r>
            <a:r>
              <a:rPr lang="en-US" altLang="ko-KR" sz="2800" dirty="0"/>
              <a:t>, </a:t>
            </a:r>
          </a:p>
          <a:p>
            <a:pPr lvl="7">
              <a:lnSpc>
                <a:spcPct val="150000"/>
              </a:lnSpc>
            </a:pPr>
            <a:r>
              <a:rPr lang="en-US" altLang="ko-KR" sz="2800" dirty="0"/>
              <a:t>      0</a:t>
            </a:r>
            <a:r>
              <a:rPr lang="ko-KR" altLang="en-US" sz="2800" dirty="0"/>
              <a:t>이</a:t>
            </a:r>
            <a:r>
              <a:rPr lang="en-US" altLang="ko-KR" sz="2800" dirty="0"/>
              <a:t> </a:t>
            </a:r>
            <a:r>
              <a:rPr lang="ko-KR" altLang="en-US" sz="2800" dirty="0"/>
              <a:t>그렇게 표현됐을 수 있다 </a:t>
            </a:r>
            <a:r>
              <a:rPr lang="en-US" altLang="ko-KR" sz="2800" dirty="0"/>
              <a:t>0</a:t>
            </a:r>
            <a:r>
              <a:rPr lang="ko-KR" altLang="en-US" sz="2800" dirty="0"/>
              <a:t>으로 변경</a:t>
            </a:r>
            <a:endParaRPr lang="en-US" altLang="ko-K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800" dirty="0">
                <a:solidFill>
                  <a:srgbClr val="0070C0"/>
                </a:solidFill>
              </a:rPr>
              <a:t>Bankruptcies</a:t>
            </a:r>
            <a:r>
              <a:rPr lang="en-US" altLang="ko-KR" sz="2800" dirty="0"/>
              <a:t> : 0 ~ 7, NA -&gt; 0</a:t>
            </a:r>
            <a:r>
              <a:rPr lang="ko-KR" altLang="en-US" sz="2800" dirty="0"/>
              <a:t>과 </a:t>
            </a:r>
            <a:r>
              <a:rPr lang="en-US" altLang="ko-KR" sz="2800" dirty="0"/>
              <a:t>1 </a:t>
            </a:r>
            <a:r>
              <a:rPr lang="ko-KR" altLang="en-US" sz="2800" dirty="0"/>
              <a:t>제외 하고 </a:t>
            </a:r>
            <a:r>
              <a:rPr lang="en-US" altLang="ko-KR" sz="2800" dirty="0"/>
              <a:t>2 ~ NA(751</a:t>
            </a:r>
            <a:r>
              <a:rPr lang="ko-KR" altLang="en-US" sz="2800" dirty="0"/>
              <a:t>개 </a:t>
            </a:r>
            <a:r>
              <a:rPr lang="en-US" altLang="ko-KR" sz="2800" dirty="0"/>
              <a:t>- 0.075%)</a:t>
            </a:r>
            <a:r>
              <a:rPr lang="ko-KR" altLang="en-US" sz="2800" dirty="0"/>
              <a:t>는 이상치로 판단 및 제거</a:t>
            </a:r>
            <a:endParaRPr lang="en-US" altLang="ko-KR" sz="2800" dirty="0"/>
          </a:p>
        </p:txBody>
      </p:sp>
      <p:grpSp>
        <p:nvGrpSpPr>
          <p:cNvPr id="11" name="그룹 1007">
            <a:extLst>
              <a:ext uri="{FF2B5EF4-FFF2-40B4-BE49-F238E27FC236}">
                <a16:creationId xmlns:a16="http://schemas.microsoft.com/office/drawing/2014/main" id="{EF8878B3-CF28-42E9-A2BC-5A22D8FDC21E}"/>
              </a:ext>
            </a:extLst>
          </p:cNvPr>
          <p:cNvGrpSpPr/>
          <p:nvPr/>
        </p:nvGrpSpPr>
        <p:grpSpPr>
          <a:xfrm>
            <a:off x="613096" y="989975"/>
            <a:ext cx="4797104" cy="126239"/>
            <a:chOff x="5759157" y="6303999"/>
            <a:chExt cx="821477" cy="95238"/>
          </a:xfrm>
        </p:grpSpPr>
        <p:pic>
          <p:nvPicPr>
            <p:cNvPr id="12" name="Object 25">
              <a:extLst>
                <a:ext uri="{FF2B5EF4-FFF2-40B4-BE49-F238E27FC236}">
                  <a16:creationId xmlns:a16="http://schemas.microsoft.com/office/drawing/2014/main" id="{D414F645-1007-4893-8B6C-008F9331B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9157" y="6303999"/>
              <a:ext cx="821477" cy="95238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C042F712-E688-2A9C-35B9-F0C1B2018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3952" y="5602050"/>
            <a:ext cx="6563641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44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67846" y="9325428"/>
            <a:ext cx="16284590" cy="1025987"/>
            <a:chOff x="867846" y="9325428"/>
            <a:chExt cx="16284590" cy="102598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846" y="9325428"/>
              <a:ext cx="16284590" cy="102598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282810" y="628053"/>
            <a:ext cx="724478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데이터 </a:t>
            </a:r>
            <a:r>
              <a:rPr lang="ko-KR" altLang="en-US" sz="2000" dirty="0" err="1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전처리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722" y="540002"/>
            <a:ext cx="91837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02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31981" y="1521994"/>
            <a:ext cx="9119156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500" dirty="0">
                <a:solidFill>
                  <a:srgbClr val="3B7DDD"/>
                </a:solidFill>
                <a:latin typeface="NanumSquare ExtraBold" pitchFamily="34" charset="0"/>
                <a:cs typeface="NanumSquare ExtraBold" pitchFamily="34" charset="0"/>
              </a:rPr>
              <a:t>Data Preprocessing </a:t>
            </a:r>
            <a:endParaRPr lang="en-US" dirty="0"/>
          </a:p>
        </p:txBody>
      </p:sp>
      <p:sp>
        <p:nvSpPr>
          <p:cNvPr id="18" name="Object 18"/>
          <p:cNvSpPr txBox="1"/>
          <p:nvPr/>
        </p:nvSpPr>
        <p:spPr>
          <a:xfrm>
            <a:off x="1790700" y="2429380"/>
            <a:ext cx="15659100" cy="184665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rgbClr val="0070C0"/>
                </a:solidFill>
              </a:rPr>
              <a:t>Credit Score </a:t>
            </a:r>
            <a:r>
              <a:rPr lang="en-US" altLang="ko-KR" sz="3200" dirty="0"/>
              <a:t>: </a:t>
            </a:r>
            <a:r>
              <a:rPr lang="ko-KR" altLang="en-US" sz="3200" b="0" dirty="0">
                <a:effectLst/>
              </a:rPr>
              <a:t>신용점수가  </a:t>
            </a:r>
            <a:r>
              <a:rPr lang="en-US" altLang="ko-KR" sz="3200" b="0" dirty="0">
                <a:effectLst/>
              </a:rPr>
              <a:t>1,000</a:t>
            </a:r>
            <a:r>
              <a:rPr lang="ko-KR" altLang="en-US" sz="3200" b="0" dirty="0">
                <a:effectLst/>
              </a:rPr>
              <a:t>점 이상일 때</a:t>
            </a:r>
            <a:r>
              <a:rPr lang="en-US" altLang="ko-KR" sz="3200" b="0" dirty="0">
                <a:effectLst/>
              </a:rPr>
              <a:t>,</a:t>
            </a:r>
            <a:r>
              <a:rPr lang="ko-KR" altLang="en-US" sz="3200" b="0" dirty="0">
                <a:effectLst/>
              </a:rPr>
              <a:t> </a:t>
            </a:r>
            <a:endParaRPr lang="en-US" altLang="ko-KR" sz="3200" b="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en-US" altLang="ko-KR" sz="3200" b="0" dirty="0">
                <a:effectLst/>
              </a:rPr>
              <a:t>		       </a:t>
            </a:r>
            <a:r>
              <a:rPr lang="ko-KR" altLang="en-US" sz="3200" b="0" dirty="0">
                <a:effectLst/>
              </a:rPr>
              <a:t>마지막 숫자가 다 </a:t>
            </a:r>
            <a:r>
              <a:rPr lang="en-US" altLang="ko-KR" sz="3200" b="0" dirty="0">
                <a:effectLst/>
              </a:rPr>
              <a:t>0</a:t>
            </a:r>
            <a:r>
              <a:rPr lang="ko-KR" altLang="en-US" sz="3200" b="0" dirty="0">
                <a:effectLst/>
              </a:rPr>
              <a:t>이라서 </a:t>
            </a:r>
            <a:r>
              <a:rPr lang="ko-KR" altLang="en-US" sz="3200" dirty="0"/>
              <a:t>실수로 </a:t>
            </a:r>
            <a:r>
              <a:rPr lang="en-US" altLang="ko-KR" sz="3200" dirty="0"/>
              <a:t>0</a:t>
            </a:r>
            <a:r>
              <a:rPr lang="ko-KR" altLang="en-US" sz="3200" dirty="0"/>
              <a:t>이</a:t>
            </a:r>
            <a:r>
              <a:rPr lang="en-US" altLang="ko-KR" sz="3200" dirty="0"/>
              <a:t> </a:t>
            </a:r>
            <a:r>
              <a:rPr lang="ko-KR" altLang="en-US" sz="3200" dirty="0"/>
              <a:t>추가되었다고 보고 </a:t>
            </a:r>
            <a:r>
              <a:rPr lang="en-US" altLang="ko-KR" sz="3200" dirty="0"/>
              <a:t>10</a:t>
            </a:r>
            <a:r>
              <a:rPr lang="ko-KR" altLang="en-US" sz="3200" dirty="0"/>
              <a:t>으로</a:t>
            </a:r>
            <a:r>
              <a:rPr lang="en-US" altLang="ko-KR" sz="3200" dirty="0"/>
              <a:t> </a:t>
            </a:r>
            <a:r>
              <a:rPr lang="ko-KR" altLang="en-US" sz="3200" dirty="0"/>
              <a:t>나눔</a:t>
            </a:r>
            <a:endParaRPr lang="en-US" altLang="ko-KR" sz="3200" dirty="0"/>
          </a:p>
          <a:p>
            <a:endParaRPr lang="en-US" altLang="ko-KR" b="0" dirty="0">
              <a:effectLst/>
            </a:endParaRPr>
          </a:p>
        </p:txBody>
      </p:sp>
      <p:grpSp>
        <p:nvGrpSpPr>
          <p:cNvPr id="11" name="그룹 1007">
            <a:extLst>
              <a:ext uri="{FF2B5EF4-FFF2-40B4-BE49-F238E27FC236}">
                <a16:creationId xmlns:a16="http://schemas.microsoft.com/office/drawing/2014/main" id="{EF8878B3-CF28-42E9-A2BC-5A22D8FDC21E}"/>
              </a:ext>
            </a:extLst>
          </p:cNvPr>
          <p:cNvGrpSpPr/>
          <p:nvPr/>
        </p:nvGrpSpPr>
        <p:grpSpPr>
          <a:xfrm>
            <a:off x="613096" y="989975"/>
            <a:ext cx="4797104" cy="126239"/>
            <a:chOff x="5759157" y="6303999"/>
            <a:chExt cx="821477" cy="95238"/>
          </a:xfrm>
        </p:grpSpPr>
        <p:pic>
          <p:nvPicPr>
            <p:cNvPr id="12" name="Object 25">
              <a:extLst>
                <a:ext uri="{FF2B5EF4-FFF2-40B4-BE49-F238E27FC236}">
                  <a16:creationId xmlns:a16="http://schemas.microsoft.com/office/drawing/2014/main" id="{D414F645-1007-4893-8B6C-008F9331B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9157" y="6303999"/>
              <a:ext cx="821477" cy="95238"/>
            </a:xfrm>
            <a:prstGeom prst="rect">
              <a:avLst/>
            </a:prstGeom>
          </p:spPr>
        </p:pic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4CA06E48-BA07-4705-8376-1C8BBCE2EB6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4692007"/>
            <a:ext cx="8471636" cy="448762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B5E675B-741B-68A1-F740-F2EA9246EB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0700" y="4686300"/>
            <a:ext cx="5600700" cy="442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046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0" y="4152900"/>
            <a:ext cx="6400800" cy="1384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8400" dirty="0">
                <a:solidFill>
                  <a:srgbClr val="3B7DDD"/>
                </a:solidFill>
                <a:latin typeface="NanumSquare ExtraBold" pitchFamily="34" charset="0"/>
              </a:rPr>
              <a:t>03. </a:t>
            </a:r>
            <a:r>
              <a:rPr lang="ko-KR" altLang="en-US" sz="8400" dirty="0">
                <a:solidFill>
                  <a:srgbClr val="3B7DDD"/>
                </a:solidFill>
                <a:latin typeface="NanumSquare ExtraBold" pitchFamily="34" charset="0"/>
              </a:rPr>
              <a:t>파생변수</a:t>
            </a:r>
            <a:endParaRPr lang="en-US" altLang="ko-KR" sz="8400" dirty="0">
              <a:solidFill>
                <a:srgbClr val="3B7DDD"/>
              </a:solidFill>
              <a:latin typeface="NanumSquare ExtraBold" pitchFamily="34" charset="0"/>
            </a:endParaRPr>
          </a:p>
        </p:txBody>
      </p:sp>
      <p:grpSp>
        <p:nvGrpSpPr>
          <p:cNvPr id="11" name="그룹 1001">
            <a:extLst>
              <a:ext uri="{FF2B5EF4-FFF2-40B4-BE49-F238E27FC236}">
                <a16:creationId xmlns:a16="http://schemas.microsoft.com/office/drawing/2014/main" id="{7C5E4EA1-4E27-48DA-987E-53F1854A0E60}"/>
              </a:ext>
            </a:extLst>
          </p:cNvPr>
          <p:cNvGrpSpPr/>
          <p:nvPr/>
        </p:nvGrpSpPr>
        <p:grpSpPr>
          <a:xfrm rot="10800000">
            <a:off x="1066800" y="7734300"/>
            <a:ext cx="16284590" cy="2724340"/>
            <a:chOff x="1000562" y="0"/>
            <a:chExt cx="16284590" cy="2724340"/>
          </a:xfrm>
        </p:grpSpPr>
        <p:pic>
          <p:nvPicPr>
            <p:cNvPr id="14" name="Object 2">
              <a:extLst>
                <a:ext uri="{FF2B5EF4-FFF2-40B4-BE49-F238E27FC236}">
                  <a16:creationId xmlns:a16="http://schemas.microsoft.com/office/drawing/2014/main" id="{0F2299E9-D02F-4BDB-AC16-B7674654B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0562" y="0"/>
              <a:ext cx="16284590" cy="27243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2964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67846" y="9325428"/>
            <a:ext cx="16284590" cy="1025987"/>
            <a:chOff x="867846" y="9325428"/>
            <a:chExt cx="16284590" cy="102598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846" y="9325428"/>
              <a:ext cx="16284590" cy="102598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282810" y="628053"/>
            <a:ext cx="724478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파생변수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722" y="540002"/>
            <a:ext cx="91837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03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31981" y="1521994"/>
            <a:ext cx="9119156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4500" dirty="0">
                <a:solidFill>
                  <a:srgbClr val="3B7DDD"/>
                </a:solidFill>
                <a:latin typeface="NanumSquare ExtraBold" pitchFamily="34" charset="0"/>
                <a:cs typeface="NanumSquare ExtraBold" pitchFamily="34" charset="0"/>
              </a:rPr>
              <a:t>파생변수</a:t>
            </a:r>
            <a:endParaRPr lang="en-US" dirty="0"/>
          </a:p>
        </p:txBody>
      </p:sp>
      <p:sp>
        <p:nvSpPr>
          <p:cNvPr id="18" name="Object 18"/>
          <p:cNvSpPr txBox="1"/>
          <p:nvPr/>
        </p:nvSpPr>
        <p:spPr>
          <a:xfrm>
            <a:off x="1828800" y="2394950"/>
            <a:ext cx="11716321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b="1" dirty="0" err="1">
                <a:latin typeface="NanumSquare" pitchFamily="34" charset="0"/>
                <a:cs typeface="NanumSquare" pitchFamily="34" charset="0"/>
              </a:rPr>
              <a:t>Loan_ratio</a:t>
            </a:r>
            <a:r>
              <a:rPr lang="en-US" altLang="ko-KR" sz="2000" b="1" dirty="0">
                <a:latin typeface="NanumSquare" pitchFamily="34" charset="0"/>
                <a:cs typeface="NanumSquare" pitchFamily="34" charset="0"/>
              </a:rPr>
              <a:t>?</a:t>
            </a:r>
          </a:p>
        </p:txBody>
      </p:sp>
      <p:grpSp>
        <p:nvGrpSpPr>
          <p:cNvPr id="11" name="그룹 1007">
            <a:extLst>
              <a:ext uri="{FF2B5EF4-FFF2-40B4-BE49-F238E27FC236}">
                <a16:creationId xmlns:a16="http://schemas.microsoft.com/office/drawing/2014/main" id="{EF8878B3-CF28-42E9-A2BC-5A22D8FDC21E}"/>
              </a:ext>
            </a:extLst>
          </p:cNvPr>
          <p:cNvGrpSpPr/>
          <p:nvPr/>
        </p:nvGrpSpPr>
        <p:grpSpPr>
          <a:xfrm>
            <a:off x="613096" y="989975"/>
            <a:ext cx="4797104" cy="126239"/>
            <a:chOff x="5759157" y="6303999"/>
            <a:chExt cx="821477" cy="95238"/>
          </a:xfrm>
        </p:grpSpPr>
        <p:pic>
          <p:nvPicPr>
            <p:cNvPr id="12" name="Object 25">
              <a:extLst>
                <a:ext uri="{FF2B5EF4-FFF2-40B4-BE49-F238E27FC236}">
                  <a16:creationId xmlns:a16="http://schemas.microsoft.com/office/drawing/2014/main" id="{D414F645-1007-4893-8B6C-008F9331B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9157" y="6303999"/>
              <a:ext cx="821477" cy="95238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12CD6414-FECC-4024-A9D0-3BCED6692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959403"/>
            <a:ext cx="5830114" cy="9907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E977F55-B6D4-BB49-EB1D-7AD959768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5467" y="5174628"/>
            <a:ext cx="7659169" cy="430590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E8F8E351-30C1-119C-04C6-AEB09E5509F4}"/>
              </a:ext>
            </a:extLst>
          </p:cNvPr>
          <p:cNvSpPr/>
          <p:nvPr/>
        </p:nvSpPr>
        <p:spPr>
          <a:xfrm>
            <a:off x="2479500" y="5495620"/>
            <a:ext cx="6629400" cy="46383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18E416E-05E8-7CAC-EEA1-8859F24DFD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5467" y="4651322"/>
            <a:ext cx="3515216" cy="619211"/>
          </a:xfrm>
          <a:prstGeom prst="rect">
            <a:avLst/>
          </a:prstGeom>
        </p:spPr>
      </p:pic>
      <p:sp>
        <p:nvSpPr>
          <p:cNvPr id="19" name="Object 18">
            <a:extLst>
              <a:ext uri="{FF2B5EF4-FFF2-40B4-BE49-F238E27FC236}">
                <a16:creationId xmlns:a16="http://schemas.microsoft.com/office/drawing/2014/main" id="{45AF73BF-9FB2-1F4C-249A-9682F62841E9}"/>
              </a:ext>
            </a:extLst>
          </p:cNvPr>
          <p:cNvSpPr txBox="1"/>
          <p:nvPr/>
        </p:nvSpPr>
        <p:spPr>
          <a:xfrm>
            <a:off x="2314400" y="9726405"/>
            <a:ext cx="6400800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dirty="0"/>
              <a:t>→</a:t>
            </a:r>
            <a:r>
              <a:rPr lang="en-US" altLang="ko-KR" dirty="0"/>
              <a:t>  Feature importance</a:t>
            </a:r>
            <a:r>
              <a:rPr lang="ko-KR" altLang="en-US" dirty="0"/>
              <a:t>가 높은 </a:t>
            </a:r>
            <a:r>
              <a:rPr lang="en-US" altLang="ko-KR" dirty="0"/>
              <a:t>2</a:t>
            </a:r>
            <a:r>
              <a:rPr lang="ko-KR" altLang="en-US" dirty="0"/>
              <a:t>개의 </a:t>
            </a:r>
            <a:r>
              <a:rPr lang="en-US" altLang="ko-KR" dirty="0"/>
              <a:t>Feature</a:t>
            </a:r>
            <a:r>
              <a:rPr lang="ko-KR" altLang="en-US" dirty="0"/>
              <a:t>로 구성되었다</a:t>
            </a:r>
            <a:r>
              <a:rPr lang="en-US" altLang="ko-KR" dirty="0"/>
              <a:t>.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48C6B14-D37D-F703-307B-F63FEE4A89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3914" y="1439596"/>
            <a:ext cx="7396240" cy="430652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A1B34719-3990-F3B2-2F95-00CE13585F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2014" y="5495620"/>
            <a:ext cx="7358140" cy="4401305"/>
          </a:xfrm>
          <a:prstGeom prst="rect">
            <a:avLst/>
          </a:prstGeom>
        </p:spPr>
      </p:pic>
      <p:sp>
        <p:nvSpPr>
          <p:cNvPr id="25" name="Object 18">
            <a:extLst>
              <a:ext uri="{FF2B5EF4-FFF2-40B4-BE49-F238E27FC236}">
                <a16:creationId xmlns:a16="http://schemas.microsoft.com/office/drawing/2014/main" id="{79B1D843-2A8F-4DBA-7CA0-67E02129DA34}"/>
              </a:ext>
            </a:extLst>
          </p:cNvPr>
          <p:cNvSpPr txBox="1"/>
          <p:nvPr/>
        </p:nvSpPr>
        <p:spPr>
          <a:xfrm>
            <a:off x="1879267" y="4215738"/>
            <a:ext cx="83820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2000" b="1" dirty="0">
                <a:latin typeface="NanumSquare" pitchFamily="34" charset="0"/>
                <a:cs typeface="NanumSquare" pitchFamily="34" charset="0"/>
              </a:rPr>
              <a:t>LGB</a:t>
            </a:r>
          </a:p>
        </p:txBody>
      </p:sp>
      <p:sp>
        <p:nvSpPr>
          <p:cNvPr id="26" name="Object 18">
            <a:extLst>
              <a:ext uri="{FF2B5EF4-FFF2-40B4-BE49-F238E27FC236}">
                <a16:creationId xmlns:a16="http://schemas.microsoft.com/office/drawing/2014/main" id="{33E7D1F1-4E57-198F-0475-3E700945520D}"/>
              </a:ext>
            </a:extLst>
          </p:cNvPr>
          <p:cNvSpPr txBox="1"/>
          <p:nvPr/>
        </p:nvSpPr>
        <p:spPr>
          <a:xfrm>
            <a:off x="10210800" y="951360"/>
            <a:ext cx="388620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2000" b="1" dirty="0" err="1">
                <a:latin typeface="NanumSquare" pitchFamily="34" charset="0"/>
                <a:cs typeface="NanumSquare" pitchFamily="34" charset="0"/>
              </a:rPr>
              <a:t>XGBoost</a:t>
            </a:r>
            <a:endParaRPr lang="en-US" altLang="ko-KR" sz="2000" b="1" dirty="0">
              <a:latin typeface="NanumSquare" pitchFamily="34" charset="0"/>
              <a:cs typeface="NanumSquare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4A7354D-FF27-C420-BCAA-A4858008C6F4}"/>
              </a:ext>
            </a:extLst>
          </p:cNvPr>
          <p:cNvSpPr/>
          <p:nvPr/>
        </p:nvSpPr>
        <p:spPr>
          <a:xfrm>
            <a:off x="10969082" y="2332935"/>
            <a:ext cx="6183354" cy="62646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0712D9F-295C-9C09-3F9F-D4B46A1B6BE6}"/>
              </a:ext>
            </a:extLst>
          </p:cNvPr>
          <p:cNvSpPr/>
          <p:nvPr/>
        </p:nvSpPr>
        <p:spPr>
          <a:xfrm>
            <a:off x="10304579" y="5990873"/>
            <a:ext cx="6822457" cy="49816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748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76800" y="4152900"/>
            <a:ext cx="9220200" cy="1384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8400" dirty="0">
                <a:solidFill>
                  <a:srgbClr val="3B7DDD"/>
                </a:solidFill>
                <a:latin typeface="NanumSquare ExtraBold" pitchFamily="34" charset="0"/>
              </a:rPr>
              <a:t>04. </a:t>
            </a:r>
            <a:r>
              <a:rPr lang="en-US" altLang="ko-KR" sz="8400" dirty="0">
                <a:solidFill>
                  <a:srgbClr val="3B7DDD"/>
                </a:solidFill>
                <a:latin typeface="NanumSquare ExtraBold" pitchFamily="34" charset="0"/>
              </a:rPr>
              <a:t>Model Selection</a:t>
            </a:r>
          </a:p>
        </p:txBody>
      </p:sp>
      <p:grpSp>
        <p:nvGrpSpPr>
          <p:cNvPr id="11" name="그룹 1001">
            <a:extLst>
              <a:ext uri="{FF2B5EF4-FFF2-40B4-BE49-F238E27FC236}">
                <a16:creationId xmlns:a16="http://schemas.microsoft.com/office/drawing/2014/main" id="{7C5E4EA1-4E27-48DA-987E-53F1854A0E60}"/>
              </a:ext>
            </a:extLst>
          </p:cNvPr>
          <p:cNvGrpSpPr/>
          <p:nvPr/>
        </p:nvGrpSpPr>
        <p:grpSpPr>
          <a:xfrm rot="10800000">
            <a:off x="1066800" y="7734300"/>
            <a:ext cx="16284590" cy="2724340"/>
            <a:chOff x="1000562" y="0"/>
            <a:chExt cx="16284590" cy="2724340"/>
          </a:xfrm>
        </p:grpSpPr>
        <p:pic>
          <p:nvPicPr>
            <p:cNvPr id="14" name="Object 2">
              <a:extLst>
                <a:ext uri="{FF2B5EF4-FFF2-40B4-BE49-F238E27FC236}">
                  <a16:creationId xmlns:a16="http://schemas.microsoft.com/office/drawing/2014/main" id="{0F2299E9-D02F-4BDB-AC16-B7674654B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0562" y="0"/>
              <a:ext cx="16284590" cy="27243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336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67846" y="9325428"/>
            <a:ext cx="16284590" cy="1025987"/>
            <a:chOff x="867846" y="9325428"/>
            <a:chExt cx="16284590" cy="102598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846" y="9325428"/>
              <a:ext cx="16284590" cy="102598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282810" y="628053"/>
            <a:ext cx="724478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Model Selection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722" y="540002"/>
            <a:ext cx="91837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04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91519" y="1397693"/>
            <a:ext cx="9119156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500" dirty="0" err="1">
                <a:solidFill>
                  <a:srgbClr val="3B7DDD"/>
                </a:solidFill>
                <a:latin typeface="NanumSquare ExtraBold" pitchFamily="34" charset="0"/>
                <a:cs typeface="NanumSquare ExtraBold" pitchFamily="34" charset="0"/>
              </a:rPr>
              <a:t>Pycaret</a:t>
            </a:r>
            <a:endParaRPr lang="en-US" dirty="0"/>
          </a:p>
        </p:txBody>
      </p:sp>
      <p:sp>
        <p:nvSpPr>
          <p:cNvPr id="18" name="Object 18"/>
          <p:cNvSpPr txBox="1"/>
          <p:nvPr/>
        </p:nvSpPr>
        <p:spPr>
          <a:xfrm>
            <a:off x="10972800" y="2628900"/>
            <a:ext cx="6324600" cy="35946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MAE</a:t>
            </a:r>
            <a:r>
              <a:rPr lang="ko-KR" altLang="en-US" sz="2200" dirty="0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를 기준으로 보았을 때는 </a:t>
            </a:r>
            <a:r>
              <a:rPr lang="en-US" sz="2200" dirty="0" err="1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Lightbgm</a:t>
            </a:r>
            <a:endParaRPr lang="en-US" sz="2200" dirty="0">
              <a:solidFill>
                <a:srgbClr val="595959"/>
              </a:solidFill>
              <a:latin typeface="NanumSquare" pitchFamily="34" charset="0"/>
              <a:cs typeface="NanumSquare" pitchFamily="34" charset="0"/>
            </a:endParaRPr>
          </a:p>
          <a:p>
            <a:pPr>
              <a:lnSpc>
                <a:spcPct val="150000"/>
              </a:lnSpc>
            </a:pPr>
            <a:endParaRPr lang="en-US" sz="2200" dirty="0">
              <a:solidFill>
                <a:srgbClr val="595959"/>
              </a:solidFill>
              <a:latin typeface="NanumSquare" pitchFamily="34" charset="0"/>
              <a:cs typeface="NanumSquare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MSE, RMSE </a:t>
            </a:r>
            <a:r>
              <a:rPr lang="ko-KR" altLang="en-US" sz="2200" dirty="0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를 기준으로 보아도</a:t>
            </a:r>
            <a:endParaRPr lang="en-US" altLang="ko-KR" sz="2200" dirty="0">
              <a:solidFill>
                <a:srgbClr val="595959"/>
              </a:solidFill>
              <a:latin typeface="NanumSquare" pitchFamily="34" charset="0"/>
              <a:cs typeface="NanumSquare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200" dirty="0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     GBR</a:t>
            </a:r>
            <a:r>
              <a:rPr lang="ko-KR" altLang="en-US" sz="2200" dirty="0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도</a:t>
            </a:r>
            <a:r>
              <a:rPr lang="en-US" altLang="ko-KR" sz="2200" dirty="0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 </a:t>
            </a:r>
            <a:r>
              <a:rPr lang="ko-KR" altLang="en-US" sz="2200" dirty="0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크게 차이가 없다고 </a:t>
            </a:r>
            <a:r>
              <a:rPr lang="ko-KR" altLang="en-US" sz="2200" dirty="0" err="1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여겨짐</a:t>
            </a:r>
            <a:r>
              <a:rPr lang="en-US" altLang="ko-KR" sz="2200" dirty="0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200" dirty="0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    ※ R2(</a:t>
            </a:r>
            <a:r>
              <a:rPr lang="en-US" altLang="ko-KR" sz="2200" dirty="0" err="1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Rsquare</a:t>
            </a:r>
            <a:r>
              <a:rPr lang="en-US" altLang="ko-KR" sz="2200" dirty="0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)</a:t>
            </a:r>
            <a:r>
              <a:rPr lang="ko-KR" altLang="en-US" sz="2200" dirty="0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도 고려해야 함</a:t>
            </a:r>
            <a:r>
              <a:rPr lang="en-US" altLang="ko-KR" sz="2200" dirty="0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200" dirty="0">
              <a:solidFill>
                <a:srgbClr val="595959"/>
              </a:solidFill>
              <a:latin typeface="NanumSquare" pitchFamily="34" charset="0"/>
              <a:cs typeface="NanumSquare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Rf </a:t>
            </a:r>
            <a:r>
              <a:rPr lang="ko-KR" altLang="en-US" sz="2200" dirty="0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와 </a:t>
            </a:r>
            <a:r>
              <a:rPr lang="en-US" altLang="ko-KR" sz="2200" dirty="0" err="1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XGBoost</a:t>
            </a:r>
            <a:r>
              <a:rPr lang="en-US" altLang="ko-KR" sz="2200" dirty="0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 </a:t>
            </a:r>
            <a:r>
              <a:rPr lang="ko-KR" altLang="en-US" sz="2200" dirty="0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방식도 사용</a:t>
            </a:r>
            <a:endParaRPr lang="en-US" sz="2200" dirty="0">
              <a:solidFill>
                <a:srgbClr val="595959"/>
              </a:solidFill>
              <a:latin typeface="NanumSquare" pitchFamily="34" charset="0"/>
              <a:cs typeface="NanumSquare" pitchFamily="34" charset="0"/>
            </a:endParaRPr>
          </a:p>
        </p:txBody>
      </p:sp>
      <p:grpSp>
        <p:nvGrpSpPr>
          <p:cNvPr id="11" name="그룹 1007">
            <a:extLst>
              <a:ext uri="{FF2B5EF4-FFF2-40B4-BE49-F238E27FC236}">
                <a16:creationId xmlns:a16="http://schemas.microsoft.com/office/drawing/2014/main" id="{EF8878B3-CF28-42E9-A2BC-5A22D8FDC21E}"/>
              </a:ext>
            </a:extLst>
          </p:cNvPr>
          <p:cNvGrpSpPr/>
          <p:nvPr/>
        </p:nvGrpSpPr>
        <p:grpSpPr>
          <a:xfrm>
            <a:off x="613096" y="989975"/>
            <a:ext cx="4797104" cy="126239"/>
            <a:chOff x="5759157" y="6303999"/>
            <a:chExt cx="821477" cy="95238"/>
          </a:xfrm>
        </p:grpSpPr>
        <p:pic>
          <p:nvPicPr>
            <p:cNvPr id="12" name="Object 25">
              <a:extLst>
                <a:ext uri="{FF2B5EF4-FFF2-40B4-BE49-F238E27FC236}">
                  <a16:creationId xmlns:a16="http://schemas.microsoft.com/office/drawing/2014/main" id="{D414F645-1007-4893-8B6C-008F9331B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9157" y="6303999"/>
              <a:ext cx="821477" cy="95238"/>
            </a:xfrm>
            <a:prstGeom prst="rect">
              <a:avLst/>
            </a:prstGeom>
          </p:spPr>
        </p:pic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79E8F3B9-20A1-6B40-E1E8-0BE84A5909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178" y="2489246"/>
            <a:ext cx="8605837" cy="729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277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67846" y="9325428"/>
            <a:ext cx="16284590" cy="1025987"/>
            <a:chOff x="867846" y="9325428"/>
            <a:chExt cx="16284590" cy="102598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846" y="9325428"/>
              <a:ext cx="16284590" cy="102598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282810" y="628053"/>
            <a:ext cx="724478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Model Selection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722" y="540002"/>
            <a:ext cx="91837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04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91519" y="1397693"/>
            <a:ext cx="9119156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500" dirty="0" err="1">
                <a:solidFill>
                  <a:srgbClr val="3B7DDD"/>
                </a:solidFill>
                <a:latin typeface="NanumSquare ExtraBold" pitchFamily="34" charset="0"/>
                <a:cs typeface="NanumSquare ExtraBold" pitchFamily="34" charset="0"/>
              </a:rPr>
              <a:t>Model_fit</a:t>
            </a:r>
            <a:endParaRPr lang="en-US" dirty="0"/>
          </a:p>
        </p:txBody>
      </p:sp>
      <p:sp>
        <p:nvSpPr>
          <p:cNvPr id="18" name="Object 18"/>
          <p:cNvSpPr txBox="1"/>
          <p:nvPr/>
        </p:nvSpPr>
        <p:spPr>
          <a:xfrm>
            <a:off x="1596720" y="8889307"/>
            <a:ext cx="7406678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ko-KR" sz="2400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RandomForestRegressor</a:t>
            </a:r>
            <a:r>
              <a:rPr lang="en-US" altLang="ko-KR" sz="24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ko-KR" altLang="en-US" sz="24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를 사용</a:t>
            </a:r>
            <a:endParaRPr lang="en-US" altLang="ko-KR" sz="2400" b="0" i="0" dirty="0">
              <a:solidFill>
                <a:srgbClr val="212121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en-US" altLang="ko-KR" sz="2400" dirty="0">
                <a:solidFill>
                  <a:srgbClr val="212121"/>
                </a:solidFill>
                <a:latin typeface="Roboto" panose="02000000000000000000" pitchFamily="2" charset="0"/>
              </a:rPr>
              <a:t>(</a:t>
            </a:r>
            <a:r>
              <a:rPr lang="en-US" altLang="ko-KR" sz="2400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n_estimators</a:t>
            </a:r>
            <a:r>
              <a:rPr lang="en-US" altLang="ko-KR" sz="24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=400, </a:t>
            </a:r>
            <a:r>
              <a:rPr lang="en-US" altLang="ko-KR" sz="2400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max_depth</a:t>
            </a:r>
            <a:r>
              <a:rPr lang="en-US" altLang="ko-KR" sz="24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=12, </a:t>
            </a:r>
            <a:r>
              <a:rPr lang="en-US" altLang="ko-KR" sz="2400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random_state</a:t>
            </a:r>
            <a:r>
              <a:rPr lang="en-US" altLang="ko-KR" sz="24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=42)</a:t>
            </a:r>
          </a:p>
          <a:p>
            <a:pPr algn="l"/>
            <a:r>
              <a:rPr lang="ko-KR" altLang="en-US" sz="24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위 수치를 바꿔가며 수정</a:t>
            </a:r>
            <a:r>
              <a:rPr lang="en-US" altLang="ko-KR" sz="24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.</a:t>
            </a:r>
          </a:p>
        </p:txBody>
      </p:sp>
      <p:grpSp>
        <p:nvGrpSpPr>
          <p:cNvPr id="11" name="그룹 1007">
            <a:extLst>
              <a:ext uri="{FF2B5EF4-FFF2-40B4-BE49-F238E27FC236}">
                <a16:creationId xmlns:a16="http://schemas.microsoft.com/office/drawing/2014/main" id="{EF8878B3-CF28-42E9-A2BC-5A22D8FDC21E}"/>
              </a:ext>
            </a:extLst>
          </p:cNvPr>
          <p:cNvGrpSpPr/>
          <p:nvPr/>
        </p:nvGrpSpPr>
        <p:grpSpPr>
          <a:xfrm>
            <a:off x="613096" y="989975"/>
            <a:ext cx="4797104" cy="126239"/>
            <a:chOff x="5759157" y="6303999"/>
            <a:chExt cx="821477" cy="95238"/>
          </a:xfrm>
        </p:grpSpPr>
        <p:pic>
          <p:nvPicPr>
            <p:cNvPr id="12" name="Object 25">
              <a:extLst>
                <a:ext uri="{FF2B5EF4-FFF2-40B4-BE49-F238E27FC236}">
                  <a16:creationId xmlns:a16="http://schemas.microsoft.com/office/drawing/2014/main" id="{D414F645-1007-4893-8B6C-008F9331B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9157" y="6303999"/>
              <a:ext cx="821477" cy="95238"/>
            </a:xfrm>
            <a:prstGeom prst="rect">
              <a:avLst/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4B101CF9-4364-57A7-F643-000201A1B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720" y="2464002"/>
            <a:ext cx="7626960" cy="633468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91351DB-94A2-97EF-A2BC-BC31DE17E3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600" y="2433259"/>
            <a:ext cx="6841823" cy="645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82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67846" y="9325428"/>
            <a:ext cx="16284590" cy="1025987"/>
            <a:chOff x="867846" y="9325428"/>
            <a:chExt cx="16284590" cy="102598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846" y="9325428"/>
              <a:ext cx="16284590" cy="102598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61722" y="540002"/>
            <a:ext cx="91837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05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grpSp>
        <p:nvGrpSpPr>
          <p:cNvPr id="11" name="그룹 1007">
            <a:extLst>
              <a:ext uri="{FF2B5EF4-FFF2-40B4-BE49-F238E27FC236}">
                <a16:creationId xmlns:a16="http://schemas.microsoft.com/office/drawing/2014/main" id="{EF8878B3-CF28-42E9-A2BC-5A22D8FDC21E}"/>
              </a:ext>
            </a:extLst>
          </p:cNvPr>
          <p:cNvGrpSpPr/>
          <p:nvPr/>
        </p:nvGrpSpPr>
        <p:grpSpPr>
          <a:xfrm>
            <a:off x="613096" y="989975"/>
            <a:ext cx="4797104" cy="126239"/>
            <a:chOff x="5759157" y="6303999"/>
            <a:chExt cx="821477" cy="95238"/>
          </a:xfrm>
        </p:grpSpPr>
        <p:pic>
          <p:nvPicPr>
            <p:cNvPr id="12" name="Object 25">
              <a:extLst>
                <a:ext uri="{FF2B5EF4-FFF2-40B4-BE49-F238E27FC236}">
                  <a16:creationId xmlns:a16="http://schemas.microsoft.com/office/drawing/2014/main" id="{D414F645-1007-4893-8B6C-008F9331B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9157" y="6303999"/>
              <a:ext cx="821477" cy="95238"/>
            </a:xfrm>
            <a:prstGeom prst="rect">
              <a:avLst/>
            </a:prstGeom>
          </p:spPr>
        </p:pic>
      </p:grpSp>
      <p:sp>
        <p:nvSpPr>
          <p:cNvPr id="4" name="Object 9">
            <a:extLst>
              <a:ext uri="{FF2B5EF4-FFF2-40B4-BE49-F238E27FC236}">
                <a16:creationId xmlns:a16="http://schemas.microsoft.com/office/drawing/2014/main" id="{A9EA3B2B-1BF6-74CC-BF10-82495908E18C}"/>
              </a:ext>
            </a:extLst>
          </p:cNvPr>
          <p:cNvSpPr txBox="1"/>
          <p:nvPr/>
        </p:nvSpPr>
        <p:spPr>
          <a:xfrm>
            <a:off x="1331981" y="589865"/>
            <a:ext cx="724478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</a:rPr>
              <a:t>결과분석</a:t>
            </a:r>
            <a:r>
              <a:rPr lang="en-US" altLang="ko-KR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</a:rPr>
              <a:t>(</a:t>
            </a:r>
            <a:r>
              <a:rPr lang="en-US" altLang="ko-KR" sz="2000" dirty="0" err="1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</a:rPr>
              <a:t>xgboost</a:t>
            </a:r>
            <a:r>
              <a:rPr lang="en-US" altLang="ko-KR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</a:rPr>
              <a:t>)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" name="Object 17">
            <a:extLst>
              <a:ext uri="{FF2B5EF4-FFF2-40B4-BE49-F238E27FC236}">
                <a16:creationId xmlns:a16="http://schemas.microsoft.com/office/drawing/2014/main" id="{5991BE25-EE20-B43A-9B35-276F0333EDA5}"/>
              </a:ext>
            </a:extLst>
          </p:cNvPr>
          <p:cNvSpPr txBox="1"/>
          <p:nvPr/>
        </p:nvSpPr>
        <p:spPr>
          <a:xfrm>
            <a:off x="1143000" y="1260254"/>
            <a:ext cx="12748876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800" dirty="0" err="1">
                <a:solidFill>
                  <a:srgbClr val="3B7DDD"/>
                </a:solidFill>
                <a:latin typeface="NanumSquare ExtraBold" pitchFamily="34" charset="0"/>
                <a:cs typeface="NanumSquare ExtraBold" pitchFamily="34" charset="0"/>
              </a:rPr>
              <a:t>Model_fit</a:t>
            </a:r>
            <a:endParaRPr lang="en-US" altLang="ko-KR" sz="48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89AA806-7F2D-93FB-C4FA-2718F9F67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0845" y="2743326"/>
            <a:ext cx="6420817" cy="598526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74D74E9-0B2C-8378-ABA9-CD4B5E6D6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817" y="2777352"/>
            <a:ext cx="6400799" cy="6006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bject 17">
            <a:extLst>
              <a:ext uri="{FF2B5EF4-FFF2-40B4-BE49-F238E27FC236}">
                <a16:creationId xmlns:a16="http://schemas.microsoft.com/office/drawing/2014/main" id="{A0F7E41A-01E5-C1C9-5DDD-F47365F2A4D3}"/>
              </a:ext>
            </a:extLst>
          </p:cNvPr>
          <p:cNvSpPr txBox="1"/>
          <p:nvPr/>
        </p:nvSpPr>
        <p:spPr>
          <a:xfrm>
            <a:off x="2129845" y="2201845"/>
            <a:ext cx="897945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200" dirty="0"/>
              <a:t>Train</a:t>
            </a:r>
          </a:p>
        </p:txBody>
      </p:sp>
      <p:sp>
        <p:nvSpPr>
          <p:cNvPr id="13" name="Object 17">
            <a:extLst>
              <a:ext uri="{FF2B5EF4-FFF2-40B4-BE49-F238E27FC236}">
                <a16:creationId xmlns:a16="http://schemas.microsoft.com/office/drawing/2014/main" id="{36AB9922-61F5-0E40-7323-8A0BC309F06F}"/>
              </a:ext>
            </a:extLst>
          </p:cNvPr>
          <p:cNvSpPr txBox="1"/>
          <p:nvPr/>
        </p:nvSpPr>
        <p:spPr>
          <a:xfrm>
            <a:off x="10130845" y="2201845"/>
            <a:ext cx="897945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200" dirty="0"/>
              <a:t>Test</a:t>
            </a:r>
          </a:p>
        </p:txBody>
      </p:sp>
      <p:sp>
        <p:nvSpPr>
          <p:cNvPr id="14" name="Object 17">
            <a:extLst>
              <a:ext uri="{FF2B5EF4-FFF2-40B4-BE49-F238E27FC236}">
                <a16:creationId xmlns:a16="http://schemas.microsoft.com/office/drawing/2014/main" id="{7CD7C4C9-DB9F-092E-C987-6B8E59AA2888}"/>
              </a:ext>
            </a:extLst>
          </p:cNvPr>
          <p:cNvSpPr txBox="1"/>
          <p:nvPr/>
        </p:nvSpPr>
        <p:spPr>
          <a:xfrm>
            <a:off x="2129845" y="9183704"/>
            <a:ext cx="1463040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400" dirty="0"/>
              <a:t>Train</a:t>
            </a:r>
            <a:r>
              <a:rPr lang="ko-KR" altLang="en-US" sz="3400" dirty="0"/>
              <a:t> 에서는 잘 </a:t>
            </a:r>
            <a:r>
              <a:rPr lang="en-US" altLang="ko-KR" sz="3400" dirty="0"/>
              <a:t>Fitting </a:t>
            </a:r>
            <a:r>
              <a:rPr lang="ko-KR" altLang="en-US" sz="3400" dirty="0"/>
              <a:t>되었지만 </a:t>
            </a:r>
            <a:r>
              <a:rPr lang="ko-KR" altLang="en-US" sz="3400" dirty="0">
                <a:solidFill>
                  <a:schemeClr val="accent6"/>
                </a:solidFill>
              </a:rPr>
              <a:t>신용점수가 낮을수록 </a:t>
            </a:r>
            <a:r>
              <a:rPr lang="en-US" altLang="ko-KR" sz="3400" dirty="0"/>
              <a:t>Fitting</a:t>
            </a:r>
            <a:r>
              <a:rPr lang="ko-KR" altLang="en-US" sz="3400" dirty="0"/>
              <a:t>이 잘 안되었다</a:t>
            </a:r>
            <a:r>
              <a:rPr lang="en-US" altLang="ko-KR" sz="3400" dirty="0"/>
              <a:t>.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1587257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67846" y="9325428"/>
            <a:ext cx="16284590" cy="1025987"/>
            <a:chOff x="867846" y="9325428"/>
            <a:chExt cx="16284590" cy="102598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846" y="9325428"/>
              <a:ext cx="16284590" cy="102598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282810" y="628053"/>
            <a:ext cx="724478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Model Selection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722" y="540002"/>
            <a:ext cx="91837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04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71924" y="1419504"/>
            <a:ext cx="12748876" cy="10618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500" dirty="0">
                <a:solidFill>
                  <a:srgbClr val="3B7DDD"/>
                </a:solidFill>
                <a:latin typeface="NanumSquare ExtraBold" pitchFamily="34" charset="0"/>
              </a:rPr>
              <a:t>Regression Model result</a:t>
            </a:r>
            <a:endParaRPr lang="ko-KR" altLang="en-US" sz="1800" b="1" spc="-4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endParaRPr lang="en-US" dirty="0"/>
          </a:p>
        </p:txBody>
      </p:sp>
      <p:sp>
        <p:nvSpPr>
          <p:cNvPr id="18" name="Object 18"/>
          <p:cNvSpPr txBox="1"/>
          <p:nvPr/>
        </p:nvSpPr>
        <p:spPr>
          <a:xfrm>
            <a:off x="1828800" y="2281278"/>
            <a:ext cx="596326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b="1" dirty="0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파생변수 적용 후 </a:t>
            </a:r>
            <a:r>
              <a:rPr lang="en-US" altLang="ko-KR" sz="2000" b="1" dirty="0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MAE </a:t>
            </a:r>
            <a:r>
              <a:rPr lang="ko-KR" altLang="en-US" sz="2000" b="1" dirty="0">
                <a:solidFill>
                  <a:srgbClr val="595959"/>
                </a:solidFill>
                <a:latin typeface="NanumSquare" pitchFamily="34" charset="0"/>
                <a:cs typeface="NanumSquare" pitchFamily="34" charset="0"/>
              </a:rPr>
              <a:t>감소</a:t>
            </a:r>
            <a:endParaRPr lang="en-US" sz="2000" b="1" dirty="0">
              <a:solidFill>
                <a:srgbClr val="595959"/>
              </a:solidFill>
              <a:latin typeface="NanumSquare" pitchFamily="34" charset="0"/>
              <a:cs typeface="NanumSquare" pitchFamily="34" charset="0"/>
            </a:endParaRPr>
          </a:p>
        </p:txBody>
      </p:sp>
      <p:grpSp>
        <p:nvGrpSpPr>
          <p:cNvPr id="11" name="그룹 1007">
            <a:extLst>
              <a:ext uri="{FF2B5EF4-FFF2-40B4-BE49-F238E27FC236}">
                <a16:creationId xmlns:a16="http://schemas.microsoft.com/office/drawing/2014/main" id="{EF8878B3-CF28-42E9-A2BC-5A22D8FDC21E}"/>
              </a:ext>
            </a:extLst>
          </p:cNvPr>
          <p:cNvGrpSpPr/>
          <p:nvPr/>
        </p:nvGrpSpPr>
        <p:grpSpPr>
          <a:xfrm>
            <a:off x="613096" y="989975"/>
            <a:ext cx="4797104" cy="126239"/>
            <a:chOff x="5759157" y="6303999"/>
            <a:chExt cx="821477" cy="95238"/>
          </a:xfrm>
        </p:grpSpPr>
        <p:pic>
          <p:nvPicPr>
            <p:cNvPr id="12" name="Object 25">
              <a:extLst>
                <a:ext uri="{FF2B5EF4-FFF2-40B4-BE49-F238E27FC236}">
                  <a16:creationId xmlns:a16="http://schemas.microsoft.com/office/drawing/2014/main" id="{D414F645-1007-4893-8B6C-008F9331B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9157" y="6303999"/>
              <a:ext cx="821477" cy="95238"/>
            </a:xfrm>
            <a:prstGeom prst="rect">
              <a:avLst/>
            </a:prstGeom>
          </p:spPr>
        </p:pic>
      </p:grpSp>
      <p:graphicFrame>
        <p:nvGraphicFramePr>
          <p:cNvPr id="4" name="표 7">
            <a:extLst>
              <a:ext uri="{FF2B5EF4-FFF2-40B4-BE49-F238E27FC236}">
                <a16:creationId xmlns:a16="http://schemas.microsoft.com/office/drawing/2014/main" id="{5711C522-A655-CCC0-29C7-82116FFDB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552244"/>
              </p:ext>
            </p:extLst>
          </p:nvPr>
        </p:nvGraphicFramePr>
        <p:xfrm>
          <a:off x="1504042" y="3423633"/>
          <a:ext cx="15852857" cy="4973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646">
                  <a:extLst>
                    <a:ext uri="{9D8B030D-6E8A-4147-A177-3AD203B41FA5}">
                      <a16:colId xmlns:a16="http://schemas.microsoft.com/office/drawing/2014/main" val="388326904"/>
                    </a:ext>
                  </a:extLst>
                </a:gridCol>
                <a:gridCol w="5586413">
                  <a:extLst>
                    <a:ext uri="{9D8B030D-6E8A-4147-A177-3AD203B41FA5}">
                      <a16:colId xmlns:a16="http://schemas.microsoft.com/office/drawing/2014/main" val="1172355626"/>
                    </a:ext>
                  </a:extLst>
                </a:gridCol>
                <a:gridCol w="3700463">
                  <a:extLst>
                    <a:ext uri="{9D8B030D-6E8A-4147-A177-3AD203B41FA5}">
                      <a16:colId xmlns:a16="http://schemas.microsoft.com/office/drawing/2014/main" val="1686686885"/>
                    </a:ext>
                  </a:extLst>
                </a:gridCol>
                <a:gridCol w="4119335">
                  <a:extLst>
                    <a:ext uri="{9D8B030D-6E8A-4147-A177-3AD203B41FA5}">
                      <a16:colId xmlns:a16="http://schemas.microsoft.com/office/drawing/2014/main" val="3621404788"/>
                    </a:ext>
                  </a:extLst>
                </a:gridCol>
              </a:tblGrid>
              <a:tr h="12261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spc="-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Regression</a:t>
                      </a:r>
                      <a:r>
                        <a:rPr lang="ko-KR" altLang="en-US" sz="3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3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Models</a:t>
                      </a:r>
                      <a:endParaRPr lang="ko-KR" altLang="en-US" sz="3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Target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2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Pycaret</a:t>
                      </a:r>
                      <a:r>
                        <a:rPr lang="en-US" altLang="ko-KR" sz="32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32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</a:t>
                      </a:r>
                      <a:endParaRPr lang="ko-KR" altLang="en-US" sz="3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</a:t>
                      </a:r>
                    </a:p>
                    <a:p>
                      <a:pPr algn="ctr" latinLnBrk="1"/>
                      <a:r>
                        <a:rPr lang="en-US" altLang="ko-KR" sz="20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20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파생변수 </a:t>
                      </a:r>
                      <a:r>
                        <a:rPr lang="ko-KR" altLang="en-US" sz="2000" b="0" i="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적용전</a:t>
                      </a:r>
                      <a:r>
                        <a:rPr lang="en-US" altLang="ko-KR" sz="20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Results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파생변수 적용 후</a:t>
                      </a:r>
                      <a:r>
                        <a:rPr lang="en-US" altLang="ko-KR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097032"/>
                  </a:ext>
                </a:extLst>
              </a:tr>
              <a:tr h="12261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</a:t>
                      </a:r>
                      <a:endParaRPr lang="en-US" altLang="ko-KR" sz="3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16.79</a:t>
                      </a:r>
                      <a:endParaRPr lang="ko-KR" altLang="en-US" sz="3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16.40</a:t>
                      </a:r>
                      <a:endParaRPr lang="ko-KR" altLang="en-US" sz="3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15.94</a:t>
                      </a:r>
                      <a:endParaRPr lang="ko-KR" altLang="en-US" sz="3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122558"/>
                  </a:ext>
                </a:extLst>
              </a:tr>
              <a:tr h="12261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XGBoostRegression</a:t>
                      </a:r>
                      <a:endParaRPr lang="en-US" altLang="ko-KR" sz="3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17.68</a:t>
                      </a:r>
                      <a:endParaRPr lang="ko-KR" altLang="en-US" sz="3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15.92</a:t>
                      </a:r>
                      <a:endParaRPr lang="ko-KR" altLang="en-US" sz="3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15.67</a:t>
                      </a:r>
                      <a:endParaRPr lang="ko-KR" altLang="en-US" sz="3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126794"/>
                  </a:ext>
                </a:extLst>
              </a:tr>
              <a:tr h="12261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b="0" i="0" kern="1200" spc="-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RandomForestRegressor</a:t>
                      </a:r>
                      <a:endParaRPr lang="ko-KR" altLang="en-US" sz="3000" spc="-1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17.2</a:t>
                      </a:r>
                      <a:endParaRPr lang="ko-KR" altLang="en-US" sz="3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16.54</a:t>
                      </a:r>
                      <a:endParaRPr lang="ko-KR" altLang="en-US" sz="3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16.15</a:t>
                      </a:r>
                      <a:endParaRPr lang="ko-KR" altLang="en-US" sz="3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682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5728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81400" y="4229100"/>
            <a:ext cx="12039600" cy="1446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8800" dirty="0">
                <a:solidFill>
                  <a:srgbClr val="3B7DDD"/>
                </a:solidFill>
                <a:latin typeface="NanumSquare ExtraBold" pitchFamily="34" charset="0"/>
                <a:cs typeface="NanumSquare ExtraBold" pitchFamily="34" charset="0"/>
              </a:rPr>
              <a:t>05. </a:t>
            </a:r>
            <a:r>
              <a:rPr lang="ko-KR" altLang="en-US" sz="8800" dirty="0">
                <a:solidFill>
                  <a:srgbClr val="3B7DDD"/>
                </a:solidFill>
                <a:latin typeface="NanumSquare ExtraBold" pitchFamily="34" charset="0"/>
                <a:cs typeface="NanumSquare ExtraBold" pitchFamily="34" charset="0"/>
              </a:rPr>
              <a:t>결과분석</a:t>
            </a:r>
            <a:r>
              <a:rPr lang="en-US" altLang="ko-KR" sz="8800" dirty="0">
                <a:solidFill>
                  <a:srgbClr val="3B7DDD"/>
                </a:solidFill>
                <a:latin typeface="NanumSquare ExtraBold" pitchFamily="34" charset="0"/>
                <a:cs typeface="NanumSquare ExtraBold" pitchFamily="34" charset="0"/>
              </a:rPr>
              <a:t>, </a:t>
            </a:r>
            <a:r>
              <a:rPr lang="ko-KR" altLang="en-US" sz="8800" dirty="0">
                <a:solidFill>
                  <a:srgbClr val="3B7DDD"/>
                </a:solidFill>
                <a:latin typeface="NanumSquare ExtraBold" pitchFamily="34" charset="0"/>
                <a:cs typeface="NanumSquare ExtraBold" pitchFamily="34" charset="0"/>
              </a:rPr>
              <a:t>성과분석</a:t>
            </a:r>
            <a:endParaRPr lang="en-US" altLang="ko-KR" sz="8800" dirty="0"/>
          </a:p>
        </p:txBody>
      </p:sp>
      <p:grpSp>
        <p:nvGrpSpPr>
          <p:cNvPr id="11" name="그룹 1001">
            <a:extLst>
              <a:ext uri="{FF2B5EF4-FFF2-40B4-BE49-F238E27FC236}">
                <a16:creationId xmlns:a16="http://schemas.microsoft.com/office/drawing/2014/main" id="{7C5E4EA1-4E27-48DA-987E-53F1854A0E60}"/>
              </a:ext>
            </a:extLst>
          </p:cNvPr>
          <p:cNvGrpSpPr/>
          <p:nvPr/>
        </p:nvGrpSpPr>
        <p:grpSpPr>
          <a:xfrm rot="10800000">
            <a:off x="1066800" y="7734300"/>
            <a:ext cx="16284590" cy="2724340"/>
            <a:chOff x="1000562" y="0"/>
            <a:chExt cx="16284590" cy="2724340"/>
          </a:xfrm>
        </p:grpSpPr>
        <p:pic>
          <p:nvPicPr>
            <p:cNvPr id="14" name="Object 2">
              <a:extLst>
                <a:ext uri="{FF2B5EF4-FFF2-40B4-BE49-F238E27FC236}">
                  <a16:creationId xmlns:a16="http://schemas.microsoft.com/office/drawing/2014/main" id="{0F2299E9-D02F-4BDB-AC16-B7674654B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0562" y="0"/>
              <a:ext cx="16284590" cy="27243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7688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282810" y="628053"/>
            <a:ext cx="724478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</a:rPr>
              <a:t>결과분석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722" y="540002"/>
            <a:ext cx="91837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05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grpSp>
        <p:nvGrpSpPr>
          <p:cNvPr id="11" name="그룹 1007">
            <a:extLst>
              <a:ext uri="{FF2B5EF4-FFF2-40B4-BE49-F238E27FC236}">
                <a16:creationId xmlns:a16="http://schemas.microsoft.com/office/drawing/2014/main" id="{EF8878B3-CF28-42E9-A2BC-5A22D8FDC21E}"/>
              </a:ext>
            </a:extLst>
          </p:cNvPr>
          <p:cNvGrpSpPr/>
          <p:nvPr/>
        </p:nvGrpSpPr>
        <p:grpSpPr>
          <a:xfrm>
            <a:off x="613096" y="989975"/>
            <a:ext cx="4797104" cy="126239"/>
            <a:chOff x="5759157" y="6303999"/>
            <a:chExt cx="821477" cy="95238"/>
          </a:xfrm>
        </p:grpSpPr>
        <p:pic>
          <p:nvPicPr>
            <p:cNvPr id="12" name="Object 25">
              <a:extLst>
                <a:ext uri="{FF2B5EF4-FFF2-40B4-BE49-F238E27FC236}">
                  <a16:creationId xmlns:a16="http://schemas.microsoft.com/office/drawing/2014/main" id="{D414F645-1007-4893-8B6C-008F9331B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157" y="6303999"/>
              <a:ext cx="821477" cy="95238"/>
            </a:xfrm>
            <a:prstGeom prst="rect">
              <a:avLst/>
            </a:prstGeom>
          </p:spPr>
        </p:pic>
      </p:grpSp>
      <p:graphicFrame>
        <p:nvGraphicFramePr>
          <p:cNvPr id="6" name="표 7">
            <a:extLst>
              <a:ext uri="{FF2B5EF4-FFF2-40B4-BE49-F238E27FC236}">
                <a16:creationId xmlns:a16="http://schemas.microsoft.com/office/drawing/2014/main" id="{C1C8A435-DBEA-6299-0905-39A8E117B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007259"/>
              </p:ext>
            </p:extLst>
          </p:nvPr>
        </p:nvGraphicFramePr>
        <p:xfrm>
          <a:off x="1059024" y="2159931"/>
          <a:ext cx="6565981" cy="5689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776">
                  <a:extLst>
                    <a:ext uri="{9D8B030D-6E8A-4147-A177-3AD203B41FA5}">
                      <a16:colId xmlns:a16="http://schemas.microsoft.com/office/drawing/2014/main" val="388326904"/>
                    </a:ext>
                  </a:extLst>
                </a:gridCol>
                <a:gridCol w="3891205">
                  <a:extLst>
                    <a:ext uri="{9D8B030D-6E8A-4147-A177-3AD203B41FA5}">
                      <a16:colId xmlns:a16="http://schemas.microsoft.com/office/drawing/2014/main" val="3621404788"/>
                    </a:ext>
                  </a:extLst>
                </a:gridCol>
              </a:tblGrid>
              <a:tr h="14222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spc="-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Regression</a:t>
                      </a:r>
                      <a:r>
                        <a:rPr lang="ko-KR" altLang="en-US" sz="3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3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Models</a:t>
                      </a:r>
                      <a:endParaRPr lang="ko-KR" altLang="en-US" sz="3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Results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파생변수 적용 후</a:t>
                      </a:r>
                      <a:r>
                        <a:rPr lang="en-US" altLang="ko-KR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097032"/>
                  </a:ext>
                </a:extLst>
              </a:tr>
              <a:tr h="14222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</a:t>
                      </a:r>
                      <a:endParaRPr lang="en-US" altLang="ko-KR" sz="3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15.992</a:t>
                      </a:r>
                      <a:endParaRPr lang="ko-KR" altLang="en-US" sz="3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122558"/>
                  </a:ext>
                </a:extLst>
              </a:tr>
              <a:tr h="14222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endParaRPr lang="en-US" altLang="ko-KR" sz="3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Regression</a:t>
                      </a:r>
                      <a:endParaRPr lang="en-US" altLang="ko-KR" sz="3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15.70</a:t>
                      </a:r>
                      <a:endParaRPr lang="ko-KR" altLang="en-US" sz="3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126794"/>
                  </a:ext>
                </a:extLst>
              </a:tr>
              <a:tr h="14222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b="0" i="0" kern="1200" spc="-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</a:t>
                      </a:r>
                    </a:p>
                    <a:p>
                      <a:pPr algn="ctr" latinLnBrk="1"/>
                      <a:r>
                        <a:rPr lang="en-US" altLang="ko-KR" sz="3000" b="0" i="0" kern="1200" spc="-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ForestRegressor</a:t>
                      </a:r>
                      <a:endParaRPr lang="ko-KR" altLang="en-US" sz="3000" spc="-1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37160" marR="137160" marT="68580" marB="6858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16.15</a:t>
                      </a:r>
                      <a:endParaRPr lang="ko-KR" altLang="en-US" sz="3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682185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7281B6EC-6F66-2DF9-B5C6-D69540AC9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587" y="1566506"/>
            <a:ext cx="4603864" cy="291907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A7986FD-1AA9-ADE4-A4C9-8291D6AE4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5324" y="1576253"/>
            <a:ext cx="4463419" cy="278015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008F33C-C613-18D2-AA60-323C5E71C8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0305" y="4586748"/>
            <a:ext cx="3466430" cy="347145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E40B7FB-733F-32B9-257E-51924CE6F6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3606" y="4610100"/>
            <a:ext cx="3931780" cy="397138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29C97A1-68F8-5AD7-68D7-44E300336C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96369" y="5620823"/>
            <a:ext cx="2771775" cy="254317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7E4C90-840D-04CF-ABA8-FE06E94A1FEB}"/>
              </a:ext>
            </a:extLst>
          </p:cNvPr>
          <p:cNvSpPr txBox="1"/>
          <p:nvPr/>
        </p:nvSpPr>
        <p:spPr>
          <a:xfrm flipH="1">
            <a:off x="2743200" y="8664154"/>
            <a:ext cx="13484942" cy="1235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ko-KR" altLang="en-US" sz="4000" dirty="0">
                <a:latin typeface="나눔스퀘어 ExtraBold."/>
              </a:rPr>
              <a:t>중요점</a:t>
            </a:r>
            <a:r>
              <a:rPr lang="en-US" altLang="ko-KR" sz="4000" dirty="0">
                <a:latin typeface="나눔스퀘어 ExtraBold."/>
              </a:rPr>
              <a:t>. </a:t>
            </a:r>
            <a:r>
              <a:rPr lang="ko-KR" altLang="en-US" sz="4000" dirty="0">
                <a:latin typeface="나눔스퀘어 ExtraBold."/>
              </a:rPr>
              <a:t>결과분석시 성능지표 뿐 아니라 </a:t>
            </a:r>
            <a:r>
              <a:rPr lang="ko-KR" altLang="en-US" sz="4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나눔스퀘어 ExtraBold."/>
              </a:rPr>
              <a:t>피처 변화 분석</a:t>
            </a:r>
            <a:endParaRPr lang="en-US" altLang="ko-KR" sz="4000" b="1" dirty="0">
              <a:solidFill>
                <a:schemeClr val="tx2">
                  <a:lumMod val="60000"/>
                  <a:lumOff val="40000"/>
                </a:schemeClr>
              </a:solidFill>
              <a:latin typeface="나눔스퀘어 ExtraBold."/>
            </a:endParaRP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01872C2E-CD3D-3F6A-489E-BA207A3B4FC9}"/>
              </a:ext>
            </a:extLst>
          </p:cNvPr>
          <p:cNvSpPr/>
          <p:nvPr/>
        </p:nvSpPr>
        <p:spPr>
          <a:xfrm>
            <a:off x="1282392" y="9068887"/>
            <a:ext cx="838200" cy="717298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십자형 24">
            <a:extLst>
              <a:ext uri="{FF2B5EF4-FFF2-40B4-BE49-F238E27FC236}">
                <a16:creationId xmlns:a16="http://schemas.microsoft.com/office/drawing/2014/main" id="{388EE7CD-7129-A1CE-9320-BF8C1F4881FD}"/>
              </a:ext>
            </a:extLst>
          </p:cNvPr>
          <p:cNvSpPr/>
          <p:nvPr/>
        </p:nvSpPr>
        <p:spPr>
          <a:xfrm>
            <a:off x="7861004" y="4152819"/>
            <a:ext cx="832060" cy="851680"/>
          </a:xfrm>
          <a:prstGeom prst="plus">
            <a:avLst>
              <a:gd name="adj" fmla="val 372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bject 17">
            <a:extLst>
              <a:ext uri="{FF2B5EF4-FFF2-40B4-BE49-F238E27FC236}">
                <a16:creationId xmlns:a16="http://schemas.microsoft.com/office/drawing/2014/main" id="{74EC02F8-F17C-3F37-D5BD-331B63422218}"/>
              </a:ext>
            </a:extLst>
          </p:cNvPr>
          <p:cNvSpPr txBox="1"/>
          <p:nvPr/>
        </p:nvSpPr>
        <p:spPr>
          <a:xfrm>
            <a:off x="1282392" y="1296745"/>
            <a:ext cx="9119156" cy="6771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3800" dirty="0">
                <a:solidFill>
                  <a:srgbClr val="3B7DDD"/>
                </a:solidFill>
                <a:latin typeface="NanumSquare ExtraBold" pitchFamily="34" charset="0"/>
                <a:cs typeface="NanumSquare ExtraBold" pitchFamily="34" charset="0"/>
              </a:rPr>
              <a:t>성능지표와 피처분석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35374471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282810" y="628053"/>
            <a:ext cx="724478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</a:rPr>
              <a:t>결과분석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722" y="540002"/>
            <a:ext cx="91837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05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grpSp>
        <p:nvGrpSpPr>
          <p:cNvPr id="11" name="그룹 1007">
            <a:extLst>
              <a:ext uri="{FF2B5EF4-FFF2-40B4-BE49-F238E27FC236}">
                <a16:creationId xmlns:a16="http://schemas.microsoft.com/office/drawing/2014/main" id="{EF8878B3-CF28-42E9-A2BC-5A22D8FDC21E}"/>
              </a:ext>
            </a:extLst>
          </p:cNvPr>
          <p:cNvGrpSpPr/>
          <p:nvPr/>
        </p:nvGrpSpPr>
        <p:grpSpPr>
          <a:xfrm>
            <a:off x="613096" y="989975"/>
            <a:ext cx="4797104" cy="126239"/>
            <a:chOff x="5759157" y="6303999"/>
            <a:chExt cx="821477" cy="95238"/>
          </a:xfrm>
        </p:grpSpPr>
        <p:pic>
          <p:nvPicPr>
            <p:cNvPr id="12" name="Object 25">
              <a:extLst>
                <a:ext uri="{FF2B5EF4-FFF2-40B4-BE49-F238E27FC236}">
                  <a16:creationId xmlns:a16="http://schemas.microsoft.com/office/drawing/2014/main" id="{D414F645-1007-4893-8B6C-008F9331B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157" y="6303999"/>
              <a:ext cx="821477" cy="95238"/>
            </a:xfrm>
            <a:prstGeom prst="rect">
              <a:avLst/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7BE1E1B2-A550-001F-BA52-20972F812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847" y="2529534"/>
            <a:ext cx="4797104" cy="479519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2C2D5E3-139A-1392-C6C6-D22F2E3093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1172" y="2461939"/>
            <a:ext cx="6114567" cy="468397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2663C6-4966-17CB-52E7-0E976CE022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882" y="2507442"/>
            <a:ext cx="4717764" cy="431245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5663D2E-5B8D-E5CC-8222-5DECA0D38946}"/>
              </a:ext>
            </a:extLst>
          </p:cNvPr>
          <p:cNvSpPr txBox="1"/>
          <p:nvPr/>
        </p:nvSpPr>
        <p:spPr>
          <a:xfrm flipH="1">
            <a:off x="588225" y="7500659"/>
            <a:ext cx="6489422" cy="224433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1. </a:t>
            </a:r>
            <a:r>
              <a:rPr lang="ko-KR" altLang="en-US" dirty="0" err="1"/>
              <a:t>피처별</a:t>
            </a:r>
            <a:r>
              <a:rPr lang="ko-KR" altLang="en-US" dirty="0"/>
              <a:t> 기여도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피처중요도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피처값의</a:t>
            </a:r>
            <a:r>
              <a:rPr lang="ko-KR" altLang="en-US" dirty="0"/>
              <a:t> 변량으로 측정</a:t>
            </a:r>
            <a:r>
              <a:rPr lang="en-US" altLang="ko-KR" dirty="0"/>
              <a:t>, </a:t>
            </a:r>
            <a:r>
              <a:rPr lang="ko-KR" altLang="en-US" dirty="0" err="1"/>
              <a:t>아웃라이어</a:t>
            </a:r>
            <a:r>
              <a:rPr lang="ko-KR" altLang="en-US" dirty="0"/>
              <a:t> 적게 반영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 </a:t>
            </a:r>
            <a:r>
              <a:rPr lang="en-US" altLang="ko-KR" dirty="0"/>
              <a:t>	      </a:t>
            </a:r>
            <a:r>
              <a:rPr lang="ko-KR" altLang="en-US" dirty="0"/>
              <a:t>각 피처가 서로 독립적일때 이상적으로 작동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★ </a:t>
            </a:r>
            <a:r>
              <a:rPr lang="ko-KR" altLang="en-US" dirty="0"/>
              <a:t>피처간 상관관계가 있을 때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과소평가</a:t>
            </a:r>
            <a:r>
              <a:rPr lang="ko-KR" altLang="en-US" dirty="0"/>
              <a:t>되는 </a:t>
            </a:r>
            <a:r>
              <a:rPr lang="ko-KR" alt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피처</a:t>
            </a:r>
            <a:r>
              <a:rPr lang="ko-KR" altLang="en-US" dirty="0"/>
              <a:t> 존재</a:t>
            </a:r>
            <a:endParaRPr lang="en-US" altLang="ko-K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B75152-F843-FBF7-E5A3-89FF5B6D4738}"/>
              </a:ext>
            </a:extLst>
          </p:cNvPr>
          <p:cNvSpPr txBox="1"/>
          <p:nvPr/>
        </p:nvSpPr>
        <p:spPr>
          <a:xfrm flipH="1">
            <a:off x="12356756" y="7501887"/>
            <a:ext cx="4343400" cy="16665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2. </a:t>
            </a:r>
            <a:r>
              <a:rPr lang="ko-KR" altLang="en-US" dirty="0"/>
              <a:t>각 피처의 </a:t>
            </a:r>
            <a:r>
              <a:rPr lang="ko-KR" alt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스케일별 영향력 계산</a:t>
            </a:r>
            <a:endParaRPr lang="en-US" altLang="ko-KR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dirty="0" err="1"/>
              <a:t>아웃라이어에</a:t>
            </a:r>
            <a:r>
              <a:rPr lang="ko-KR" altLang="en-US" dirty="0"/>
              <a:t> 약함</a:t>
            </a:r>
            <a:r>
              <a:rPr lang="en-US" altLang="ko-KR" dirty="0"/>
              <a:t>, </a:t>
            </a:r>
            <a:r>
              <a:rPr lang="ko-KR" altLang="en-US" dirty="0"/>
              <a:t>샘플계산이 오래 걸림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피처별로 스케일이 변함에 따라 모델에 어떤 영향을 미치는지 쉽게 파악 가능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D59807-5285-A631-C421-23A9D799E4E4}"/>
              </a:ext>
            </a:extLst>
          </p:cNvPr>
          <p:cNvSpPr txBox="1"/>
          <p:nvPr/>
        </p:nvSpPr>
        <p:spPr>
          <a:xfrm flipH="1">
            <a:off x="6972300" y="7145912"/>
            <a:ext cx="4343400" cy="7094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dirty="0"/>
              <a:t>각 피처의 기여도 백분율 수치</a:t>
            </a:r>
            <a:endParaRPr lang="en-US" altLang="ko-KR" dirty="0"/>
          </a:p>
        </p:txBody>
      </p:sp>
      <p:sp>
        <p:nvSpPr>
          <p:cNvPr id="2" name="Object 17">
            <a:extLst>
              <a:ext uri="{FF2B5EF4-FFF2-40B4-BE49-F238E27FC236}">
                <a16:creationId xmlns:a16="http://schemas.microsoft.com/office/drawing/2014/main" id="{7FDEF5F9-0A74-9187-4B32-C6F4FE68EDDA}"/>
              </a:ext>
            </a:extLst>
          </p:cNvPr>
          <p:cNvSpPr txBox="1"/>
          <p:nvPr/>
        </p:nvSpPr>
        <p:spPr>
          <a:xfrm>
            <a:off x="1331981" y="1521994"/>
            <a:ext cx="9119156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500" dirty="0">
                <a:solidFill>
                  <a:srgbClr val="3B7DDD"/>
                </a:solidFill>
                <a:latin typeface="NanumSquare ExtraBold" pitchFamily="34" charset="0"/>
                <a:cs typeface="NanumSquare ExtraBold" pitchFamily="34" charset="0"/>
              </a:rPr>
              <a:t>Feature</a:t>
            </a:r>
            <a:endParaRPr lang="en-US" dirty="0"/>
          </a:p>
        </p:txBody>
      </p:sp>
      <p:grpSp>
        <p:nvGrpSpPr>
          <p:cNvPr id="3" name="그룹 1001">
            <a:extLst>
              <a:ext uri="{FF2B5EF4-FFF2-40B4-BE49-F238E27FC236}">
                <a16:creationId xmlns:a16="http://schemas.microsoft.com/office/drawing/2014/main" id="{C53FB14C-3269-267B-DADF-CD27D557A9DA}"/>
              </a:ext>
            </a:extLst>
          </p:cNvPr>
          <p:cNvGrpSpPr/>
          <p:nvPr/>
        </p:nvGrpSpPr>
        <p:grpSpPr>
          <a:xfrm>
            <a:off x="1020907" y="9432949"/>
            <a:ext cx="16284590" cy="1025987"/>
            <a:chOff x="867846" y="9325428"/>
            <a:chExt cx="16284590" cy="1025987"/>
          </a:xfrm>
        </p:grpSpPr>
        <p:pic>
          <p:nvPicPr>
            <p:cNvPr id="4" name="Object 2">
              <a:extLst>
                <a:ext uri="{FF2B5EF4-FFF2-40B4-BE49-F238E27FC236}">
                  <a16:creationId xmlns:a16="http://schemas.microsoft.com/office/drawing/2014/main" id="{1BE80DCE-7C27-AFF9-FC7E-62D0F9362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7846" y="9325428"/>
              <a:ext cx="16284590" cy="10259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13163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38200" y="9351137"/>
            <a:ext cx="16284590" cy="1025987"/>
            <a:chOff x="867846" y="9325428"/>
            <a:chExt cx="16284590" cy="102598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846" y="9325428"/>
              <a:ext cx="16284590" cy="102598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61722" y="540002"/>
            <a:ext cx="91837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05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grpSp>
        <p:nvGrpSpPr>
          <p:cNvPr id="11" name="그룹 1007">
            <a:extLst>
              <a:ext uri="{FF2B5EF4-FFF2-40B4-BE49-F238E27FC236}">
                <a16:creationId xmlns:a16="http://schemas.microsoft.com/office/drawing/2014/main" id="{EF8878B3-CF28-42E9-A2BC-5A22D8FDC21E}"/>
              </a:ext>
            </a:extLst>
          </p:cNvPr>
          <p:cNvGrpSpPr/>
          <p:nvPr/>
        </p:nvGrpSpPr>
        <p:grpSpPr>
          <a:xfrm>
            <a:off x="613096" y="989975"/>
            <a:ext cx="4797104" cy="126239"/>
            <a:chOff x="5759157" y="6303999"/>
            <a:chExt cx="821477" cy="95238"/>
          </a:xfrm>
        </p:grpSpPr>
        <p:pic>
          <p:nvPicPr>
            <p:cNvPr id="12" name="Object 25">
              <a:extLst>
                <a:ext uri="{FF2B5EF4-FFF2-40B4-BE49-F238E27FC236}">
                  <a16:creationId xmlns:a16="http://schemas.microsoft.com/office/drawing/2014/main" id="{D414F645-1007-4893-8B6C-008F9331B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9157" y="6303999"/>
              <a:ext cx="821477" cy="95238"/>
            </a:xfrm>
            <a:prstGeom prst="rect">
              <a:avLst/>
            </a:prstGeom>
          </p:spPr>
        </p:pic>
      </p:grpSp>
      <p:sp>
        <p:nvSpPr>
          <p:cNvPr id="4" name="Object 9">
            <a:extLst>
              <a:ext uri="{FF2B5EF4-FFF2-40B4-BE49-F238E27FC236}">
                <a16:creationId xmlns:a16="http://schemas.microsoft.com/office/drawing/2014/main" id="{A9EA3B2B-1BF6-74CC-BF10-82495908E18C}"/>
              </a:ext>
            </a:extLst>
          </p:cNvPr>
          <p:cNvSpPr txBox="1"/>
          <p:nvPr/>
        </p:nvSpPr>
        <p:spPr>
          <a:xfrm>
            <a:off x="1331981" y="589865"/>
            <a:ext cx="724478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</a:rPr>
              <a:t>결과분석</a:t>
            </a:r>
            <a:r>
              <a:rPr lang="en-US" altLang="ko-KR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</a:rPr>
              <a:t>(</a:t>
            </a:r>
            <a:r>
              <a:rPr lang="en-US" altLang="ko-KR" sz="2000" dirty="0" err="1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</a:rPr>
              <a:t>xgboost</a:t>
            </a:r>
            <a:r>
              <a:rPr lang="en-US" altLang="ko-KR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</a:rPr>
              <a:t>)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6713D45-CCFC-5A04-3401-C26457E50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3823" y="2464561"/>
            <a:ext cx="3076575" cy="385762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624128B-3B60-D2BE-F393-1F82CF6F4F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3823" y="6448425"/>
            <a:ext cx="3295650" cy="38004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B9118C4-BFD0-7424-83FD-1C2E2AF245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1325" y="3211600"/>
            <a:ext cx="9867900" cy="149542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22913C4-BFC0-96AD-563B-76DB67455B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0775" y="7336762"/>
            <a:ext cx="10420350" cy="1476375"/>
          </a:xfrm>
          <a:prstGeom prst="rect">
            <a:avLst/>
          </a:prstGeom>
        </p:spPr>
      </p:pic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CB171BA8-AA7D-70F6-4D87-85E6A98B04BD}"/>
              </a:ext>
            </a:extLst>
          </p:cNvPr>
          <p:cNvSpPr/>
          <p:nvPr/>
        </p:nvSpPr>
        <p:spPr>
          <a:xfrm>
            <a:off x="5156889" y="3822319"/>
            <a:ext cx="913028" cy="5710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E4407E8C-C1B5-4E08-E925-1F2D1E63CB45}"/>
              </a:ext>
            </a:extLst>
          </p:cNvPr>
          <p:cNvSpPr/>
          <p:nvPr/>
        </p:nvSpPr>
        <p:spPr>
          <a:xfrm>
            <a:off x="4954372" y="7815468"/>
            <a:ext cx="913028" cy="5710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bject 17">
            <a:extLst>
              <a:ext uri="{FF2B5EF4-FFF2-40B4-BE49-F238E27FC236}">
                <a16:creationId xmlns:a16="http://schemas.microsoft.com/office/drawing/2014/main" id="{5991BE25-EE20-B43A-9B35-276F0333EDA5}"/>
              </a:ext>
            </a:extLst>
          </p:cNvPr>
          <p:cNvSpPr txBox="1"/>
          <p:nvPr/>
        </p:nvSpPr>
        <p:spPr>
          <a:xfrm>
            <a:off x="1143000" y="1260254"/>
            <a:ext cx="12748876" cy="11079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Credit Score </a:t>
            </a:r>
            <a:r>
              <a:rPr lang="ko-KR" altLang="en-US" sz="4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비교</a:t>
            </a:r>
            <a:endParaRPr lang="ko-KR" altLang="en-US" sz="1800" b="1" spc="-4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endParaRPr lang="en-US" dirty="0"/>
          </a:p>
        </p:txBody>
      </p:sp>
      <p:sp>
        <p:nvSpPr>
          <p:cNvPr id="6" name="Object 17">
            <a:extLst>
              <a:ext uri="{FF2B5EF4-FFF2-40B4-BE49-F238E27FC236}">
                <a16:creationId xmlns:a16="http://schemas.microsoft.com/office/drawing/2014/main" id="{BD512171-FEA0-8F3B-53D6-8AA12FAB3B01}"/>
              </a:ext>
            </a:extLst>
          </p:cNvPr>
          <p:cNvSpPr txBox="1"/>
          <p:nvPr/>
        </p:nvSpPr>
        <p:spPr>
          <a:xfrm>
            <a:off x="4954372" y="4619691"/>
            <a:ext cx="10920076" cy="25662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SHAP?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600" b="0" i="0" dirty="0">
                <a:solidFill>
                  <a:srgbClr val="0070C0"/>
                </a:solidFill>
                <a:effectLst/>
                <a:latin typeface="Söhne"/>
              </a:rPr>
              <a:t>모델 예측의 기여도</a:t>
            </a:r>
            <a:r>
              <a:rPr lang="ko-KR" altLang="en-US" sz="2600" b="0" i="0" dirty="0">
                <a:solidFill>
                  <a:srgbClr val="374151"/>
                </a:solidFill>
                <a:effectLst/>
                <a:latin typeface="Söhne"/>
              </a:rPr>
              <a:t>를 구하기 위해 </a:t>
            </a:r>
            <a:r>
              <a:rPr lang="ko-KR" altLang="en-US" sz="2600" b="0" i="0" dirty="0" err="1">
                <a:solidFill>
                  <a:srgbClr val="374151"/>
                </a:solidFill>
                <a:effectLst/>
                <a:latin typeface="Söhne"/>
              </a:rPr>
              <a:t>샤플리</a:t>
            </a:r>
            <a:r>
              <a:rPr lang="en-US" altLang="ko-KR" sz="2600" b="0" i="0" dirty="0">
                <a:solidFill>
                  <a:srgbClr val="374151"/>
                </a:solidFill>
                <a:effectLst/>
                <a:latin typeface="Söhne"/>
              </a:rPr>
              <a:t>(Shapley) </a:t>
            </a:r>
            <a:r>
              <a:rPr lang="ko-KR" altLang="en-US" sz="2600" b="0" i="0" dirty="0">
                <a:solidFill>
                  <a:srgbClr val="374151"/>
                </a:solidFill>
                <a:effectLst/>
                <a:latin typeface="Söhne"/>
              </a:rPr>
              <a:t>값 개념을 사용</a:t>
            </a:r>
            <a:endParaRPr lang="en-US" altLang="ko-KR" sz="2600" dirty="0">
              <a:solidFill>
                <a:srgbClr val="374151"/>
              </a:solidFill>
              <a:latin typeface="Söhne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600" b="0" i="0" dirty="0" err="1">
                <a:solidFill>
                  <a:srgbClr val="374151"/>
                </a:solidFill>
                <a:effectLst/>
                <a:latin typeface="Söhne"/>
              </a:rPr>
              <a:t>샤플리</a:t>
            </a:r>
            <a:r>
              <a:rPr lang="ko-KR" altLang="en-US" sz="2600" b="0" i="0" dirty="0">
                <a:solidFill>
                  <a:srgbClr val="374151"/>
                </a:solidFill>
                <a:effectLst/>
                <a:latin typeface="Söhne"/>
              </a:rPr>
              <a:t> 값은 합리적인 분배를 갖는 게임 이론에서 사용되는 개념으로</a:t>
            </a:r>
            <a:r>
              <a:rPr lang="en-US" altLang="ko-KR" sz="2600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2600" b="1" i="0" dirty="0">
                <a:solidFill>
                  <a:srgbClr val="0070C0"/>
                </a:solidFill>
                <a:effectLst/>
                <a:latin typeface="Söhne"/>
              </a:rPr>
              <a:t>각 기능</a:t>
            </a:r>
            <a:r>
              <a:rPr lang="en-US" altLang="ko-KR" sz="2600" b="1" i="0" dirty="0">
                <a:solidFill>
                  <a:srgbClr val="0070C0"/>
                </a:solidFill>
                <a:effectLst/>
                <a:latin typeface="Söhne"/>
              </a:rPr>
              <a:t>(</a:t>
            </a:r>
            <a:r>
              <a:rPr lang="ko-KR" altLang="en-US" sz="2600" b="1" i="0" dirty="0">
                <a:solidFill>
                  <a:srgbClr val="0070C0"/>
                </a:solidFill>
                <a:effectLst/>
                <a:latin typeface="Söhne"/>
              </a:rPr>
              <a:t>특성</a:t>
            </a:r>
            <a:r>
              <a:rPr lang="en-US" altLang="ko-KR" sz="2600" b="1" i="0" dirty="0">
                <a:solidFill>
                  <a:srgbClr val="0070C0"/>
                </a:solidFill>
                <a:effectLst/>
                <a:latin typeface="Söhne"/>
              </a:rPr>
              <a:t>)</a:t>
            </a:r>
            <a:r>
              <a:rPr lang="ko-KR" altLang="en-US" sz="2600" b="0" i="0" dirty="0">
                <a:solidFill>
                  <a:srgbClr val="374151"/>
                </a:solidFill>
                <a:effectLst/>
                <a:latin typeface="Söhne"/>
              </a:rPr>
              <a:t>이 예측 결과에 어떻게 </a:t>
            </a:r>
            <a:r>
              <a:rPr lang="ko-KR" altLang="en-US" sz="2600" b="1" dirty="0">
                <a:solidFill>
                  <a:srgbClr val="0070C0"/>
                </a:solidFill>
                <a:latin typeface="Söhne"/>
              </a:rPr>
              <a:t>기여</a:t>
            </a:r>
            <a:r>
              <a:rPr lang="ko-KR" altLang="en-US" sz="2600" dirty="0">
                <a:latin typeface="Söhne"/>
              </a:rPr>
              <a:t>하는지를</a:t>
            </a:r>
            <a:r>
              <a:rPr lang="ko-KR" altLang="en-US" sz="2600" b="0" i="0" dirty="0">
                <a:solidFill>
                  <a:srgbClr val="374151"/>
                </a:solidFill>
                <a:effectLst/>
                <a:latin typeface="Söhne"/>
              </a:rPr>
              <a:t> 분석</a:t>
            </a:r>
            <a:endParaRPr lang="en-US" altLang="ko-KR" sz="2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B6CE18-4315-5BF4-BF8F-4EFF3B7CBFED}"/>
              </a:ext>
            </a:extLst>
          </p:cNvPr>
          <p:cNvSpPr/>
          <p:nvPr/>
        </p:nvSpPr>
        <p:spPr>
          <a:xfrm>
            <a:off x="9372600" y="3929618"/>
            <a:ext cx="914400" cy="22328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D61995C-8E13-0619-91EB-9C941B875D87}"/>
              </a:ext>
            </a:extLst>
          </p:cNvPr>
          <p:cNvSpPr/>
          <p:nvPr/>
        </p:nvSpPr>
        <p:spPr>
          <a:xfrm>
            <a:off x="12420600" y="8039100"/>
            <a:ext cx="2209800" cy="2286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7953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67846" y="9325428"/>
            <a:ext cx="16284590" cy="1025987"/>
            <a:chOff x="867846" y="9325428"/>
            <a:chExt cx="16284590" cy="102598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846" y="9325428"/>
              <a:ext cx="16284590" cy="102598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61722" y="540002"/>
            <a:ext cx="91837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05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grpSp>
        <p:nvGrpSpPr>
          <p:cNvPr id="11" name="그룹 1007">
            <a:extLst>
              <a:ext uri="{FF2B5EF4-FFF2-40B4-BE49-F238E27FC236}">
                <a16:creationId xmlns:a16="http://schemas.microsoft.com/office/drawing/2014/main" id="{EF8878B3-CF28-42E9-A2BC-5A22D8FDC21E}"/>
              </a:ext>
            </a:extLst>
          </p:cNvPr>
          <p:cNvGrpSpPr/>
          <p:nvPr/>
        </p:nvGrpSpPr>
        <p:grpSpPr>
          <a:xfrm>
            <a:off x="613096" y="989975"/>
            <a:ext cx="4797104" cy="126239"/>
            <a:chOff x="5759157" y="6303999"/>
            <a:chExt cx="821477" cy="95238"/>
          </a:xfrm>
        </p:grpSpPr>
        <p:pic>
          <p:nvPicPr>
            <p:cNvPr id="12" name="Object 25">
              <a:extLst>
                <a:ext uri="{FF2B5EF4-FFF2-40B4-BE49-F238E27FC236}">
                  <a16:creationId xmlns:a16="http://schemas.microsoft.com/office/drawing/2014/main" id="{D414F645-1007-4893-8B6C-008F9331B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9157" y="6303999"/>
              <a:ext cx="821477" cy="95238"/>
            </a:xfrm>
            <a:prstGeom prst="rect">
              <a:avLst/>
            </a:prstGeom>
          </p:spPr>
        </p:pic>
      </p:grpSp>
      <p:sp>
        <p:nvSpPr>
          <p:cNvPr id="2" name="Object 9">
            <a:extLst>
              <a:ext uri="{FF2B5EF4-FFF2-40B4-BE49-F238E27FC236}">
                <a16:creationId xmlns:a16="http://schemas.microsoft.com/office/drawing/2014/main" id="{C3FE4988-9C79-33F5-7716-05A55EDB43A2}"/>
              </a:ext>
            </a:extLst>
          </p:cNvPr>
          <p:cNvSpPr txBox="1"/>
          <p:nvPr/>
        </p:nvSpPr>
        <p:spPr>
          <a:xfrm>
            <a:off x="1331981" y="589865"/>
            <a:ext cx="724478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</a:rPr>
              <a:t>결과분석</a:t>
            </a:r>
            <a:r>
              <a:rPr lang="en-US" altLang="ko-KR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</a:rPr>
              <a:t>(</a:t>
            </a:r>
            <a:r>
              <a:rPr lang="en-US" altLang="ko-KR" sz="2000" dirty="0" err="1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</a:rPr>
              <a:t>xgboost</a:t>
            </a:r>
            <a:r>
              <a:rPr lang="en-US" altLang="ko-KR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</a:rPr>
              <a:t>)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2B6170B-CFC0-76FD-F36A-80B647E74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038" y="2239531"/>
            <a:ext cx="5810961" cy="592619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8D53AB7-12AD-F5B4-0165-71EC9860E5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4483" y="2047980"/>
            <a:ext cx="5912316" cy="6191039"/>
          </a:xfrm>
          <a:prstGeom prst="rect">
            <a:avLst/>
          </a:prstGeom>
        </p:spPr>
      </p:pic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2E03E38F-74D4-21E1-D9E3-384AA72765D8}"/>
              </a:ext>
            </a:extLst>
          </p:cNvPr>
          <p:cNvSpPr/>
          <p:nvPr/>
        </p:nvSpPr>
        <p:spPr>
          <a:xfrm>
            <a:off x="8718562" y="4751094"/>
            <a:ext cx="780109" cy="5063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C174A-2C64-CFB3-5841-7A2B3E6691AE}"/>
              </a:ext>
            </a:extLst>
          </p:cNvPr>
          <p:cNvSpPr txBox="1"/>
          <p:nvPr/>
        </p:nvSpPr>
        <p:spPr>
          <a:xfrm flipH="1">
            <a:off x="2035683" y="8581531"/>
            <a:ext cx="14296368" cy="1235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r>
              <a:rPr lang="ko-KR" altLang="en-US" sz="4000" dirty="0"/>
              <a:t>피처 중요도가 가장 높은 변수로 생성 </a:t>
            </a:r>
            <a:r>
              <a:rPr lang="en-US" altLang="ko-KR" sz="4000" dirty="0"/>
              <a:t>– </a:t>
            </a:r>
            <a:r>
              <a:rPr lang="ko-KR" altLang="en-US" sz="4000" dirty="0"/>
              <a:t>피처 중요도 변화 확인</a:t>
            </a:r>
            <a:endParaRPr lang="en-US" altLang="ko-KR" sz="4000" dirty="0"/>
          </a:p>
        </p:txBody>
      </p:sp>
      <p:sp>
        <p:nvSpPr>
          <p:cNvPr id="8" name="Object 17">
            <a:extLst>
              <a:ext uri="{FF2B5EF4-FFF2-40B4-BE49-F238E27FC236}">
                <a16:creationId xmlns:a16="http://schemas.microsoft.com/office/drawing/2014/main" id="{E1635632-7618-3FB8-9372-F57957C9BCE6}"/>
              </a:ext>
            </a:extLst>
          </p:cNvPr>
          <p:cNvSpPr txBox="1"/>
          <p:nvPr/>
        </p:nvSpPr>
        <p:spPr>
          <a:xfrm>
            <a:off x="1143000" y="1260254"/>
            <a:ext cx="12748876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4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파생변수 생성 후 성능지표 변화</a:t>
            </a:r>
            <a:r>
              <a:rPr lang="en-US" altLang="ko-KR" sz="4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 </a:t>
            </a:r>
            <a:r>
              <a:rPr lang="ko-KR" altLang="en-US" sz="4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피처변화</a:t>
            </a:r>
            <a:endParaRPr lang="en-US" altLang="ko-KR" sz="4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24AA6E9-0FA9-BA19-4CED-7CAC8254A72B}"/>
              </a:ext>
            </a:extLst>
          </p:cNvPr>
          <p:cNvSpPr/>
          <p:nvPr/>
        </p:nvSpPr>
        <p:spPr>
          <a:xfrm>
            <a:off x="11430000" y="2552700"/>
            <a:ext cx="2819400" cy="364445"/>
          </a:xfrm>
          <a:prstGeom prst="rect">
            <a:avLst/>
          </a:prstGeom>
          <a:noFill/>
          <a:ln w="793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8235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18849" y="9007928"/>
            <a:ext cx="16284590" cy="1025987"/>
            <a:chOff x="867846" y="9325428"/>
            <a:chExt cx="16284590" cy="102598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846" y="9325428"/>
              <a:ext cx="16284590" cy="102598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61722" y="540002"/>
            <a:ext cx="91837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05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grpSp>
        <p:nvGrpSpPr>
          <p:cNvPr id="11" name="그룹 1007">
            <a:extLst>
              <a:ext uri="{FF2B5EF4-FFF2-40B4-BE49-F238E27FC236}">
                <a16:creationId xmlns:a16="http://schemas.microsoft.com/office/drawing/2014/main" id="{EF8878B3-CF28-42E9-A2BC-5A22D8FDC21E}"/>
              </a:ext>
            </a:extLst>
          </p:cNvPr>
          <p:cNvGrpSpPr/>
          <p:nvPr/>
        </p:nvGrpSpPr>
        <p:grpSpPr>
          <a:xfrm>
            <a:off x="613096" y="989975"/>
            <a:ext cx="4797104" cy="126239"/>
            <a:chOff x="5759157" y="6303999"/>
            <a:chExt cx="821477" cy="95238"/>
          </a:xfrm>
        </p:grpSpPr>
        <p:pic>
          <p:nvPicPr>
            <p:cNvPr id="12" name="Object 25">
              <a:extLst>
                <a:ext uri="{FF2B5EF4-FFF2-40B4-BE49-F238E27FC236}">
                  <a16:creationId xmlns:a16="http://schemas.microsoft.com/office/drawing/2014/main" id="{D414F645-1007-4893-8B6C-008F9331B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9157" y="6303999"/>
              <a:ext cx="821477" cy="95238"/>
            </a:xfrm>
            <a:prstGeom prst="rect">
              <a:avLst/>
            </a:prstGeom>
          </p:spPr>
        </p:pic>
      </p:grpSp>
      <p:sp>
        <p:nvSpPr>
          <p:cNvPr id="2" name="Object 9">
            <a:extLst>
              <a:ext uri="{FF2B5EF4-FFF2-40B4-BE49-F238E27FC236}">
                <a16:creationId xmlns:a16="http://schemas.microsoft.com/office/drawing/2014/main" id="{39E285DF-1687-575A-28D4-60EEAD7AEE39}"/>
              </a:ext>
            </a:extLst>
          </p:cNvPr>
          <p:cNvSpPr txBox="1"/>
          <p:nvPr/>
        </p:nvSpPr>
        <p:spPr>
          <a:xfrm>
            <a:off x="1331981" y="589865"/>
            <a:ext cx="724478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</a:rPr>
              <a:t>결과분석</a:t>
            </a:r>
            <a:r>
              <a:rPr lang="en-US" altLang="ko-KR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</a:rPr>
              <a:t>(</a:t>
            </a:r>
            <a:r>
              <a:rPr lang="en-US" altLang="ko-KR" sz="2000" dirty="0" err="1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</a:rPr>
              <a:t>xgboost</a:t>
            </a:r>
            <a:r>
              <a:rPr lang="en-US" altLang="ko-KR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</a:rPr>
              <a:t>)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BA67B49-8572-0E5F-3840-D80D6A15A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105845"/>
            <a:ext cx="3305175" cy="397192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3AC03B9-DD28-D918-6FC6-1E6216E7C9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6350000"/>
            <a:ext cx="3333750" cy="39243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D8839CD-2D2A-F9EA-28A9-4297314D35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6200" y="3480026"/>
            <a:ext cx="9867900" cy="145732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5ECC047-9005-DE71-E71F-08D08BB32E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5803" y="7648575"/>
            <a:ext cx="9634468" cy="1651663"/>
          </a:xfrm>
          <a:prstGeom prst="rect">
            <a:avLst/>
          </a:prstGeom>
        </p:spPr>
      </p:pic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0B6A8CC0-7815-1457-145F-4B91AEBDFA38}"/>
              </a:ext>
            </a:extLst>
          </p:cNvPr>
          <p:cNvSpPr/>
          <p:nvPr/>
        </p:nvSpPr>
        <p:spPr>
          <a:xfrm>
            <a:off x="5899712" y="3855302"/>
            <a:ext cx="913028" cy="5710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67B51ACF-6E73-2DF8-B351-3ABB980E5C57}"/>
              </a:ext>
            </a:extLst>
          </p:cNvPr>
          <p:cNvSpPr/>
          <p:nvPr/>
        </p:nvSpPr>
        <p:spPr>
          <a:xfrm>
            <a:off x="5899712" y="8199148"/>
            <a:ext cx="913028" cy="5710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Object 17">
            <a:extLst>
              <a:ext uri="{FF2B5EF4-FFF2-40B4-BE49-F238E27FC236}">
                <a16:creationId xmlns:a16="http://schemas.microsoft.com/office/drawing/2014/main" id="{29E2A824-5A1A-96EA-CE3B-CFCD9EC6AC9F}"/>
              </a:ext>
            </a:extLst>
          </p:cNvPr>
          <p:cNvSpPr txBox="1"/>
          <p:nvPr/>
        </p:nvSpPr>
        <p:spPr>
          <a:xfrm>
            <a:off x="1143000" y="1260254"/>
            <a:ext cx="12748876" cy="11079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4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Credit Score </a:t>
            </a:r>
            <a:r>
              <a:rPr lang="ko-KR" altLang="en-US" sz="43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비교 </a:t>
            </a:r>
            <a:r>
              <a:rPr lang="en-US" altLang="ko-KR" sz="43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</a:t>
            </a:r>
            <a:r>
              <a:rPr lang="ko-KR" altLang="en-US" sz="43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파생변수 적용 후</a:t>
            </a:r>
            <a:r>
              <a:rPr lang="en-US" altLang="ko-KR" sz="43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endParaRPr lang="ko-KR" altLang="en-US" sz="4300" b="1" spc="-4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CFB43-E75F-7419-ACA0-AE4FE15908AA}"/>
              </a:ext>
            </a:extLst>
          </p:cNvPr>
          <p:cNvSpPr txBox="1"/>
          <p:nvPr/>
        </p:nvSpPr>
        <p:spPr>
          <a:xfrm flipH="1">
            <a:off x="5361203" y="9258300"/>
            <a:ext cx="12523587" cy="11079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r>
              <a:rPr lang="ko-KR" altLang="en-US" sz="3000" dirty="0"/>
              <a:t>파생변수 적용 후</a:t>
            </a:r>
            <a:r>
              <a:rPr lang="en-US" altLang="ko-KR" sz="3000" dirty="0"/>
              <a:t>, </a:t>
            </a:r>
            <a:r>
              <a:rPr lang="ko-KR" altLang="en-US" sz="3000" dirty="0"/>
              <a:t>각 특성의 의존성이 달라졌음을</a:t>
            </a:r>
            <a:endParaRPr lang="en-US" altLang="ko-KR" sz="3000" dirty="0"/>
          </a:p>
          <a:p>
            <a:r>
              <a:rPr lang="en-US" altLang="ko-KR" sz="3000" dirty="0"/>
              <a:t> SHAP </a:t>
            </a:r>
            <a:r>
              <a:rPr lang="ko-KR" altLang="en-US" sz="3000" dirty="0"/>
              <a:t>값을 통해 알 수 있다</a:t>
            </a:r>
            <a:r>
              <a:rPr lang="en-US" altLang="ko-KR" sz="3000" dirty="0"/>
              <a:t>.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B071E3E-22A0-E385-C223-BB50C9FFA374}"/>
              </a:ext>
            </a:extLst>
          </p:cNvPr>
          <p:cNvSpPr/>
          <p:nvPr/>
        </p:nvSpPr>
        <p:spPr>
          <a:xfrm>
            <a:off x="9829800" y="4000500"/>
            <a:ext cx="1981200" cy="22829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88CD7F-93FD-BA7F-294C-CC894945E651}"/>
              </a:ext>
            </a:extLst>
          </p:cNvPr>
          <p:cNvSpPr/>
          <p:nvPr/>
        </p:nvSpPr>
        <p:spPr>
          <a:xfrm>
            <a:off x="14478001" y="8343900"/>
            <a:ext cx="1295400" cy="18072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bject 17">
            <a:extLst>
              <a:ext uri="{FF2B5EF4-FFF2-40B4-BE49-F238E27FC236}">
                <a16:creationId xmlns:a16="http://schemas.microsoft.com/office/drawing/2014/main" id="{83A6DDF6-0CED-AC0D-A578-1303AF1276B8}"/>
              </a:ext>
            </a:extLst>
          </p:cNvPr>
          <p:cNvSpPr txBox="1"/>
          <p:nvPr/>
        </p:nvSpPr>
        <p:spPr>
          <a:xfrm>
            <a:off x="5361203" y="4808250"/>
            <a:ext cx="12149067" cy="14020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000" dirty="0"/>
              <a:t>수치는 비슷하지만</a:t>
            </a:r>
            <a:r>
              <a:rPr lang="en-US" altLang="ko-KR" sz="3000" dirty="0"/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빨강부분과 초록부분의 밀집도가 달라졌다</a:t>
            </a:r>
            <a:r>
              <a:rPr lang="en-US" altLang="ko-KR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9F6CB92-678C-2BBB-DBC7-196EF837F8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6200" y="2019300"/>
            <a:ext cx="9867900" cy="1495425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CF4A4D33-2AEA-8725-F253-D1EF595F5B2A}"/>
              </a:ext>
            </a:extLst>
          </p:cNvPr>
          <p:cNvSpPr/>
          <p:nvPr/>
        </p:nvSpPr>
        <p:spPr>
          <a:xfrm>
            <a:off x="10134600" y="2738296"/>
            <a:ext cx="1000125" cy="19540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AA6D3C5-0F39-FE3F-AFC4-8693F619F3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5802" y="6172200"/>
            <a:ext cx="9634468" cy="1590110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FD80F587-569F-1192-F82C-F033492CD48F}"/>
              </a:ext>
            </a:extLst>
          </p:cNvPr>
          <p:cNvSpPr/>
          <p:nvPr/>
        </p:nvSpPr>
        <p:spPr>
          <a:xfrm>
            <a:off x="13716001" y="6903058"/>
            <a:ext cx="1905000" cy="2649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3929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81800" y="4420225"/>
            <a:ext cx="4267200" cy="1446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8800" dirty="0">
                <a:solidFill>
                  <a:srgbClr val="3B7DDD"/>
                </a:solidFill>
                <a:latin typeface="NanumSquare ExtraBold" pitchFamily="34" charset="0"/>
                <a:cs typeface="NanumSquare ExtraBold" pitchFamily="34" charset="0"/>
              </a:rPr>
              <a:t>06. </a:t>
            </a:r>
            <a:r>
              <a:rPr lang="ko-KR" altLang="en-US" sz="8800" dirty="0">
                <a:solidFill>
                  <a:srgbClr val="3B7DDD"/>
                </a:solidFill>
                <a:latin typeface="NanumSquare ExtraBold" pitchFamily="34" charset="0"/>
                <a:cs typeface="NanumSquare ExtraBold" pitchFamily="34" charset="0"/>
              </a:rPr>
              <a:t>결론</a:t>
            </a:r>
            <a:endParaRPr lang="en-US" altLang="ko-KR" sz="8800" dirty="0"/>
          </a:p>
        </p:txBody>
      </p:sp>
      <p:grpSp>
        <p:nvGrpSpPr>
          <p:cNvPr id="11" name="그룹 1001">
            <a:extLst>
              <a:ext uri="{FF2B5EF4-FFF2-40B4-BE49-F238E27FC236}">
                <a16:creationId xmlns:a16="http://schemas.microsoft.com/office/drawing/2014/main" id="{7C5E4EA1-4E27-48DA-987E-53F1854A0E60}"/>
              </a:ext>
            </a:extLst>
          </p:cNvPr>
          <p:cNvGrpSpPr/>
          <p:nvPr/>
        </p:nvGrpSpPr>
        <p:grpSpPr>
          <a:xfrm rot="10800000">
            <a:off x="1066800" y="7734300"/>
            <a:ext cx="16284590" cy="2724340"/>
            <a:chOff x="1000562" y="0"/>
            <a:chExt cx="16284590" cy="2724340"/>
          </a:xfrm>
        </p:grpSpPr>
        <p:pic>
          <p:nvPicPr>
            <p:cNvPr id="14" name="Object 2">
              <a:extLst>
                <a:ext uri="{FF2B5EF4-FFF2-40B4-BE49-F238E27FC236}">
                  <a16:creationId xmlns:a16="http://schemas.microsoft.com/office/drawing/2014/main" id="{0F2299E9-D02F-4BDB-AC16-B7674654B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0562" y="0"/>
              <a:ext cx="16284590" cy="27243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4465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533400" y="540002"/>
            <a:ext cx="91837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06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grpSp>
        <p:nvGrpSpPr>
          <p:cNvPr id="11" name="그룹 1007">
            <a:extLst>
              <a:ext uri="{FF2B5EF4-FFF2-40B4-BE49-F238E27FC236}">
                <a16:creationId xmlns:a16="http://schemas.microsoft.com/office/drawing/2014/main" id="{EF8878B3-CF28-42E9-A2BC-5A22D8FDC21E}"/>
              </a:ext>
            </a:extLst>
          </p:cNvPr>
          <p:cNvGrpSpPr/>
          <p:nvPr/>
        </p:nvGrpSpPr>
        <p:grpSpPr>
          <a:xfrm>
            <a:off x="613096" y="989975"/>
            <a:ext cx="4797104" cy="126239"/>
            <a:chOff x="5759157" y="6303999"/>
            <a:chExt cx="821477" cy="95238"/>
          </a:xfrm>
        </p:grpSpPr>
        <p:pic>
          <p:nvPicPr>
            <p:cNvPr id="12" name="Object 25">
              <a:extLst>
                <a:ext uri="{FF2B5EF4-FFF2-40B4-BE49-F238E27FC236}">
                  <a16:creationId xmlns:a16="http://schemas.microsoft.com/office/drawing/2014/main" id="{D414F645-1007-4893-8B6C-008F9331B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157" y="6303999"/>
              <a:ext cx="821477" cy="95238"/>
            </a:xfrm>
            <a:prstGeom prst="rect">
              <a:avLst/>
            </a:prstGeom>
          </p:spPr>
        </p:pic>
      </p:grpSp>
      <p:sp>
        <p:nvSpPr>
          <p:cNvPr id="2" name="Object 9">
            <a:extLst>
              <a:ext uri="{FF2B5EF4-FFF2-40B4-BE49-F238E27FC236}">
                <a16:creationId xmlns:a16="http://schemas.microsoft.com/office/drawing/2014/main" id="{39E285DF-1687-575A-28D4-60EEAD7AEE39}"/>
              </a:ext>
            </a:extLst>
          </p:cNvPr>
          <p:cNvSpPr txBox="1"/>
          <p:nvPr/>
        </p:nvSpPr>
        <p:spPr>
          <a:xfrm>
            <a:off x="1331981" y="616946"/>
            <a:ext cx="724478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</a:rPr>
              <a:t>결론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Object 17">
            <a:extLst>
              <a:ext uri="{FF2B5EF4-FFF2-40B4-BE49-F238E27FC236}">
                <a16:creationId xmlns:a16="http://schemas.microsoft.com/office/drawing/2014/main" id="{B0CC3229-E501-E231-D574-D65B0B58C38D}"/>
              </a:ext>
            </a:extLst>
          </p:cNvPr>
          <p:cNvSpPr txBox="1"/>
          <p:nvPr/>
        </p:nvSpPr>
        <p:spPr>
          <a:xfrm>
            <a:off x="1855901" y="2411152"/>
            <a:ext cx="15316200" cy="42784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indent="-914400">
              <a:lnSpc>
                <a:spcPct val="150000"/>
              </a:lnSpc>
              <a:buFontTx/>
              <a:buAutoNum type="arabicPeriod"/>
            </a:pPr>
            <a:r>
              <a:rPr lang="ko-KR" altLang="en-US" sz="4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데이터 </a:t>
            </a:r>
            <a:r>
              <a:rPr lang="ko-KR" altLang="en-US" sz="45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전처리</a:t>
            </a:r>
            <a:r>
              <a:rPr lang="ko-KR" altLang="en-US" sz="4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4500" dirty="0"/>
              <a:t>	</a:t>
            </a:r>
          </a:p>
          <a:p>
            <a:pPr marL="1371600" lvl="1" indent="-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err="1"/>
              <a:t>아웃라이어</a:t>
            </a:r>
            <a:r>
              <a:rPr lang="ko-KR" altLang="en-US" sz="3200" dirty="0"/>
              <a:t> 처리 </a:t>
            </a:r>
            <a:r>
              <a:rPr lang="en-US" altLang="ko-KR" sz="3200" dirty="0"/>
              <a:t>(Current Loan Amount : 99,999,999 </a:t>
            </a:r>
            <a:r>
              <a:rPr lang="ko-KR" altLang="en-US" sz="3200" dirty="0"/>
              <a:t>→ </a:t>
            </a:r>
            <a:r>
              <a:rPr lang="en-US" altLang="ko-KR" sz="3200" dirty="0"/>
              <a:t>0 )</a:t>
            </a:r>
          </a:p>
          <a:p>
            <a:pPr marL="1371600" lvl="1" indent="-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err="1"/>
              <a:t>영향없는</a:t>
            </a:r>
            <a:r>
              <a:rPr lang="ko-KR" altLang="en-US" sz="3200" dirty="0"/>
              <a:t> </a:t>
            </a:r>
            <a:r>
              <a:rPr lang="en-US" altLang="ko-KR" sz="3200" dirty="0"/>
              <a:t>feature </a:t>
            </a:r>
            <a:r>
              <a:rPr lang="ko-KR" altLang="en-US" sz="3200" dirty="0"/>
              <a:t>삭제</a:t>
            </a:r>
            <a:endParaRPr lang="en-US" altLang="ko-KR" sz="3200" dirty="0"/>
          </a:p>
          <a:p>
            <a:pPr marL="1371600" lvl="1" indent="-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200" dirty="0" err="1"/>
              <a:t>Catergorical</a:t>
            </a:r>
            <a:r>
              <a:rPr lang="ko-KR" altLang="en-US" sz="3200" dirty="0"/>
              <a:t> </a:t>
            </a:r>
            <a:r>
              <a:rPr lang="en-US" altLang="ko-KR" sz="3200" dirty="0"/>
              <a:t>data</a:t>
            </a:r>
            <a:r>
              <a:rPr lang="ko-KR" altLang="en-US" sz="3200" dirty="0"/>
              <a:t> → </a:t>
            </a:r>
            <a:r>
              <a:rPr lang="en-US" altLang="ko-KR" sz="3200" dirty="0" err="1"/>
              <a:t>LabelEncoder</a:t>
            </a:r>
            <a:endParaRPr lang="en-US" altLang="ko-KR" sz="3200" dirty="0"/>
          </a:p>
          <a:p>
            <a:pPr marL="1371600" lvl="1" indent="-91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4500" dirty="0"/>
          </a:p>
        </p:txBody>
      </p:sp>
      <p:sp>
        <p:nvSpPr>
          <p:cNvPr id="3" name="Object 17">
            <a:extLst>
              <a:ext uri="{FF2B5EF4-FFF2-40B4-BE49-F238E27FC236}">
                <a16:creationId xmlns:a16="http://schemas.microsoft.com/office/drawing/2014/main" id="{F57D4E0A-0D6A-F282-A37B-8590613D217C}"/>
              </a:ext>
            </a:extLst>
          </p:cNvPr>
          <p:cNvSpPr txBox="1"/>
          <p:nvPr/>
        </p:nvSpPr>
        <p:spPr>
          <a:xfrm>
            <a:off x="1331981" y="1521994"/>
            <a:ext cx="9119156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45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</a:rPr>
              <a:t>중요점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grpSp>
        <p:nvGrpSpPr>
          <p:cNvPr id="4" name="그룹 1001">
            <a:extLst>
              <a:ext uri="{FF2B5EF4-FFF2-40B4-BE49-F238E27FC236}">
                <a16:creationId xmlns:a16="http://schemas.microsoft.com/office/drawing/2014/main" id="{9D133098-ED24-5C3E-1D97-55CCD1EDE47F}"/>
              </a:ext>
            </a:extLst>
          </p:cNvPr>
          <p:cNvGrpSpPr/>
          <p:nvPr/>
        </p:nvGrpSpPr>
        <p:grpSpPr>
          <a:xfrm>
            <a:off x="867846" y="9325428"/>
            <a:ext cx="16284590" cy="1025987"/>
            <a:chOff x="867846" y="9325428"/>
            <a:chExt cx="16284590" cy="1025987"/>
          </a:xfrm>
        </p:grpSpPr>
        <p:pic>
          <p:nvPicPr>
            <p:cNvPr id="5" name="Object 2">
              <a:extLst>
                <a:ext uri="{FF2B5EF4-FFF2-40B4-BE49-F238E27FC236}">
                  <a16:creationId xmlns:a16="http://schemas.microsoft.com/office/drawing/2014/main" id="{8CFFD1E1-A1FC-82E4-E3B9-E6B737997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7846" y="9325428"/>
              <a:ext cx="16284590" cy="1025987"/>
            </a:xfrm>
            <a:prstGeom prst="rect">
              <a:avLst/>
            </a:prstGeom>
          </p:spPr>
        </p:pic>
      </p:grpSp>
      <p:sp>
        <p:nvSpPr>
          <p:cNvPr id="13" name="Object 17">
            <a:extLst>
              <a:ext uri="{FF2B5EF4-FFF2-40B4-BE49-F238E27FC236}">
                <a16:creationId xmlns:a16="http://schemas.microsoft.com/office/drawing/2014/main" id="{56158920-03F0-4169-B035-EAA004F88F15}"/>
              </a:ext>
            </a:extLst>
          </p:cNvPr>
          <p:cNvSpPr txBox="1"/>
          <p:nvPr/>
        </p:nvSpPr>
        <p:spPr>
          <a:xfrm>
            <a:off x="1855901" y="6216406"/>
            <a:ext cx="15316200" cy="17894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/>
              <a:t>2.  	</a:t>
            </a:r>
            <a:r>
              <a:rPr lang="ko-KR" altLang="en-US" sz="4500" dirty="0"/>
              <a:t>파생변수 생성시 고려할 점</a:t>
            </a:r>
            <a:r>
              <a:rPr lang="en-US" altLang="ko-KR" sz="4500" dirty="0"/>
              <a:t>.</a:t>
            </a:r>
          </a:p>
          <a:p>
            <a:pPr marL="1371600" lvl="1" indent="-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/>
              <a:t>피처의 </a:t>
            </a:r>
            <a:r>
              <a:rPr lang="ko-KR" altLang="en-US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과대평가</a:t>
            </a:r>
            <a:r>
              <a:rPr lang="ko-KR" altLang="en-US" sz="3200" dirty="0"/>
              <a:t> 발생여부 </a:t>
            </a:r>
            <a:r>
              <a:rPr lang="ko-KR" altLang="en-US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확인</a:t>
            </a:r>
            <a:r>
              <a:rPr lang="ko-KR" altLang="en-US" sz="3200" dirty="0"/>
              <a:t> 필요</a:t>
            </a:r>
            <a:endParaRPr lang="en-US" altLang="ko-KR" sz="3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211FF75-B776-45CD-BAFA-2BC0B348A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9967" y="4550391"/>
            <a:ext cx="5226516" cy="5472908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C4E0E132-3D01-4468-AC48-B11C1B807086}"/>
              </a:ext>
            </a:extLst>
          </p:cNvPr>
          <p:cNvSpPr/>
          <p:nvPr/>
        </p:nvSpPr>
        <p:spPr>
          <a:xfrm>
            <a:off x="12268200" y="4991100"/>
            <a:ext cx="2819400" cy="364445"/>
          </a:xfrm>
          <a:prstGeom prst="rect">
            <a:avLst/>
          </a:prstGeom>
          <a:noFill/>
          <a:ln w="793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9916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533400" y="540002"/>
            <a:ext cx="91837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  <a:cs typeface="NanumSquare ExtraBold" pitchFamily="34" charset="0"/>
              </a:rPr>
              <a:t>06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grpSp>
        <p:nvGrpSpPr>
          <p:cNvPr id="11" name="그룹 1007">
            <a:extLst>
              <a:ext uri="{FF2B5EF4-FFF2-40B4-BE49-F238E27FC236}">
                <a16:creationId xmlns:a16="http://schemas.microsoft.com/office/drawing/2014/main" id="{EF8878B3-CF28-42E9-A2BC-5A22D8FDC21E}"/>
              </a:ext>
            </a:extLst>
          </p:cNvPr>
          <p:cNvGrpSpPr/>
          <p:nvPr/>
        </p:nvGrpSpPr>
        <p:grpSpPr>
          <a:xfrm>
            <a:off x="613096" y="989975"/>
            <a:ext cx="4797104" cy="126239"/>
            <a:chOff x="5759157" y="6303999"/>
            <a:chExt cx="821477" cy="95238"/>
          </a:xfrm>
        </p:grpSpPr>
        <p:pic>
          <p:nvPicPr>
            <p:cNvPr id="12" name="Object 25">
              <a:extLst>
                <a:ext uri="{FF2B5EF4-FFF2-40B4-BE49-F238E27FC236}">
                  <a16:creationId xmlns:a16="http://schemas.microsoft.com/office/drawing/2014/main" id="{D414F645-1007-4893-8B6C-008F9331B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157" y="6303999"/>
              <a:ext cx="821477" cy="95238"/>
            </a:xfrm>
            <a:prstGeom prst="rect">
              <a:avLst/>
            </a:prstGeom>
          </p:spPr>
        </p:pic>
      </p:grpSp>
      <p:sp>
        <p:nvSpPr>
          <p:cNvPr id="2" name="Object 9">
            <a:extLst>
              <a:ext uri="{FF2B5EF4-FFF2-40B4-BE49-F238E27FC236}">
                <a16:creationId xmlns:a16="http://schemas.microsoft.com/office/drawing/2014/main" id="{39E285DF-1687-575A-28D4-60EEAD7AEE39}"/>
              </a:ext>
            </a:extLst>
          </p:cNvPr>
          <p:cNvSpPr txBox="1"/>
          <p:nvPr/>
        </p:nvSpPr>
        <p:spPr>
          <a:xfrm>
            <a:off x="1331981" y="616946"/>
            <a:ext cx="724478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</a:rPr>
              <a:t>결론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Object 17">
            <a:extLst>
              <a:ext uri="{FF2B5EF4-FFF2-40B4-BE49-F238E27FC236}">
                <a16:creationId xmlns:a16="http://schemas.microsoft.com/office/drawing/2014/main" id="{B0CC3229-E501-E231-D574-D65B0B58C38D}"/>
              </a:ext>
            </a:extLst>
          </p:cNvPr>
          <p:cNvSpPr txBox="1"/>
          <p:nvPr/>
        </p:nvSpPr>
        <p:spPr>
          <a:xfrm>
            <a:off x="1855901" y="2411152"/>
            <a:ext cx="15316200" cy="5178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85800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4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피처 중요도 </a:t>
            </a:r>
            <a:r>
              <a:rPr lang="ko-KR" altLang="en-US" sz="4500" dirty="0"/>
              <a:t>높은 피처를 이용</a:t>
            </a:r>
            <a:endParaRPr lang="en-US" altLang="ko-KR" sz="4500" dirty="0"/>
          </a:p>
          <a:p>
            <a:pPr marL="685800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4500" dirty="0"/>
              <a:t>파생변수 생성시 피처의 </a:t>
            </a:r>
            <a:r>
              <a:rPr lang="ko-KR" altLang="en-US" sz="4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과대평가</a:t>
            </a:r>
            <a:r>
              <a:rPr lang="ko-KR" altLang="en-US" sz="4500" dirty="0"/>
              <a:t> 발생여부 </a:t>
            </a:r>
            <a:r>
              <a:rPr lang="ko-KR" altLang="en-US" sz="4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확인</a:t>
            </a:r>
            <a:r>
              <a:rPr lang="ko-KR" altLang="en-US" sz="4500" dirty="0"/>
              <a:t> 필요</a:t>
            </a:r>
            <a:endParaRPr lang="en-US" altLang="ko-KR" sz="4500" dirty="0"/>
          </a:p>
          <a:p>
            <a:pPr marL="685800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4500" dirty="0"/>
              <a:t>피처분석으로 영향 없는 피처 </a:t>
            </a:r>
            <a:r>
              <a:rPr lang="ko-KR" altLang="en-US" sz="4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삭제</a:t>
            </a:r>
            <a:r>
              <a:rPr lang="ko-KR" altLang="en-US" sz="4500" dirty="0"/>
              <a:t>로 비용절감</a:t>
            </a:r>
            <a:endParaRPr lang="en-US" altLang="ko-KR" sz="4500" dirty="0"/>
          </a:p>
          <a:p>
            <a:pPr marL="685800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45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아웃라이어</a:t>
            </a:r>
            <a:r>
              <a:rPr lang="ko-KR" altLang="en-US" sz="4500" dirty="0"/>
              <a:t> 처리 필요</a:t>
            </a:r>
            <a:endParaRPr lang="en-US" altLang="ko-KR" sz="4500" dirty="0"/>
          </a:p>
          <a:p>
            <a:pPr marL="685800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4500" dirty="0"/>
          </a:p>
        </p:txBody>
      </p:sp>
      <p:sp>
        <p:nvSpPr>
          <p:cNvPr id="3" name="Object 17">
            <a:extLst>
              <a:ext uri="{FF2B5EF4-FFF2-40B4-BE49-F238E27FC236}">
                <a16:creationId xmlns:a16="http://schemas.microsoft.com/office/drawing/2014/main" id="{F57D4E0A-0D6A-F282-A37B-8590613D217C}"/>
              </a:ext>
            </a:extLst>
          </p:cNvPr>
          <p:cNvSpPr txBox="1"/>
          <p:nvPr/>
        </p:nvSpPr>
        <p:spPr>
          <a:xfrm>
            <a:off x="1331981" y="1521994"/>
            <a:ext cx="9119156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4500" dirty="0">
                <a:solidFill>
                  <a:schemeClr val="accent4">
                    <a:lumMod val="75000"/>
                  </a:schemeClr>
                </a:solidFill>
                <a:latin typeface="NanumSquare ExtraBold" pitchFamily="34" charset="0"/>
              </a:rPr>
              <a:t>결론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grpSp>
        <p:nvGrpSpPr>
          <p:cNvPr id="4" name="그룹 1001">
            <a:extLst>
              <a:ext uri="{FF2B5EF4-FFF2-40B4-BE49-F238E27FC236}">
                <a16:creationId xmlns:a16="http://schemas.microsoft.com/office/drawing/2014/main" id="{9D133098-ED24-5C3E-1D97-55CCD1EDE47F}"/>
              </a:ext>
            </a:extLst>
          </p:cNvPr>
          <p:cNvGrpSpPr/>
          <p:nvPr/>
        </p:nvGrpSpPr>
        <p:grpSpPr>
          <a:xfrm>
            <a:off x="867846" y="9325428"/>
            <a:ext cx="16284590" cy="1025987"/>
            <a:chOff x="867846" y="9325428"/>
            <a:chExt cx="16284590" cy="1025987"/>
          </a:xfrm>
        </p:grpSpPr>
        <p:pic>
          <p:nvPicPr>
            <p:cNvPr id="5" name="Object 2">
              <a:extLst>
                <a:ext uri="{FF2B5EF4-FFF2-40B4-BE49-F238E27FC236}">
                  <a16:creationId xmlns:a16="http://schemas.microsoft.com/office/drawing/2014/main" id="{8CFFD1E1-A1FC-82E4-E3B9-E6B737997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7846" y="9325428"/>
              <a:ext cx="16284590" cy="10259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3694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81800" y="4420225"/>
            <a:ext cx="6172200" cy="1446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8800" dirty="0">
                <a:solidFill>
                  <a:srgbClr val="3B7DDD"/>
                </a:solidFill>
                <a:latin typeface="NanumSquare ExtraBold" pitchFamily="34" charset="0"/>
                <a:cs typeface="NanumSquare ExtraBold" pitchFamily="34" charset="0"/>
              </a:rPr>
              <a:t>Thank you</a:t>
            </a:r>
            <a:endParaRPr lang="en-US" altLang="ko-KR" sz="8800" dirty="0"/>
          </a:p>
        </p:txBody>
      </p:sp>
      <p:grpSp>
        <p:nvGrpSpPr>
          <p:cNvPr id="11" name="그룹 1001">
            <a:extLst>
              <a:ext uri="{FF2B5EF4-FFF2-40B4-BE49-F238E27FC236}">
                <a16:creationId xmlns:a16="http://schemas.microsoft.com/office/drawing/2014/main" id="{7C5E4EA1-4E27-48DA-987E-53F1854A0E60}"/>
              </a:ext>
            </a:extLst>
          </p:cNvPr>
          <p:cNvGrpSpPr/>
          <p:nvPr/>
        </p:nvGrpSpPr>
        <p:grpSpPr>
          <a:xfrm rot="10800000">
            <a:off x="1066800" y="7734300"/>
            <a:ext cx="16284590" cy="2724340"/>
            <a:chOff x="1000562" y="0"/>
            <a:chExt cx="16284590" cy="2724340"/>
          </a:xfrm>
        </p:grpSpPr>
        <p:pic>
          <p:nvPicPr>
            <p:cNvPr id="14" name="Object 2">
              <a:extLst>
                <a:ext uri="{FF2B5EF4-FFF2-40B4-BE49-F238E27FC236}">
                  <a16:creationId xmlns:a16="http://schemas.microsoft.com/office/drawing/2014/main" id="{0F2299E9-D02F-4BDB-AC16-B7674654B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0562" y="0"/>
              <a:ext cx="16284590" cy="27243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0647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</TotalTime>
  <Words>687</Words>
  <Application>Microsoft Office PowerPoint</Application>
  <PresentationFormat>사용자 지정</PresentationFormat>
  <Paragraphs>195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41" baseType="lpstr">
      <vt:lpstr>?? ??</vt:lpstr>
      <vt:lpstr>NanumSquare</vt:lpstr>
      <vt:lpstr>NanumSquare ExtraBold</vt:lpstr>
      <vt:lpstr>NanumSquare Light</vt:lpstr>
      <vt:lpstr>NanumSquareRoundOTF Bold</vt:lpstr>
      <vt:lpstr>NotoSansKR</vt:lpstr>
      <vt:lpstr>Söhne</vt:lpstr>
      <vt:lpstr>나눔스퀘어 ExtraBold.</vt:lpstr>
      <vt:lpstr>Arial</vt:lpstr>
      <vt:lpstr>Calibri</vt:lpstr>
      <vt:lpstr>Roboto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bzg</cp:lastModifiedBy>
  <cp:revision>25</cp:revision>
  <dcterms:created xsi:type="dcterms:W3CDTF">2023-04-07T12:30:14Z</dcterms:created>
  <dcterms:modified xsi:type="dcterms:W3CDTF">2023-05-11T16:29:45Z</dcterms:modified>
</cp:coreProperties>
</file>